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8" r:id="rId9"/>
    <p:sldId id="263" r:id="rId10"/>
    <p:sldId id="264" r:id="rId11"/>
    <p:sldId id="265" r:id="rId12"/>
    <p:sldId id="266" r:id="rId13"/>
  </p:sldIdLst>
  <p:sldSz cx="12192000" cy="6858000"/>
  <p:notesSz cx="6858000" cy="12192000"/>
  <p:embeddedFontLst>
    <p:embeddedFont>
      <p:font typeface="Aptos Narrow" panose="020B0004020202020204" pitchFamily="34" charset="0"/>
      <p:regular r:id="rId15"/>
      <p:bold r:id="rId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ECEA"/>
    <a:srgbClr val="3D3838"/>
    <a:srgbClr val="6B6767"/>
    <a:srgbClr val="97949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10"/>
  </p:normalViewPr>
  <p:slideViewPr>
    <p:cSldViewPr snapToGrid="0" snapToObjects="1">
      <p:cViewPr varScale="1">
        <p:scale>
          <a:sx n="101" d="100"/>
          <a:sy n="101" d="100"/>
        </p:scale>
        <p:origin x="876"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271183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de-DE" dirty="0">
              <a:latin typeface="Aptos Narrow" panose="020B0004020202020204" pitchFamily="34" charset="0"/>
            </a:endParaRPr>
          </a:p>
        </p:txBody>
      </p:sp>
      <p:sp>
        <p:nvSpPr>
          <p:cNvPr id="3" name="Notes Placeholder 2"/>
          <p:cNvSpPr>
            <a:spLocks noGrp="1"/>
          </p:cNvSpPr>
          <p:nvPr>
            <p:ph type="body" idx="1"/>
          </p:nvPr>
        </p:nvSpPr>
        <p:spPr/>
        <p:txBody>
          <a:bodyPr/>
          <a:lstStyle/>
          <a:p>
            <a:endParaRPr lang="en-US" dirty="0">
              <a:latin typeface="Aptos Narrow" panose="020B0004020202020204" pitchFamily="34" charset="0"/>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Aptos Narrow" panose="020B0004020202020204" pitchFamily="34" charset="0"/>
              </a:rPr>
              <a:t>1</a:t>
            </a:fld>
            <a:endParaRPr lang="en-US">
              <a:latin typeface="Aptos Narrow" panose="020B0004020202020204" pitchFamily="34" charset="0"/>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de-DE" dirty="0">
              <a:latin typeface="Aptos Narrow" panose="020B0004020202020204" pitchFamily="34" charset="0"/>
            </a:endParaRPr>
          </a:p>
        </p:txBody>
      </p:sp>
      <p:sp>
        <p:nvSpPr>
          <p:cNvPr id="3" name="Notes Placeholder 2"/>
          <p:cNvSpPr>
            <a:spLocks noGrp="1"/>
          </p:cNvSpPr>
          <p:nvPr>
            <p:ph type="body" idx="1"/>
          </p:nvPr>
        </p:nvSpPr>
        <p:spPr/>
        <p:txBody>
          <a:bodyPr/>
          <a:lstStyle/>
          <a:p>
            <a:pPr marL="0" indent="0">
              <a:buFontTx/>
              <a:buNone/>
            </a:pPr>
            <a:endParaRPr lang="en-US" dirty="0">
              <a:latin typeface="Aptos Narrow" panose="020B0004020202020204" pitchFamily="34" charset="0"/>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Aptos Narrow" panose="020B0004020202020204" pitchFamily="34" charset="0"/>
              </a:rPr>
              <a:t>2</a:t>
            </a:fld>
            <a:endParaRPr lang="en-US">
              <a:latin typeface="Aptos Narrow" panose="020B0004020202020204" pitchFamily="34" charset="0"/>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de-DE" dirty="0">
              <a:latin typeface="Aptos Narrow" panose="020B0004020202020204" pitchFamily="34" charset="0"/>
            </a:endParaRPr>
          </a:p>
        </p:txBody>
      </p:sp>
      <p:sp>
        <p:nvSpPr>
          <p:cNvPr id="3" name="Notes Placeholder 2"/>
          <p:cNvSpPr>
            <a:spLocks noGrp="1"/>
          </p:cNvSpPr>
          <p:nvPr>
            <p:ph type="body" idx="1"/>
          </p:nvPr>
        </p:nvSpPr>
        <p:spPr/>
        <p:txBody>
          <a:bodyPr/>
          <a:lstStyle/>
          <a:p>
            <a:endParaRPr lang="en-US" dirty="0">
              <a:latin typeface="Aptos Narrow" panose="020B0004020202020204" pitchFamily="34" charset="0"/>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Aptos Narrow" panose="020B0004020202020204" pitchFamily="34" charset="0"/>
              </a:rPr>
              <a:t>3</a:t>
            </a:fld>
            <a:endParaRPr lang="en-US">
              <a:latin typeface="Aptos Narrow" panose="020B0004020202020204" pitchFamily="34" charset="0"/>
            </a:endParaRPr>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de-DE" dirty="0">
              <a:latin typeface="Aptos Narrow" panose="020B0004020202020204" pitchFamily="34" charset="0"/>
            </a:endParaRPr>
          </a:p>
        </p:txBody>
      </p:sp>
      <p:sp>
        <p:nvSpPr>
          <p:cNvPr id="3" name="Notes Placeholder 2"/>
          <p:cNvSpPr>
            <a:spLocks noGrp="1"/>
          </p:cNvSpPr>
          <p:nvPr>
            <p:ph type="body" idx="1"/>
          </p:nvPr>
        </p:nvSpPr>
        <p:spPr/>
        <p:txBody>
          <a:bodyPr/>
          <a:lstStyle/>
          <a:p>
            <a:pPr marL="0" indent="0">
              <a:buFontTx/>
              <a:buNone/>
            </a:pPr>
            <a:endParaRPr lang="en-US" dirty="0">
              <a:latin typeface="Aptos Narrow" panose="020B0004020202020204" pitchFamily="34" charset="0"/>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Aptos Narrow" panose="020B0004020202020204" pitchFamily="34" charset="0"/>
              </a:rPr>
              <a:t>4</a:t>
            </a:fld>
            <a:endParaRPr lang="en-US">
              <a:latin typeface="Aptos Narrow" panose="020B0004020202020204" pitchFamily="34" charset="0"/>
            </a:endParaRPr>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de-DE" dirty="0">
              <a:latin typeface="Aptos Narrow" panose="020B0004020202020204" pitchFamily="34" charset="0"/>
            </a:endParaRPr>
          </a:p>
        </p:txBody>
      </p:sp>
      <p:sp>
        <p:nvSpPr>
          <p:cNvPr id="3" name="Notes Placeholder 2"/>
          <p:cNvSpPr>
            <a:spLocks noGrp="1"/>
          </p:cNvSpPr>
          <p:nvPr>
            <p:ph type="body" idx="1"/>
          </p:nvPr>
        </p:nvSpPr>
        <p:spPr/>
        <p:txBody>
          <a:bodyPr/>
          <a:lstStyle/>
          <a:p>
            <a:pPr marL="0" indent="0">
              <a:buFontTx/>
              <a:buNone/>
            </a:pPr>
            <a:endParaRPr lang="de-DE" b="0" dirty="0">
              <a:latin typeface="Aptos Narrow" panose="020B0004020202020204" pitchFamily="34" charset="0"/>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Aptos Narrow" panose="020B0004020202020204" pitchFamily="34" charset="0"/>
              </a:rPr>
              <a:t>5</a:t>
            </a:fld>
            <a:endParaRPr lang="en-US">
              <a:latin typeface="Aptos Narrow" panose="020B0004020202020204" pitchFamily="34" charset="0"/>
            </a:endParaRPr>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de-DE" dirty="0">
              <a:latin typeface="Aptos Narrow" panose="020B0004020202020204" pitchFamily="34" charset="0"/>
            </a:endParaRPr>
          </a:p>
        </p:txBody>
      </p:sp>
      <p:sp>
        <p:nvSpPr>
          <p:cNvPr id="3" name="Notes Placeholder 2"/>
          <p:cNvSpPr>
            <a:spLocks noGrp="1"/>
          </p:cNvSpPr>
          <p:nvPr>
            <p:ph type="body" idx="1"/>
          </p:nvPr>
        </p:nvSpPr>
        <p:spPr/>
        <p:txBody>
          <a:bodyPr/>
          <a:lstStyle/>
          <a:p>
            <a:pPr marL="0" indent="0">
              <a:buFontTx/>
              <a:buNone/>
            </a:pPr>
            <a:endParaRPr lang="en-US" dirty="0">
              <a:latin typeface="Aptos Narrow" panose="020B0004020202020204" pitchFamily="34" charset="0"/>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Aptos Narrow" panose="020B0004020202020204" pitchFamily="34" charset="0"/>
              </a:rPr>
              <a:t>6</a:t>
            </a:fld>
            <a:endParaRPr lang="en-US">
              <a:latin typeface="Aptos Narrow" panose="020B0004020202020204" pitchFamily="34" charset="0"/>
            </a:endParaRPr>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de-DE" dirty="0">
              <a:latin typeface="Aptos Narrow" panose="020B0004020202020204" pitchFamily="34" charset="0"/>
            </a:endParaRPr>
          </a:p>
        </p:txBody>
      </p:sp>
      <p:sp>
        <p:nvSpPr>
          <p:cNvPr id="3" name="Notes Placeholder 2"/>
          <p:cNvSpPr>
            <a:spLocks noGrp="1"/>
          </p:cNvSpPr>
          <p:nvPr>
            <p:ph type="body" idx="1"/>
          </p:nvPr>
        </p:nvSpPr>
        <p:spPr/>
        <p:txBody>
          <a:bodyPr/>
          <a:lstStyle/>
          <a:p>
            <a:pPr marL="0" indent="0">
              <a:buFontTx/>
              <a:buNone/>
            </a:pPr>
            <a:endParaRPr lang="en-US" b="0" dirty="0">
              <a:latin typeface="Aptos Narrow" panose="020B0004020202020204" pitchFamily="34" charset="0"/>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Aptos Narrow" panose="020B0004020202020204" pitchFamily="34" charset="0"/>
              </a:rPr>
              <a:t>7</a:t>
            </a:fld>
            <a:endParaRPr lang="en-US">
              <a:latin typeface="Aptos Narrow" panose="020B0004020202020204" pitchFamily="34" charset="0"/>
            </a:endParaRPr>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FB0E3B-40B9-A45C-D1E1-CEC00D9D5B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D6FC82-4908-7A3B-FF31-89BFB3888F59}"/>
              </a:ext>
            </a:extLst>
          </p:cNvPr>
          <p:cNvSpPr>
            <a:spLocks noGrp="1" noRot="1" noChangeAspect="1"/>
          </p:cNvSpPr>
          <p:nvPr>
            <p:ph type="sldImg"/>
          </p:nvPr>
        </p:nvSpPr>
        <p:spPr/>
        <p:txBody>
          <a:bodyPr/>
          <a:lstStyle/>
          <a:p>
            <a:endParaRPr lang="de-DE" dirty="0">
              <a:latin typeface="Aptos Narrow" panose="020B0004020202020204" pitchFamily="34" charset="0"/>
            </a:endParaRPr>
          </a:p>
        </p:txBody>
      </p:sp>
      <p:sp>
        <p:nvSpPr>
          <p:cNvPr id="3" name="Notes Placeholder 2">
            <a:extLst>
              <a:ext uri="{FF2B5EF4-FFF2-40B4-BE49-F238E27FC236}">
                <a16:creationId xmlns:a16="http://schemas.microsoft.com/office/drawing/2014/main" id="{2B48D829-6B3E-ACE7-0091-25BC501EC459}"/>
              </a:ext>
            </a:extLst>
          </p:cNvPr>
          <p:cNvSpPr>
            <a:spLocks noGrp="1"/>
          </p:cNvSpPr>
          <p:nvPr>
            <p:ph type="body" idx="1"/>
          </p:nvPr>
        </p:nvSpPr>
        <p:spPr/>
        <p:txBody>
          <a:bodyPr/>
          <a:lstStyle/>
          <a:p>
            <a:pPr marL="0" indent="0">
              <a:buFontTx/>
              <a:buNone/>
            </a:pPr>
            <a:endParaRPr lang="en-US" dirty="0">
              <a:latin typeface="Aptos Narrow" panose="020B0004020202020204" pitchFamily="34" charset="0"/>
            </a:endParaRPr>
          </a:p>
        </p:txBody>
      </p:sp>
      <p:sp>
        <p:nvSpPr>
          <p:cNvPr id="4" name="Slide Number Placeholder 3">
            <a:extLst>
              <a:ext uri="{FF2B5EF4-FFF2-40B4-BE49-F238E27FC236}">
                <a16:creationId xmlns:a16="http://schemas.microsoft.com/office/drawing/2014/main" id="{DBD42C75-6A60-44F8-1491-323430D2F52C}"/>
              </a:ext>
            </a:extLst>
          </p:cNvPr>
          <p:cNvSpPr>
            <a:spLocks noGrp="1"/>
          </p:cNvSpPr>
          <p:nvPr>
            <p:ph type="sldNum" sz="quarter" idx="10"/>
          </p:nvPr>
        </p:nvSpPr>
        <p:spPr/>
        <p:txBody>
          <a:bodyPr/>
          <a:lstStyle/>
          <a:p>
            <a:fld id="{F7021451-1387-4CA6-816F-3879F97B5CBC}" type="slidenum">
              <a:rPr lang="en-US">
                <a:latin typeface="Aptos Narrow" panose="020B0004020202020204" pitchFamily="34" charset="0"/>
              </a:rPr>
              <a:t>8</a:t>
            </a:fld>
            <a:endParaRPr lang="en-US">
              <a:latin typeface="Aptos Narrow" panose="020B0004020202020204" pitchFamily="34" charset="0"/>
            </a:endParaRPr>
          </a:p>
        </p:txBody>
      </p:sp>
    </p:spTree>
    <p:extLst>
      <p:ext uri="{BB962C8B-B14F-4D97-AF65-F5344CB8AC3E}">
        <p14:creationId xmlns:p14="http://schemas.microsoft.com/office/powerpoint/2010/main" val="39841839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de-DE" dirty="0">
              <a:latin typeface="Aptos Narrow" panose="020B0004020202020204" pitchFamily="34" charset="0"/>
            </a:endParaRPr>
          </a:p>
        </p:txBody>
      </p:sp>
      <p:sp>
        <p:nvSpPr>
          <p:cNvPr id="3" name="Notes Placeholder 2"/>
          <p:cNvSpPr>
            <a:spLocks noGrp="1"/>
          </p:cNvSpPr>
          <p:nvPr>
            <p:ph type="body" idx="1"/>
          </p:nvPr>
        </p:nvSpPr>
        <p:spPr/>
        <p:txBody>
          <a:bodyPr/>
          <a:lstStyle/>
          <a:p>
            <a:pPr marL="0" indent="0">
              <a:buFontTx/>
              <a:buNone/>
            </a:pPr>
            <a:endParaRPr lang="en-US" dirty="0">
              <a:latin typeface="Aptos Narrow" panose="020B0004020202020204" pitchFamily="34" charset="0"/>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Aptos Narrow" panose="020B0004020202020204" pitchFamily="34" charset="0"/>
              </a:rPr>
              <a:t>9</a:t>
            </a:fld>
            <a:endParaRPr lang="en-US">
              <a:latin typeface="Aptos Narrow" panose="020B0004020202020204" pitchFamily="34" charset="0"/>
            </a:endParaRPr>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de-DE" dirty="0">
              <a:latin typeface="Aptos Narrow" panose="020B0004020202020204" pitchFamily="34" charset="0"/>
            </a:endParaRPr>
          </a:p>
        </p:txBody>
      </p:sp>
      <p:sp>
        <p:nvSpPr>
          <p:cNvPr id="3" name="Notes Placeholder 2"/>
          <p:cNvSpPr>
            <a:spLocks noGrp="1"/>
          </p:cNvSpPr>
          <p:nvPr>
            <p:ph type="body" idx="1"/>
          </p:nvPr>
        </p:nvSpPr>
        <p:spPr/>
        <p:txBody>
          <a:bodyPr/>
          <a:lstStyle/>
          <a:p>
            <a:endParaRPr lang="en-US" dirty="0">
              <a:latin typeface="Aptos Narrow" panose="020B0004020202020204" pitchFamily="34" charset="0"/>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Aptos Narrow" panose="020B0004020202020204" pitchFamily="34" charset="0"/>
              </a:rPr>
              <a:t>10</a:t>
            </a:fld>
            <a:endParaRPr lang="en-US">
              <a:latin typeface="Aptos Narrow" panose="020B0004020202020204" pitchFamily="34" charset="0"/>
            </a:endParaRPr>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de-DE" dirty="0">
              <a:latin typeface="Aptos Narrow" panose="020B0004020202020204" pitchFamily="34" charset="0"/>
            </a:endParaRPr>
          </a:p>
        </p:txBody>
      </p:sp>
      <p:sp>
        <p:nvSpPr>
          <p:cNvPr id="3" name="Notes Placeholder 2"/>
          <p:cNvSpPr>
            <a:spLocks noGrp="1"/>
          </p:cNvSpPr>
          <p:nvPr>
            <p:ph type="body" idx="1"/>
          </p:nvPr>
        </p:nvSpPr>
        <p:spPr/>
        <p:txBody>
          <a:bodyPr/>
          <a:lstStyle/>
          <a:p>
            <a:endParaRPr lang="en-US" dirty="0">
              <a:latin typeface="Aptos Narrow" panose="020B0004020202020204" pitchFamily="34" charset="0"/>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Aptos Narrow" panose="020B0004020202020204" pitchFamily="34" charset="0"/>
              </a:rPr>
              <a:t>11</a:t>
            </a:fld>
            <a:endParaRPr lang="en-US">
              <a:latin typeface="Aptos Narrow" panose="020B0004020202020204" pitchFamily="34" charset="0"/>
            </a:endParaRPr>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de-DE" dirty="0">
              <a:latin typeface="Aptos Narrow" panose="020B0004020202020204" pitchFamily="34" charset="0"/>
            </a:endParaRPr>
          </a:p>
        </p:txBody>
      </p:sp>
      <p:sp>
        <p:nvSpPr>
          <p:cNvPr id="3" name="Notes Placeholder 2"/>
          <p:cNvSpPr>
            <a:spLocks noGrp="1"/>
          </p:cNvSpPr>
          <p:nvPr>
            <p:ph type="body" idx="1"/>
          </p:nvPr>
        </p:nvSpPr>
        <p:spPr/>
        <p:txBody>
          <a:bodyPr/>
          <a:lstStyle/>
          <a:p>
            <a:pPr marL="0" indent="0">
              <a:buFontTx/>
              <a:buNone/>
            </a:pPr>
            <a:endParaRPr lang="en-US" dirty="0">
              <a:latin typeface="Aptos Narrow" panose="020B0004020202020204" pitchFamily="34" charset="0"/>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Aptos Narrow" panose="020B0004020202020204" pitchFamily="34" charset="0"/>
              </a:rPr>
              <a:t>12</a:t>
            </a:fld>
            <a:endParaRPr lang="en-US">
              <a:latin typeface="Aptos Narrow" panose="020B0004020202020204" pitchFamily="34" charset="0"/>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DEDED"/>
          </a:solidFill>
          <a:ln/>
        </p:spPr>
        <p:txBody>
          <a:bodyPr/>
          <a:lstStyle/>
          <a:p>
            <a:endParaRPr lang="de-DE"/>
          </a:p>
        </p:txBody>
      </p:sp>
      <p:sp>
        <p:nvSpPr>
          <p:cNvPr id="3" name="Shape 1"/>
          <p:cNvSpPr/>
          <p:nvPr/>
        </p:nvSpPr>
        <p:spPr>
          <a:xfrm>
            <a:off x="0" y="0"/>
            <a:ext cx="12191695" cy="6858000"/>
          </a:xfrm>
          <a:prstGeom prst="rect">
            <a:avLst/>
          </a:prstGeom>
          <a:solidFill>
            <a:srgbClr val="FFFFFF"/>
          </a:solidFill>
          <a:ln/>
        </p:spPr>
        <p:txBody>
          <a:bodyPr/>
          <a:lstStyle/>
          <a:p>
            <a:endParaRPr lang="de-DE"/>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4.svg"/><Relationship Id="rId4" Type="http://schemas.openxmlformats.org/officeDocument/2006/relationships/image" Target="../media/image3.svg"/></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0.jpe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5.svg"/></Relationships>
</file>

<file path=ppt/slides/_rels/slide11.xml.rels><?xml version="1.0" encoding="UTF-8" standalone="yes"?>
<Relationships xmlns="http://schemas.openxmlformats.org/package/2006/relationships"><Relationship Id="rId8" Type="http://schemas.openxmlformats.org/officeDocument/2006/relationships/image" Target="../media/image20.jpeg"/><Relationship Id="rId3" Type="http://schemas.openxmlformats.org/officeDocument/2006/relationships/image" Target="../media/image16.svg"/><Relationship Id="rId7"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9.svg"/><Relationship Id="rId5" Type="http://schemas.openxmlformats.org/officeDocument/2006/relationships/image" Target="../media/image18.svg"/><Relationship Id="rId4" Type="http://schemas.openxmlformats.org/officeDocument/2006/relationships/image" Target="../media/image17.svg"/></Relationships>
</file>

<file path=ppt/slides/_rels/slide12.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2.sv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4571886" cy="6858000"/>
          </a:xfrm>
          <a:prstGeom prst="rect">
            <a:avLst/>
          </a:prstGeom>
        </p:spPr>
      </p:pic>
      <p:sp>
        <p:nvSpPr>
          <p:cNvPr id="3" name="Text 0"/>
          <p:cNvSpPr/>
          <p:nvPr/>
        </p:nvSpPr>
        <p:spPr>
          <a:xfrm>
            <a:off x="5291700" y="1702833"/>
            <a:ext cx="6443100" cy="1022548"/>
          </a:xfrm>
          <a:prstGeom prst="rect">
            <a:avLst/>
          </a:prstGeom>
          <a:noFill/>
          <a:ln/>
        </p:spPr>
        <p:txBody>
          <a:bodyPr wrap="square" lIns="0" tIns="0" rIns="0" bIns="0" rtlCol="0" anchor="t">
            <a:noAutofit/>
          </a:bodyPr>
          <a:lstStyle/>
          <a:p>
            <a:pPr marL="0" indent="0" algn="l">
              <a:lnSpc>
                <a:spcPct val="104000"/>
              </a:lnSpc>
              <a:buNone/>
            </a:pPr>
            <a:r>
              <a:rPr lang="en-US" sz="3800" b="1" kern="0" spc="-32" dirty="0">
                <a:solidFill>
                  <a:srgbClr val="3D3838"/>
                </a:solidFill>
                <a:latin typeface="Aptos Narrow" panose="020B0004020202020204" pitchFamily="34" charset="0"/>
                <a:ea typeface="Montserrat Bold" pitchFamily="34" charset="-122"/>
                <a:cs typeface="Montserrat Bold" pitchFamily="34" charset="-120"/>
              </a:rPr>
              <a:t>Was sammelt ein Weltmuseum?</a:t>
            </a:r>
            <a:endParaRPr lang="en-US" sz="3800" dirty="0">
              <a:solidFill>
                <a:srgbClr val="3D3838"/>
              </a:solidFill>
            </a:endParaRPr>
          </a:p>
        </p:txBody>
      </p:sp>
      <p:sp>
        <p:nvSpPr>
          <p:cNvPr id="4" name="Text 1"/>
          <p:cNvSpPr/>
          <p:nvPr/>
        </p:nvSpPr>
        <p:spPr>
          <a:xfrm>
            <a:off x="5291700" y="2725381"/>
            <a:ext cx="6180181" cy="2195769"/>
          </a:xfrm>
          <a:prstGeom prst="rect">
            <a:avLst/>
          </a:prstGeom>
          <a:noFill/>
          <a:ln/>
        </p:spPr>
        <p:txBody>
          <a:bodyPr wrap="square" lIns="0" tIns="0" rIns="0" bIns="0" rtlCol="0" anchor="t">
            <a:normAutofit/>
          </a:bodyPr>
          <a:lstStyle/>
          <a:p>
            <a:pPr marL="0" indent="0" algn="l">
              <a:lnSpc>
                <a:spcPct val="125000"/>
              </a:lnSpc>
              <a:spcAft>
                <a:spcPts val="1550"/>
              </a:spcAft>
              <a:buNone/>
            </a:pPr>
            <a:r>
              <a:rPr lang="en-US" dirty="0">
                <a:solidFill>
                  <a:srgbClr val="3D3838"/>
                </a:solidFill>
                <a:latin typeface="Aptos Narrow" panose="020B0004020202020204" pitchFamily="34" charset="0"/>
                <a:ea typeface="Source Sans 3" pitchFamily="34" charset="-122"/>
                <a:cs typeface="Source Sans 3" pitchFamily="34" charset="-120"/>
              </a:rPr>
              <a:t>Eine datenanalytische Untersuchung der Sammlungsbestände des Metropolitan Museum of Art mit einer Fallstudie zum </a:t>
            </a:r>
            <a:r>
              <a:rPr lang="en-US" dirty="0" err="1">
                <a:solidFill>
                  <a:srgbClr val="3D3838"/>
                </a:solidFill>
                <a:latin typeface="Aptos Narrow" panose="020B0004020202020204" pitchFamily="34" charset="0"/>
                <a:ea typeface="Source Sans 3" pitchFamily="34" charset="-122"/>
                <a:cs typeface="Source Sans 3" pitchFamily="34" charset="-120"/>
              </a:rPr>
              <a:t>iranisch-persischen</a:t>
            </a:r>
            <a:r>
              <a:rPr lang="en-US" dirty="0">
                <a:solidFill>
                  <a:srgbClr val="3D3838"/>
                </a:solidFill>
                <a:latin typeface="Aptos Narrow" panose="020B0004020202020204" pitchFamily="34" charset="0"/>
                <a:ea typeface="Source Sans 3" pitchFamily="34" charset="-122"/>
                <a:cs typeface="Source Sans 3" pitchFamily="34" charset="-120"/>
              </a:rPr>
              <a:t> </a:t>
            </a:r>
            <a:r>
              <a:rPr lang="en-US" dirty="0" err="1">
                <a:solidFill>
                  <a:srgbClr val="3D3838"/>
                </a:solidFill>
                <a:latin typeface="Aptos Narrow" panose="020B0004020202020204" pitchFamily="34" charset="0"/>
                <a:ea typeface="Source Sans 3" pitchFamily="34" charset="-122"/>
                <a:cs typeface="Source Sans 3" pitchFamily="34" charset="-120"/>
              </a:rPr>
              <a:t>Kulturerbe</a:t>
            </a:r>
            <a:endParaRPr lang="en-US" dirty="0">
              <a:solidFill>
                <a:srgbClr val="3D3838"/>
              </a:solidFill>
              <a:latin typeface="Aptos Narrow" panose="020B0004020202020204" pitchFamily="34" charset="0"/>
            </a:endParaRPr>
          </a:p>
        </p:txBody>
      </p:sp>
      <p:sp>
        <p:nvSpPr>
          <p:cNvPr id="6" name="Shape 2">
            <a:extLst>
              <a:ext uri="{FF2B5EF4-FFF2-40B4-BE49-F238E27FC236}">
                <a16:creationId xmlns:a16="http://schemas.microsoft.com/office/drawing/2014/main" id="{0C4F897F-FF06-3BCE-F0F3-3EA5FF60C2BD}"/>
              </a:ext>
            </a:extLst>
          </p:cNvPr>
          <p:cNvSpPr/>
          <p:nvPr/>
        </p:nvSpPr>
        <p:spPr>
          <a:xfrm>
            <a:off x="5192250" y="4809250"/>
            <a:ext cx="6180181" cy="25400"/>
          </a:xfrm>
          <a:prstGeom prst="roundRect">
            <a:avLst>
              <a:gd name="adj" fmla="val 59999"/>
            </a:avLst>
          </a:prstGeom>
          <a:solidFill>
            <a:srgbClr val="3D3838">
              <a:alpha val="50000"/>
            </a:srgbClr>
          </a:solidFill>
          <a:ln/>
        </p:spPr>
        <p:txBody>
          <a:bodyPr/>
          <a:lstStyle/>
          <a:p>
            <a:endParaRPr lang="de-DE">
              <a:solidFill>
                <a:srgbClr val="3D3838"/>
              </a:solidFill>
            </a:endParaRPr>
          </a:p>
        </p:txBody>
      </p:sp>
      <p:sp>
        <p:nvSpPr>
          <p:cNvPr id="8" name="Text 3">
            <a:extLst>
              <a:ext uri="{FF2B5EF4-FFF2-40B4-BE49-F238E27FC236}">
                <a16:creationId xmlns:a16="http://schemas.microsoft.com/office/drawing/2014/main" id="{9BC6D020-C3DE-6C1C-02A8-ADA8503AEC45}"/>
              </a:ext>
            </a:extLst>
          </p:cNvPr>
          <p:cNvSpPr/>
          <p:nvPr/>
        </p:nvSpPr>
        <p:spPr>
          <a:xfrm>
            <a:off x="5192250" y="5117424"/>
            <a:ext cx="6789766" cy="308471"/>
          </a:xfrm>
          <a:prstGeom prst="rect">
            <a:avLst/>
          </a:prstGeom>
          <a:noFill/>
          <a:ln/>
        </p:spPr>
        <p:txBody>
          <a:bodyPr wrap="none" lIns="0" tIns="0" rIns="0" bIns="0" rtlCol="0" anchor="t"/>
          <a:lstStyle/>
          <a:p>
            <a:pPr>
              <a:lnSpc>
                <a:spcPct val="125000"/>
              </a:lnSpc>
            </a:pPr>
            <a:r>
              <a:rPr lang="en-US" sz="1600" dirty="0">
                <a:solidFill>
                  <a:srgbClr val="3D3838"/>
                </a:solidFill>
                <a:latin typeface="Aptos Narrow" panose="020B0004020202020204" pitchFamily="34" charset="0"/>
                <a:ea typeface="Source Sans 3" pitchFamily="34" charset="-122"/>
                <a:cs typeface="Source Sans 3" pitchFamily="34" charset="-120"/>
              </a:rPr>
              <a:t>Dennis Theiß · </a:t>
            </a:r>
            <a:r>
              <a:rPr lang="en-US" sz="1600" dirty="0" err="1">
                <a:solidFill>
                  <a:srgbClr val="3D3838"/>
                </a:solidFill>
                <a:latin typeface="Aptos Narrow" panose="020B0004020202020204" pitchFamily="34" charset="0"/>
                <a:ea typeface="Source Sans 3" pitchFamily="34" charset="-122"/>
                <a:cs typeface="Source Sans 3" pitchFamily="34" charset="-120"/>
              </a:rPr>
              <a:t>DataSmart</a:t>
            </a:r>
            <a:r>
              <a:rPr lang="en-US" sz="1600" dirty="0">
                <a:solidFill>
                  <a:srgbClr val="3D3838"/>
                </a:solidFill>
                <a:latin typeface="Aptos Narrow" panose="020B0004020202020204" pitchFamily="34" charset="0"/>
                <a:ea typeface="Source Sans 3" pitchFamily="34" charset="-122"/>
                <a:cs typeface="Source Sans 3" pitchFamily="34" charset="-120"/>
              </a:rPr>
              <a:t> Point · </a:t>
            </a:r>
            <a:r>
              <a:rPr lang="en-US" sz="1600" dirty="0" err="1">
                <a:solidFill>
                  <a:srgbClr val="3D3838"/>
                </a:solidFill>
                <a:latin typeface="Aptos Narrow" panose="020B0004020202020204" pitchFamily="34" charset="0"/>
                <a:ea typeface="Source Sans 3" pitchFamily="34" charset="-122"/>
                <a:cs typeface="Source Sans 3" pitchFamily="34" charset="-120"/>
              </a:rPr>
              <a:t>Abschlussprojekt</a:t>
            </a:r>
            <a:r>
              <a:rPr lang="en-US" sz="1600" dirty="0">
                <a:solidFill>
                  <a:srgbClr val="3D3838"/>
                </a:solidFill>
                <a:latin typeface="Aptos Narrow" panose="020B0004020202020204" pitchFamily="34" charset="0"/>
                <a:ea typeface="Source Sans 3" pitchFamily="34" charset="-122"/>
                <a:cs typeface="Source Sans 3" pitchFamily="34" charset="-120"/>
              </a:rPr>
              <a:t> Python für </a:t>
            </a:r>
            <a:r>
              <a:rPr lang="en-US" sz="1600" dirty="0" err="1">
                <a:solidFill>
                  <a:srgbClr val="3D3838"/>
                </a:solidFill>
                <a:latin typeface="Aptos Narrow" panose="020B0004020202020204" pitchFamily="34" charset="0"/>
                <a:ea typeface="Source Sans 3" pitchFamily="34" charset="-122"/>
                <a:cs typeface="Source Sans 3" pitchFamily="34" charset="-120"/>
              </a:rPr>
              <a:t>Datenanalyse</a:t>
            </a:r>
            <a:endParaRPr lang="en-US" sz="1600" dirty="0">
              <a:solidFill>
                <a:srgbClr val="3D3838"/>
              </a:solidFill>
              <a:latin typeface="Aptos Narrow" panose="020B0004020202020204" pitchFamily="34" charset="0"/>
              <a:ea typeface="Source Sans 3" pitchFamily="34" charset="-122"/>
              <a:cs typeface="Source Sans 3" pitchFamily="34" charset="-120"/>
            </a:endParaRPr>
          </a:p>
          <a:p>
            <a:pPr>
              <a:lnSpc>
                <a:spcPct val="125000"/>
              </a:lnSpc>
            </a:pPr>
            <a:r>
              <a:rPr lang="en-US" sz="1600" dirty="0" err="1">
                <a:solidFill>
                  <a:srgbClr val="3D3838"/>
                </a:solidFill>
                <a:latin typeface="Aptos Narrow" panose="020B0004020202020204" pitchFamily="34" charset="0"/>
                <a:ea typeface="Source Sans 3" pitchFamily="34" charset="-122"/>
              </a:rPr>
              <a:t>Präsentationsdatum</a:t>
            </a:r>
            <a:r>
              <a:rPr lang="en-US" sz="1600" dirty="0">
                <a:solidFill>
                  <a:srgbClr val="3D3838"/>
                </a:solidFill>
                <a:latin typeface="Aptos Narrow" panose="020B0004020202020204" pitchFamily="34" charset="0"/>
                <a:ea typeface="Source Sans 3" pitchFamily="34" charset="-122"/>
              </a:rPr>
              <a:t>: 2. Oktober 2026</a:t>
            </a:r>
            <a:endParaRPr lang="en-US" sz="1600" dirty="0">
              <a:solidFill>
                <a:srgbClr val="3D3838"/>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19764" y="478433"/>
            <a:ext cx="10752067" cy="511274"/>
          </a:xfrm>
          <a:prstGeom prst="rect">
            <a:avLst/>
          </a:prstGeom>
          <a:noFill/>
          <a:ln/>
        </p:spPr>
        <p:txBody>
          <a:bodyPr wrap="none" lIns="0" tIns="0" rIns="0" bIns="0" rtlCol="0" anchor="t"/>
          <a:lstStyle/>
          <a:p>
            <a:pPr marL="0" indent="0" algn="l">
              <a:lnSpc>
                <a:spcPct val="104000"/>
              </a:lnSpc>
              <a:buNone/>
            </a:pPr>
            <a:r>
              <a:rPr lang="en-US" sz="3200" b="1" kern="0" spc="-32" dirty="0">
                <a:solidFill>
                  <a:srgbClr val="3D3838"/>
                </a:solidFill>
                <a:latin typeface="Aptos Narrow" panose="020B0004020202020204" pitchFamily="34" charset="0"/>
                <a:ea typeface="Montserrat Bold" pitchFamily="34" charset="-122"/>
                <a:cs typeface="Montserrat Bold" pitchFamily="34" charset="-120"/>
              </a:rPr>
              <a:t>Problemstellung &amp; Struktur</a:t>
            </a:r>
            <a:endParaRPr lang="en-US" sz="3200" dirty="0">
              <a:solidFill>
                <a:srgbClr val="3D3838"/>
              </a:solidFill>
              <a:latin typeface="Aptos Narrow" panose="020B0004020202020204" pitchFamily="34" charset="0"/>
            </a:endParaRPr>
          </a:p>
        </p:txBody>
      </p:sp>
      <p:sp>
        <p:nvSpPr>
          <p:cNvPr id="3" name="Text 1"/>
          <p:cNvSpPr/>
          <p:nvPr/>
        </p:nvSpPr>
        <p:spPr>
          <a:xfrm>
            <a:off x="719814" y="1219582"/>
            <a:ext cx="10752067" cy="1133406"/>
          </a:xfrm>
          <a:prstGeom prst="rect">
            <a:avLst/>
          </a:prstGeom>
          <a:noFill/>
          <a:ln/>
        </p:spPr>
        <p:txBody>
          <a:bodyPr wrap="square" lIns="0" tIns="0" rIns="0" bIns="0" rtlCol="0" anchor="t">
            <a:normAutofit/>
          </a:bodyPr>
          <a:lstStyle/>
          <a:p>
            <a:pPr marL="0" indent="0" algn="l">
              <a:lnSpc>
                <a:spcPct val="114000"/>
              </a:lnSpc>
              <a:buNone/>
            </a:pPr>
            <a:r>
              <a:rPr lang="de-DE" dirty="0">
                <a:solidFill>
                  <a:srgbClr val="3D3838"/>
                </a:solidFill>
                <a:latin typeface="Aptos Narrow" panose="020B0004020202020204" pitchFamily="34" charset="0"/>
                <a:ea typeface="Source Sans 3" pitchFamily="34" charset="-122"/>
                <a:cs typeface="Source Sans 3" pitchFamily="34" charset="-120"/>
              </a:rPr>
              <a:t>Das New Yorker Metropolitan Museum of Art (Met) zählt zu den größten Museumssammlungen der Welt. Ziel ist die datenbasierte Analyse kultureller, geografischer und zeitlicher Sammlungsschwerpunkte mit einer Fallstudie zu den iranisch-persischen Beständen für Ausstellungsvorbereitung und Vermittlung.</a:t>
            </a:r>
            <a:endParaRPr lang="en-US" dirty="0">
              <a:solidFill>
                <a:srgbClr val="3D3838"/>
              </a:solidFill>
              <a:latin typeface="Aptos Narrow" panose="020B0004020202020204" pitchFamily="34" charset="0"/>
            </a:endParaRPr>
          </a:p>
        </p:txBody>
      </p:sp>
      <p:sp>
        <p:nvSpPr>
          <p:cNvPr id="4" name="Text 2"/>
          <p:cNvSpPr/>
          <p:nvPr/>
        </p:nvSpPr>
        <p:spPr>
          <a:xfrm>
            <a:off x="719814" y="2582863"/>
            <a:ext cx="359857" cy="224929"/>
          </a:xfrm>
          <a:prstGeom prst="rect">
            <a:avLst/>
          </a:prstGeom>
          <a:noFill/>
          <a:ln/>
        </p:spPr>
        <p:txBody>
          <a:bodyPr wrap="none" lIns="0" tIns="0" rIns="0" bIns="0" rtlCol="0" anchor="ctr"/>
          <a:lstStyle/>
          <a:p>
            <a:pPr marL="0" indent="0" algn="l">
              <a:lnSpc>
                <a:spcPct val="100000"/>
              </a:lnSpc>
              <a:buNone/>
            </a:pPr>
            <a:r>
              <a:rPr lang="en-US" sz="1600" kern="0" spc="-14" dirty="0">
                <a:solidFill>
                  <a:srgbClr val="3D3838"/>
                </a:solidFill>
                <a:latin typeface="Aptos Narrow" panose="020B0004020202020204" pitchFamily="34" charset="0"/>
                <a:ea typeface="Montserrat Light" pitchFamily="34" charset="-122"/>
                <a:cs typeface="Montserrat Light" pitchFamily="34" charset="-120"/>
              </a:rPr>
              <a:t>01</a:t>
            </a:r>
            <a:endParaRPr lang="en-US" sz="1600" dirty="0">
              <a:solidFill>
                <a:srgbClr val="3D3838"/>
              </a:solidFill>
              <a:latin typeface="Aptos Narrow" panose="020B0004020202020204" pitchFamily="34" charset="0"/>
            </a:endParaRPr>
          </a:p>
        </p:txBody>
      </p:sp>
      <p:sp>
        <p:nvSpPr>
          <p:cNvPr id="5" name="Shape 3"/>
          <p:cNvSpPr/>
          <p:nvPr/>
        </p:nvSpPr>
        <p:spPr>
          <a:xfrm>
            <a:off x="719814" y="2863255"/>
            <a:ext cx="3464037" cy="25400"/>
          </a:xfrm>
          <a:prstGeom prst="rect">
            <a:avLst/>
          </a:prstGeom>
          <a:solidFill>
            <a:srgbClr val="2D2E34"/>
          </a:solidFill>
          <a:ln/>
        </p:spPr>
        <p:txBody>
          <a:bodyPr/>
          <a:lstStyle/>
          <a:p>
            <a:endParaRPr lang="de-DE">
              <a:solidFill>
                <a:srgbClr val="3D3838"/>
              </a:solidFill>
              <a:latin typeface="Aptos Narrow" panose="020B0004020202020204" pitchFamily="34" charset="0"/>
            </a:endParaRPr>
          </a:p>
        </p:txBody>
      </p:sp>
      <p:sp>
        <p:nvSpPr>
          <p:cNvPr id="6" name="Text 4"/>
          <p:cNvSpPr/>
          <p:nvPr/>
        </p:nvSpPr>
        <p:spPr>
          <a:xfrm>
            <a:off x="719814" y="3003947"/>
            <a:ext cx="3464037" cy="255587"/>
          </a:xfrm>
          <a:prstGeom prst="rect">
            <a:avLst/>
          </a:prstGeom>
          <a:noFill/>
          <a:ln/>
        </p:spPr>
        <p:txBody>
          <a:bodyPr wrap="none" lIns="0" tIns="0" rIns="0" bIns="0" rtlCol="0" anchor="t"/>
          <a:lstStyle/>
          <a:p>
            <a:pPr marL="0" indent="0" algn="l">
              <a:lnSpc>
                <a:spcPct val="104000"/>
              </a:lnSpc>
              <a:buNone/>
            </a:pPr>
            <a:r>
              <a:rPr lang="en-US" b="1" kern="0" spc="-16" dirty="0">
                <a:solidFill>
                  <a:srgbClr val="3D3838"/>
                </a:solidFill>
                <a:latin typeface="Aptos Narrow" panose="020B0004020202020204" pitchFamily="34" charset="0"/>
                <a:ea typeface="Montserrat Bold" pitchFamily="34" charset="-122"/>
                <a:cs typeface="Montserrat Bold" pitchFamily="34" charset="-120"/>
              </a:rPr>
              <a:t>Problemstellung &amp; Leitfragen</a:t>
            </a:r>
            <a:endParaRPr lang="en-US" dirty="0">
              <a:solidFill>
                <a:srgbClr val="3D3838"/>
              </a:solidFill>
              <a:latin typeface="Aptos Narrow" panose="020B0004020202020204" pitchFamily="34" charset="0"/>
            </a:endParaRPr>
          </a:p>
        </p:txBody>
      </p:sp>
      <p:sp>
        <p:nvSpPr>
          <p:cNvPr id="7" name="Text 5"/>
          <p:cNvSpPr/>
          <p:nvPr/>
        </p:nvSpPr>
        <p:spPr>
          <a:xfrm>
            <a:off x="4363730" y="2582863"/>
            <a:ext cx="359857" cy="224929"/>
          </a:xfrm>
          <a:prstGeom prst="rect">
            <a:avLst/>
          </a:prstGeom>
          <a:noFill/>
          <a:ln/>
        </p:spPr>
        <p:txBody>
          <a:bodyPr wrap="none" lIns="0" tIns="0" rIns="0" bIns="0" rtlCol="0" anchor="ctr"/>
          <a:lstStyle/>
          <a:p>
            <a:pPr marL="0" indent="0" algn="l">
              <a:lnSpc>
                <a:spcPct val="100000"/>
              </a:lnSpc>
              <a:buNone/>
            </a:pPr>
            <a:r>
              <a:rPr lang="en-US" sz="1600" kern="0" spc="-14" dirty="0">
                <a:solidFill>
                  <a:srgbClr val="3D3838"/>
                </a:solidFill>
                <a:latin typeface="Aptos Narrow" panose="020B0004020202020204" pitchFamily="34" charset="0"/>
                <a:ea typeface="Montserrat Light" pitchFamily="34" charset="-122"/>
                <a:cs typeface="Montserrat Light" pitchFamily="34" charset="-120"/>
              </a:rPr>
              <a:t>02</a:t>
            </a:r>
            <a:endParaRPr lang="en-US" sz="1600" dirty="0">
              <a:solidFill>
                <a:srgbClr val="3D3838"/>
              </a:solidFill>
              <a:latin typeface="Aptos Narrow" panose="020B0004020202020204" pitchFamily="34" charset="0"/>
            </a:endParaRPr>
          </a:p>
        </p:txBody>
      </p:sp>
      <p:sp>
        <p:nvSpPr>
          <p:cNvPr id="8" name="Shape 6"/>
          <p:cNvSpPr/>
          <p:nvPr/>
        </p:nvSpPr>
        <p:spPr>
          <a:xfrm>
            <a:off x="4363730" y="2863255"/>
            <a:ext cx="3464136" cy="25400"/>
          </a:xfrm>
          <a:prstGeom prst="rect">
            <a:avLst/>
          </a:prstGeom>
          <a:solidFill>
            <a:srgbClr val="2D2E34"/>
          </a:solidFill>
          <a:ln/>
        </p:spPr>
        <p:txBody>
          <a:bodyPr/>
          <a:lstStyle/>
          <a:p>
            <a:endParaRPr lang="de-DE">
              <a:solidFill>
                <a:srgbClr val="3D3838"/>
              </a:solidFill>
              <a:latin typeface="Aptos Narrow" panose="020B0004020202020204" pitchFamily="34" charset="0"/>
            </a:endParaRPr>
          </a:p>
        </p:txBody>
      </p:sp>
      <p:sp>
        <p:nvSpPr>
          <p:cNvPr id="9" name="Text 7"/>
          <p:cNvSpPr/>
          <p:nvPr/>
        </p:nvSpPr>
        <p:spPr>
          <a:xfrm>
            <a:off x="4363730" y="3003947"/>
            <a:ext cx="3464136" cy="255587"/>
          </a:xfrm>
          <a:prstGeom prst="rect">
            <a:avLst/>
          </a:prstGeom>
          <a:noFill/>
          <a:ln/>
        </p:spPr>
        <p:txBody>
          <a:bodyPr wrap="none" lIns="0" tIns="0" rIns="0" bIns="0" rtlCol="0" anchor="t"/>
          <a:lstStyle/>
          <a:p>
            <a:pPr marL="0" indent="0" algn="l">
              <a:lnSpc>
                <a:spcPct val="104000"/>
              </a:lnSpc>
              <a:buNone/>
            </a:pPr>
            <a:r>
              <a:rPr lang="en-US" b="1" kern="0" spc="-16" dirty="0" err="1">
                <a:solidFill>
                  <a:srgbClr val="3D3838"/>
                </a:solidFill>
                <a:latin typeface="Aptos Narrow" panose="020B0004020202020204" pitchFamily="34" charset="0"/>
                <a:ea typeface="Montserrat Bold" pitchFamily="34" charset="-122"/>
                <a:cs typeface="Montserrat Bold" pitchFamily="34" charset="-120"/>
              </a:rPr>
              <a:t>Datenbasis</a:t>
            </a:r>
            <a:r>
              <a:rPr lang="en-US" b="1" kern="0" spc="-16" dirty="0">
                <a:solidFill>
                  <a:srgbClr val="3D3838"/>
                </a:solidFill>
                <a:latin typeface="Aptos Narrow" panose="020B0004020202020204" pitchFamily="34" charset="0"/>
                <a:ea typeface="Montserrat Bold" pitchFamily="34" charset="-122"/>
                <a:cs typeface="Montserrat Bold" pitchFamily="34" charset="-120"/>
              </a:rPr>
              <a:t> &amp; </a:t>
            </a:r>
            <a:r>
              <a:rPr lang="en-US" b="1" kern="0" spc="-16" dirty="0" err="1">
                <a:solidFill>
                  <a:srgbClr val="3D3838"/>
                </a:solidFill>
                <a:latin typeface="Aptos Narrow" panose="020B0004020202020204" pitchFamily="34" charset="0"/>
                <a:ea typeface="Montserrat Bold" pitchFamily="34" charset="-122"/>
                <a:cs typeface="Montserrat Bold" pitchFamily="34" charset="-120"/>
              </a:rPr>
              <a:t>Analyseprozess</a:t>
            </a:r>
            <a:endParaRPr lang="en-US" dirty="0">
              <a:solidFill>
                <a:srgbClr val="3D3838"/>
              </a:solidFill>
              <a:latin typeface="Aptos Narrow" panose="020B0004020202020204" pitchFamily="34" charset="0"/>
            </a:endParaRPr>
          </a:p>
        </p:txBody>
      </p:sp>
      <p:sp>
        <p:nvSpPr>
          <p:cNvPr id="10" name="Text 8"/>
          <p:cNvSpPr/>
          <p:nvPr/>
        </p:nvSpPr>
        <p:spPr>
          <a:xfrm>
            <a:off x="8007745" y="2582863"/>
            <a:ext cx="359857" cy="224929"/>
          </a:xfrm>
          <a:prstGeom prst="rect">
            <a:avLst/>
          </a:prstGeom>
          <a:noFill/>
          <a:ln/>
        </p:spPr>
        <p:txBody>
          <a:bodyPr wrap="none" lIns="0" tIns="0" rIns="0" bIns="0" rtlCol="0" anchor="ctr"/>
          <a:lstStyle/>
          <a:p>
            <a:pPr marL="0" indent="0" algn="l">
              <a:lnSpc>
                <a:spcPct val="100000"/>
              </a:lnSpc>
              <a:buNone/>
            </a:pPr>
            <a:r>
              <a:rPr lang="en-US" sz="1600" kern="0" spc="-14" dirty="0">
                <a:solidFill>
                  <a:srgbClr val="3D3838"/>
                </a:solidFill>
                <a:latin typeface="Aptos Narrow" panose="020B0004020202020204" pitchFamily="34" charset="0"/>
                <a:ea typeface="Montserrat Light" pitchFamily="34" charset="-122"/>
                <a:cs typeface="Montserrat Light" pitchFamily="34" charset="-120"/>
              </a:rPr>
              <a:t>03</a:t>
            </a:r>
            <a:endParaRPr lang="en-US" sz="1600" dirty="0">
              <a:solidFill>
                <a:srgbClr val="3D3838"/>
              </a:solidFill>
              <a:latin typeface="Aptos Narrow" panose="020B0004020202020204" pitchFamily="34" charset="0"/>
            </a:endParaRPr>
          </a:p>
        </p:txBody>
      </p:sp>
      <p:sp>
        <p:nvSpPr>
          <p:cNvPr id="11" name="Shape 9"/>
          <p:cNvSpPr/>
          <p:nvPr/>
        </p:nvSpPr>
        <p:spPr>
          <a:xfrm>
            <a:off x="8007745" y="2863255"/>
            <a:ext cx="3464136" cy="25400"/>
          </a:xfrm>
          <a:prstGeom prst="rect">
            <a:avLst/>
          </a:prstGeom>
          <a:solidFill>
            <a:srgbClr val="2D2E34"/>
          </a:solidFill>
          <a:ln/>
        </p:spPr>
        <p:txBody>
          <a:bodyPr/>
          <a:lstStyle/>
          <a:p>
            <a:endParaRPr lang="de-DE">
              <a:solidFill>
                <a:srgbClr val="3D3838"/>
              </a:solidFill>
              <a:latin typeface="Aptos Narrow" panose="020B0004020202020204" pitchFamily="34" charset="0"/>
            </a:endParaRPr>
          </a:p>
        </p:txBody>
      </p:sp>
      <p:sp>
        <p:nvSpPr>
          <p:cNvPr id="12" name="Text 10"/>
          <p:cNvSpPr/>
          <p:nvPr/>
        </p:nvSpPr>
        <p:spPr>
          <a:xfrm>
            <a:off x="8007745" y="3003947"/>
            <a:ext cx="3464136" cy="511175"/>
          </a:xfrm>
          <a:prstGeom prst="rect">
            <a:avLst/>
          </a:prstGeom>
          <a:noFill/>
          <a:ln/>
        </p:spPr>
        <p:txBody>
          <a:bodyPr wrap="square" lIns="0" tIns="0" rIns="0" bIns="0" rtlCol="0" anchor="t">
            <a:noAutofit/>
          </a:bodyPr>
          <a:lstStyle/>
          <a:p>
            <a:pPr marL="0" indent="0" algn="l">
              <a:lnSpc>
                <a:spcPct val="104000"/>
              </a:lnSpc>
              <a:buNone/>
            </a:pPr>
            <a:r>
              <a:rPr lang="en-US" b="1" kern="0" spc="-16" dirty="0">
                <a:solidFill>
                  <a:srgbClr val="3D3838"/>
                </a:solidFill>
                <a:latin typeface="Aptos Narrow" panose="020B0004020202020204" pitchFamily="34" charset="0"/>
                <a:ea typeface="Montserrat Bold" pitchFamily="34" charset="-122"/>
                <a:cs typeface="Montserrat Bold" pitchFamily="34" charset="-120"/>
              </a:rPr>
              <a:t>Explorative Datenanalyse &amp; Datenqualität</a:t>
            </a:r>
            <a:endParaRPr lang="en-US" dirty="0">
              <a:solidFill>
                <a:srgbClr val="3D3838"/>
              </a:solidFill>
              <a:latin typeface="Aptos Narrow" panose="020B0004020202020204" pitchFamily="34" charset="0"/>
            </a:endParaRPr>
          </a:p>
        </p:txBody>
      </p:sp>
      <p:sp>
        <p:nvSpPr>
          <p:cNvPr id="13" name="Text 11"/>
          <p:cNvSpPr/>
          <p:nvPr/>
        </p:nvSpPr>
        <p:spPr>
          <a:xfrm>
            <a:off x="719814" y="3829943"/>
            <a:ext cx="359857" cy="224929"/>
          </a:xfrm>
          <a:prstGeom prst="rect">
            <a:avLst/>
          </a:prstGeom>
          <a:noFill/>
          <a:ln/>
        </p:spPr>
        <p:txBody>
          <a:bodyPr wrap="none" lIns="0" tIns="0" rIns="0" bIns="0" rtlCol="0" anchor="ctr"/>
          <a:lstStyle/>
          <a:p>
            <a:pPr marL="0" indent="0" algn="l">
              <a:lnSpc>
                <a:spcPct val="100000"/>
              </a:lnSpc>
              <a:buNone/>
            </a:pPr>
            <a:r>
              <a:rPr lang="en-US" sz="1600" kern="0" spc="-14" dirty="0">
                <a:solidFill>
                  <a:srgbClr val="3D3838"/>
                </a:solidFill>
                <a:latin typeface="Aptos Narrow" panose="020B0004020202020204" pitchFamily="34" charset="0"/>
                <a:ea typeface="Montserrat Light" pitchFamily="34" charset="-122"/>
                <a:cs typeface="Montserrat Light" pitchFamily="34" charset="-120"/>
              </a:rPr>
              <a:t>04</a:t>
            </a:r>
            <a:endParaRPr lang="en-US" sz="1600" dirty="0">
              <a:solidFill>
                <a:srgbClr val="3D3838"/>
              </a:solidFill>
              <a:latin typeface="Aptos Narrow" panose="020B0004020202020204" pitchFamily="34" charset="0"/>
            </a:endParaRPr>
          </a:p>
        </p:txBody>
      </p:sp>
      <p:sp>
        <p:nvSpPr>
          <p:cNvPr id="14" name="Shape 12"/>
          <p:cNvSpPr/>
          <p:nvPr/>
        </p:nvSpPr>
        <p:spPr>
          <a:xfrm>
            <a:off x="719814" y="4110335"/>
            <a:ext cx="3464037" cy="25400"/>
          </a:xfrm>
          <a:prstGeom prst="rect">
            <a:avLst/>
          </a:prstGeom>
          <a:solidFill>
            <a:srgbClr val="2D2E34"/>
          </a:solidFill>
          <a:ln/>
        </p:spPr>
        <p:txBody>
          <a:bodyPr/>
          <a:lstStyle/>
          <a:p>
            <a:endParaRPr lang="de-DE" dirty="0">
              <a:solidFill>
                <a:srgbClr val="3D3838"/>
              </a:solidFill>
              <a:latin typeface="Aptos Narrow" panose="020B0004020202020204" pitchFamily="34" charset="0"/>
            </a:endParaRPr>
          </a:p>
        </p:txBody>
      </p:sp>
      <p:sp>
        <p:nvSpPr>
          <p:cNvPr id="15" name="Text 13"/>
          <p:cNvSpPr/>
          <p:nvPr/>
        </p:nvSpPr>
        <p:spPr>
          <a:xfrm>
            <a:off x="719814" y="4251027"/>
            <a:ext cx="3464037" cy="255587"/>
          </a:xfrm>
          <a:prstGeom prst="rect">
            <a:avLst/>
          </a:prstGeom>
          <a:noFill/>
          <a:ln/>
        </p:spPr>
        <p:txBody>
          <a:bodyPr wrap="none" lIns="0" tIns="0" rIns="0" bIns="0" rtlCol="0" anchor="t"/>
          <a:lstStyle/>
          <a:p>
            <a:pPr marL="0" indent="0" algn="l">
              <a:lnSpc>
                <a:spcPct val="104000"/>
              </a:lnSpc>
              <a:buNone/>
            </a:pPr>
            <a:r>
              <a:rPr lang="en-US" b="1" kern="0" spc="-16" dirty="0">
                <a:solidFill>
                  <a:srgbClr val="3D3838"/>
                </a:solidFill>
                <a:latin typeface="Aptos Narrow" panose="020B0004020202020204" pitchFamily="34" charset="0"/>
                <a:ea typeface="Montserrat Bold" pitchFamily="34" charset="-122"/>
                <a:cs typeface="Montserrat Bold" pitchFamily="34" charset="-120"/>
              </a:rPr>
              <a:t>Datenbereinigung</a:t>
            </a:r>
            <a:endParaRPr lang="en-US" dirty="0">
              <a:solidFill>
                <a:srgbClr val="3D3838"/>
              </a:solidFill>
              <a:latin typeface="Aptos Narrow" panose="020B0004020202020204" pitchFamily="34" charset="0"/>
            </a:endParaRPr>
          </a:p>
        </p:txBody>
      </p:sp>
      <p:sp>
        <p:nvSpPr>
          <p:cNvPr id="16" name="Text 14"/>
          <p:cNvSpPr/>
          <p:nvPr/>
        </p:nvSpPr>
        <p:spPr>
          <a:xfrm>
            <a:off x="4363730" y="3829943"/>
            <a:ext cx="359857" cy="224929"/>
          </a:xfrm>
          <a:prstGeom prst="rect">
            <a:avLst/>
          </a:prstGeom>
          <a:noFill/>
          <a:ln/>
        </p:spPr>
        <p:txBody>
          <a:bodyPr wrap="none" lIns="0" tIns="0" rIns="0" bIns="0" rtlCol="0" anchor="ctr"/>
          <a:lstStyle/>
          <a:p>
            <a:pPr marL="0" indent="0" algn="l">
              <a:lnSpc>
                <a:spcPct val="100000"/>
              </a:lnSpc>
              <a:buNone/>
            </a:pPr>
            <a:r>
              <a:rPr lang="en-US" sz="1600" kern="0" spc="-14" dirty="0">
                <a:solidFill>
                  <a:srgbClr val="3D3838"/>
                </a:solidFill>
                <a:latin typeface="Aptos Narrow" panose="020B0004020202020204" pitchFamily="34" charset="0"/>
                <a:ea typeface="Montserrat Light" pitchFamily="34" charset="-122"/>
                <a:cs typeface="Montserrat Light" pitchFamily="34" charset="-120"/>
              </a:rPr>
              <a:t>05</a:t>
            </a:r>
            <a:endParaRPr lang="en-US" sz="1600" dirty="0">
              <a:solidFill>
                <a:srgbClr val="3D3838"/>
              </a:solidFill>
              <a:latin typeface="Aptos Narrow" panose="020B0004020202020204" pitchFamily="34" charset="0"/>
            </a:endParaRPr>
          </a:p>
        </p:txBody>
      </p:sp>
      <p:sp>
        <p:nvSpPr>
          <p:cNvPr id="17" name="Shape 15"/>
          <p:cNvSpPr/>
          <p:nvPr/>
        </p:nvSpPr>
        <p:spPr>
          <a:xfrm>
            <a:off x="4363730" y="4110335"/>
            <a:ext cx="3464136" cy="25400"/>
          </a:xfrm>
          <a:prstGeom prst="rect">
            <a:avLst/>
          </a:prstGeom>
          <a:solidFill>
            <a:srgbClr val="2D2E34"/>
          </a:solidFill>
          <a:ln/>
        </p:spPr>
        <p:txBody>
          <a:bodyPr/>
          <a:lstStyle/>
          <a:p>
            <a:endParaRPr lang="de-DE">
              <a:solidFill>
                <a:srgbClr val="3D3838"/>
              </a:solidFill>
              <a:latin typeface="Aptos Narrow" panose="020B0004020202020204" pitchFamily="34" charset="0"/>
            </a:endParaRPr>
          </a:p>
        </p:txBody>
      </p:sp>
      <p:sp>
        <p:nvSpPr>
          <p:cNvPr id="18" name="Text 16"/>
          <p:cNvSpPr/>
          <p:nvPr/>
        </p:nvSpPr>
        <p:spPr>
          <a:xfrm>
            <a:off x="4363730" y="4251027"/>
            <a:ext cx="3464136" cy="255587"/>
          </a:xfrm>
          <a:prstGeom prst="rect">
            <a:avLst/>
          </a:prstGeom>
          <a:noFill/>
          <a:ln/>
        </p:spPr>
        <p:txBody>
          <a:bodyPr wrap="none" lIns="0" tIns="0" rIns="0" bIns="0" rtlCol="0" anchor="t"/>
          <a:lstStyle/>
          <a:p>
            <a:pPr marL="0" indent="0" algn="l">
              <a:lnSpc>
                <a:spcPct val="104000"/>
              </a:lnSpc>
              <a:buNone/>
            </a:pPr>
            <a:r>
              <a:rPr lang="en-US" b="1" kern="0" spc="-16" dirty="0">
                <a:solidFill>
                  <a:srgbClr val="3D3838"/>
                </a:solidFill>
                <a:latin typeface="Aptos Narrow" panose="020B0004020202020204" pitchFamily="34" charset="0"/>
                <a:ea typeface="Montserrat Bold" pitchFamily="34" charset="-122"/>
                <a:cs typeface="Montserrat Bold" pitchFamily="34" charset="-120"/>
              </a:rPr>
              <a:t>Feature Engineering</a:t>
            </a:r>
            <a:endParaRPr lang="en-US" dirty="0">
              <a:solidFill>
                <a:srgbClr val="3D3838"/>
              </a:solidFill>
              <a:latin typeface="Aptos Narrow" panose="020B0004020202020204" pitchFamily="34" charset="0"/>
            </a:endParaRPr>
          </a:p>
        </p:txBody>
      </p:sp>
      <p:sp>
        <p:nvSpPr>
          <p:cNvPr id="19" name="Text 17"/>
          <p:cNvSpPr/>
          <p:nvPr/>
        </p:nvSpPr>
        <p:spPr>
          <a:xfrm>
            <a:off x="8007745" y="3829943"/>
            <a:ext cx="359857" cy="224929"/>
          </a:xfrm>
          <a:prstGeom prst="rect">
            <a:avLst/>
          </a:prstGeom>
          <a:noFill/>
          <a:ln/>
        </p:spPr>
        <p:txBody>
          <a:bodyPr wrap="none" lIns="0" tIns="0" rIns="0" bIns="0" rtlCol="0" anchor="ctr"/>
          <a:lstStyle/>
          <a:p>
            <a:pPr marL="0" indent="0" algn="l">
              <a:lnSpc>
                <a:spcPct val="100000"/>
              </a:lnSpc>
              <a:buNone/>
            </a:pPr>
            <a:r>
              <a:rPr lang="en-US" sz="1600" kern="0" spc="-14" dirty="0">
                <a:solidFill>
                  <a:srgbClr val="3D3838"/>
                </a:solidFill>
                <a:latin typeface="Aptos Narrow" panose="020B0004020202020204" pitchFamily="34" charset="0"/>
                <a:ea typeface="Montserrat Light" pitchFamily="34" charset="-122"/>
                <a:cs typeface="Montserrat Light" pitchFamily="34" charset="-120"/>
              </a:rPr>
              <a:t>06</a:t>
            </a:r>
            <a:endParaRPr lang="en-US" sz="1600" dirty="0">
              <a:solidFill>
                <a:srgbClr val="3D3838"/>
              </a:solidFill>
              <a:latin typeface="Aptos Narrow" panose="020B0004020202020204" pitchFamily="34" charset="0"/>
            </a:endParaRPr>
          </a:p>
        </p:txBody>
      </p:sp>
      <p:sp>
        <p:nvSpPr>
          <p:cNvPr id="20" name="Shape 18"/>
          <p:cNvSpPr/>
          <p:nvPr/>
        </p:nvSpPr>
        <p:spPr>
          <a:xfrm>
            <a:off x="8007745" y="4110335"/>
            <a:ext cx="3464136" cy="25400"/>
          </a:xfrm>
          <a:prstGeom prst="rect">
            <a:avLst/>
          </a:prstGeom>
          <a:solidFill>
            <a:srgbClr val="2D2E34"/>
          </a:solidFill>
          <a:ln/>
        </p:spPr>
        <p:txBody>
          <a:bodyPr/>
          <a:lstStyle/>
          <a:p>
            <a:endParaRPr lang="de-DE">
              <a:solidFill>
                <a:srgbClr val="3D3838"/>
              </a:solidFill>
              <a:latin typeface="Aptos Narrow" panose="020B0004020202020204" pitchFamily="34" charset="0"/>
            </a:endParaRPr>
          </a:p>
        </p:txBody>
      </p:sp>
      <p:sp>
        <p:nvSpPr>
          <p:cNvPr id="21" name="Text 19"/>
          <p:cNvSpPr/>
          <p:nvPr/>
        </p:nvSpPr>
        <p:spPr>
          <a:xfrm>
            <a:off x="8007745" y="4251027"/>
            <a:ext cx="3464136" cy="255587"/>
          </a:xfrm>
          <a:prstGeom prst="rect">
            <a:avLst/>
          </a:prstGeom>
          <a:noFill/>
          <a:ln/>
        </p:spPr>
        <p:txBody>
          <a:bodyPr wrap="none" lIns="0" tIns="0" rIns="0" bIns="0" rtlCol="0" anchor="t"/>
          <a:lstStyle/>
          <a:p>
            <a:pPr marL="0" indent="0" algn="l">
              <a:lnSpc>
                <a:spcPct val="104000"/>
              </a:lnSpc>
              <a:buNone/>
            </a:pPr>
            <a:r>
              <a:rPr lang="en-US" b="1" kern="0" spc="-16" dirty="0">
                <a:solidFill>
                  <a:srgbClr val="3D3838"/>
                </a:solidFill>
                <a:latin typeface="Aptos Narrow" panose="020B0004020202020204" pitchFamily="34" charset="0"/>
                <a:ea typeface="Montserrat Bold" pitchFamily="34" charset="-122"/>
                <a:cs typeface="Montserrat Bold" pitchFamily="34" charset="-120"/>
              </a:rPr>
              <a:t>Gesamtsammlung</a:t>
            </a:r>
            <a:endParaRPr lang="en-US" dirty="0">
              <a:solidFill>
                <a:srgbClr val="3D3838"/>
              </a:solidFill>
              <a:latin typeface="Aptos Narrow" panose="020B0004020202020204" pitchFamily="34" charset="0"/>
            </a:endParaRPr>
          </a:p>
        </p:txBody>
      </p:sp>
      <p:sp>
        <p:nvSpPr>
          <p:cNvPr id="22" name="Text 20"/>
          <p:cNvSpPr/>
          <p:nvPr/>
        </p:nvSpPr>
        <p:spPr>
          <a:xfrm>
            <a:off x="719814" y="4821436"/>
            <a:ext cx="359857" cy="224929"/>
          </a:xfrm>
          <a:prstGeom prst="rect">
            <a:avLst/>
          </a:prstGeom>
          <a:noFill/>
          <a:ln/>
        </p:spPr>
        <p:txBody>
          <a:bodyPr wrap="none" lIns="0" tIns="0" rIns="0" bIns="0" rtlCol="0" anchor="ctr"/>
          <a:lstStyle/>
          <a:p>
            <a:pPr marL="0" indent="0" algn="l">
              <a:lnSpc>
                <a:spcPct val="100000"/>
              </a:lnSpc>
              <a:buNone/>
            </a:pPr>
            <a:r>
              <a:rPr lang="en-US" sz="1600" kern="0" spc="-14" dirty="0">
                <a:solidFill>
                  <a:srgbClr val="3D3838"/>
                </a:solidFill>
                <a:latin typeface="Aptos Narrow" panose="020B0004020202020204" pitchFamily="34" charset="0"/>
                <a:ea typeface="Montserrat Light" pitchFamily="34" charset="-122"/>
                <a:cs typeface="Montserrat Light" pitchFamily="34" charset="-120"/>
              </a:rPr>
              <a:t>07</a:t>
            </a:r>
            <a:endParaRPr lang="en-US" sz="1600" dirty="0">
              <a:solidFill>
                <a:srgbClr val="3D3838"/>
              </a:solidFill>
              <a:latin typeface="Aptos Narrow" panose="020B0004020202020204" pitchFamily="34" charset="0"/>
            </a:endParaRPr>
          </a:p>
        </p:txBody>
      </p:sp>
      <p:sp>
        <p:nvSpPr>
          <p:cNvPr id="23" name="Shape 21"/>
          <p:cNvSpPr/>
          <p:nvPr/>
        </p:nvSpPr>
        <p:spPr>
          <a:xfrm>
            <a:off x="719814" y="5101828"/>
            <a:ext cx="3464037" cy="25400"/>
          </a:xfrm>
          <a:prstGeom prst="rect">
            <a:avLst/>
          </a:prstGeom>
          <a:solidFill>
            <a:srgbClr val="2D2E34"/>
          </a:solidFill>
          <a:ln/>
        </p:spPr>
        <p:txBody>
          <a:bodyPr/>
          <a:lstStyle/>
          <a:p>
            <a:endParaRPr lang="de-DE">
              <a:solidFill>
                <a:srgbClr val="3D3838"/>
              </a:solidFill>
              <a:latin typeface="Aptos Narrow" panose="020B0004020202020204" pitchFamily="34" charset="0"/>
            </a:endParaRPr>
          </a:p>
        </p:txBody>
      </p:sp>
      <p:sp>
        <p:nvSpPr>
          <p:cNvPr id="24" name="Text 22"/>
          <p:cNvSpPr/>
          <p:nvPr/>
        </p:nvSpPr>
        <p:spPr>
          <a:xfrm>
            <a:off x="719814" y="5242520"/>
            <a:ext cx="3464037" cy="255587"/>
          </a:xfrm>
          <a:prstGeom prst="rect">
            <a:avLst/>
          </a:prstGeom>
          <a:noFill/>
          <a:ln/>
        </p:spPr>
        <p:txBody>
          <a:bodyPr wrap="none" lIns="0" tIns="0" rIns="0" bIns="0" rtlCol="0" anchor="t"/>
          <a:lstStyle/>
          <a:p>
            <a:pPr marL="0" indent="0" algn="l">
              <a:lnSpc>
                <a:spcPct val="104000"/>
              </a:lnSpc>
              <a:buNone/>
            </a:pPr>
            <a:r>
              <a:rPr lang="en-US" b="1" kern="0" spc="-16" dirty="0">
                <a:solidFill>
                  <a:srgbClr val="3D3838"/>
                </a:solidFill>
                <a:latin typeface="Aptos Narrow" panose="020B0004020202020204" pitchFamily="34" charset="0"/>
                <a:ea typeface="Montserrat Bold" pitchFamily="34" charset="-122"/>
                <a:cs typeface="Montserrat Bold" pitchFamily="34" charset="-120"/>
              </a:rPr>
              <a:t>Iran </a:t>
            </a:r>
            <a:r>
              <a:rPr lang="en-US" b="1" kern="0" spc="-16" dirty="0" err="1">
                <a:solidFill>
                  <a:srgbClr val="3D3838"/>
                </a:solidFill>
                <a:latin typeface="Aptos Narrow" panose="020B0004020202020204" pitchFamily="34" charset="0"/>
                <a:ea typeface="Montserrat Bold" pitchFamily="34" charset="-122"/>
                <a:cs typeface="Montserrat Bold" pitchFamily="34" charset="-120"/>
              </a:rPr>
              <a:t>im</a:t>
            </a:r>
            <a:r>
              <a:rPr lang="en-US" b="1" kern="0" spc="-16" dirty="0">
                <a:solidFill>
                  <a:srgbClr val="3D3838"/>
                </a:solidFill>
                <a:latin typeface="Aptos Narrow" panose="020B0004020202020204" pitchFamily="34" charset="0"/>
                <a:ea typeface="Montserrat Bold" pitchFamily="34" charset="-122"/>
                <a:cs typeface="Montserrat Bold" pitchFamily="34" charset="-120"/>
              </a:rPr>
              <a:t> </a:t>
            </a:r>
            <a:r>
              <a:rPr lang="en-US" b="1" kern="0" spc="-16" dirty="0" err="1">
                <a:solidFill>
                  <a:srgbClr val="3D3838"/>
                </a:solidFill>
                <a:latin typeface="Aptos Narrow" panose="020B0004020202020204" pitchFamily="34" charset="0"/>
                <a:ea typeface="Montserrat Bold" pitchFamily="34" charset="-122"/>
                <a:cs typeface="Montserrat Bold" pitchFamily="34" charset="-120"/>
              </a:rPr>
              <a:t>Kontext</a:t>
            </a:r>
            <a:r>
              <a:rPr lang="en-US" b="1" kern="0" spc="-16" dirty="0">
                <a:solidFill>
                  <a:srgbClr val="3D3838"/>
                </a:solidFill>
                <a:latin typeface="Aptos Narrow" panose="020B0004020202020204" pitchFamily="34" charset="0"/>
                <a:ea typeface="Montserrat Bold" pitchFamily="34" charset="-122"/>
                <a:cs typeface="Montserrat Bold" pitchFamily="34" charset="-120"/>
              </a:rPr>
              <a:t> der </a:t>
            </a:r>
            <a:r>
              <a:rPr lang="en-US" b="1" kern="0" spc="-16" dirty="0" err="1">
                <a:solidFill>
                  <a:srgbClr val="3D3838"/>
                </a:solidFill>
                <a:latin typeface="Aptos Narrow" panose="020B0004020202020204" pitchFamily="34" charset="0"/>
                <a:ea typeface="Montserrat Bold" pitchFamily="34" charset="-122"/>
                <a:cs typeface="Montserrat Bold" pitchFamily="34" charset="-120"/>
              </a:rPr>
              <a:t>Sammlung</a:t>
            </a:r>
            <a:endParaRPr lang="en-US" dirty="0">
              <a:solidFill>
                <a:srgbClr val="3D3838"/>
              </a:solidFill>
              <a:latin typeface="Aptos Narrow" panose="020B0004020202020204" pitchFamily="34" charset="0"/>
            </a:endParaRPr>
          </a:p>
        </p:txBody>
      </p:sp>
      <p:sp>
        <p:nvSpPr>
          <p:cNvPr id="25" name="Text 23"/>
          <p:cNvSpPr/>
          <p:nvPr/>
        </p:nvSpPr>
        <p:spPr>
          <a:xfrm>
            <a:off x="4363730" y="4821436"/>
            <a:ext cx="359857" cy="224929"/>
          </a:xfrm>
          <a:prstGeom prst="rect">
            <a:avLst/>
          </a:prstGeom>
          <a:noFill/>
          <a:ln/>
        </p:spPr>
        <p:txBody>
          <a:bodyPr wrap="none" lIns="0" tIns="0" rIns="0" bIns="0" rtlCol="0" anchor="ctr"/>
          <a:lstStyle/>
          <a:p>
            <a:pPr marL="0" indent="0" algn="l">
              <a:lnSpc>
                <a:spcPct val="100000"/>
              </a:lnSpc>
              <a:buNone/>
            </a:pPr>
            <a:r>
              <a:rPr lang="en-US" sz="1600" kern="0" spc="-14" dirty="0">
                <a:solidFill>
                  <a:srgbClr val="3D3838"/>
                </a:solidFill>
                <a:latin typeface="Aptos Narrow" panose="020B0004020202020204" pitchFamily="34" charset="0"/>
                <a:ea typeface="Montserrat Light" pitchFamily="34" charset="-122"/>
                <a:cs typeface="Montserrat Light" pitchFamily="34" charset="-120"/>
              </a:rPr>
              <a:t>08</a:t>
            </a:r>
            <a:endParaRPr lang="en-US" sz="1600" dirty="0">
              <a:solidFill>
                <a:srgbClr val="3D3838"/>
              </a:solidFill>
              <a:latin typeface="Aptos Narrow" panose="020B0004020202020204" pitchFamily="34" charset="0"/>
            </a:endParaRPr>
          </a:p>
        </p:txBody>
      </p:sp>
      <p:sp>
        <p:nvSpPr>
          <p:cNvPr id="26" name="Shape 24"/>
          <p:cNvSpPr/>
          <p:nvPr/>
        </p:nvSpPr>
        <p:spPr>
          <a:xfrm>
            <a:off x="4363730" y="5101828"/>
            <a:ext cx="3464136" cy="25400"/>
          </a:xfrm>
          <a:prstGeom prst="rect">
            <a:avLst/>
          </a:prstGeom>
          <a:solidFill>
            <a:srgbClr val="2D2E34"/>
          </a:solidFill>
          <a:ln/>
        </p:spPr>
        <p:txBody>
          <a:bodyPr/>
          <a:lstStyle/>
          <a:p>
            <a:endParaRPr lang="de-DE">
              <a:solidFill>
                <a:srgbClr val="3D3838"/>
              </a:solidFill>
              <a:latin typeface="Aptos Narrow" panose="020B0004020202020204" pitchFamily="34" charset="0"/>
            </a:endParaRPr>
          </a:p>
        </p:txBody>
      </p:sp>
      <p:sp>
        <p:nvSpPr>
          <p:cNvPr id="27" name="Text 25"/>
          <p:cNvSpPr/>
          <p:nvPr/>
        </p:nvSpPr>
        <p:spPr>
          <a:xfrm>
            <a:off x="4363729" y="5242520"/>
            <a:ext cx="3543141" cy="511175"/>
          </a:xfrm>
          <a:prstGeom prst="rect">
            <a:avLst/>
          </a:prstGeom>
          <a:noFill/>
          <a:ln/>
        </p:spPr>
        <p:txBody>
          <a:bodyPr wrap="square" lIns="0" tIns="0" rIns="0" bIns="0" rtlCol="0" anchor="t">
            <a:noAutofit/>
          </a:bodyPr>
          <a:lstStyle/>
          <a:p>
            <a:pPr marL="0" indent="0" algn="l">
              <a:lnSpc>
                <a:spcPct val="104000"/>
              </a:lnSpc>
              <a:buNone/>
            </a:pPr>
            <a:r>
              <a:rPr lang="en-US" b="1" kern="0" spc="-16" dirty="0">
                <a:solidFill>
                  <a:srgbClr val="3D3838"/>
                </a:solidFill>
                <a:latin typeface="Aptos Narrow" panose="020B0004020202020204" pitchFamily="34" charset="0"/>
                <a:ea typeface="Montserrat Bold" pitchFamily="34" charset="-122"/>
                <a:cs typeface="Montserrat Bold" pitchFamily="34" charset="-120"/>
              </a:rPr>
              <a:t>Schwerpunkte der iranischen Bestände</a:t>
            </a:r>
            <a:endParaRPr lang="en-US" dirty="0">
              <a:solidFill>
                <a:srgbClr val="3D3838"/>
              </a:solidFill>
              <a:latin typeface="Aptos Narrow" panose="020B0004020202020204" pitchFamily="34" charset="0"/>
            </a:endParaRPr>
          </a:p>
        </p:txBody>
      </p:sp>
      <p:sp>
        <p:nvSpPr>
          <p:cNvPr id="28" name="Text 26"/>
          <p:cNvSpPr/>
          <p:nvPr/>
        </p:nvSpPr>
        <p:spPr>
          <a:xfrm>
            <a:off x="8007745" y="4821436"/>
            <a:ext cx="359857" cy="224929"/>
          </a:xfrm>
          <a:prstGeom prst="rect">
            <a:avLst/>
          </a:prstGeom>
          <a:noFill/>
          <a:ln/>
        </p:spPr>
        <p:txBody>
          <a:bodyPr wrap="none" lIns="0" tIns="0" rIns="0" bIns="0" rtlCol="0" anchor="ctr"/>
          <a:lstStyle/>
          <a:p>
            <a:pPr marL="0" indent="0" algn="l">
              <a:lnSpc>
                <a:spcPct val="100000"/>
              </a:lnSpc>
              <a:buNone/>
            </a:pPr>
            <a:r>
              <a:rPr lang="en-US" sz="1600" kern="0" spc="-14" dirty="0">
                <a:solidFill>
                  <a:srgbClr val="3D3838"/>
                </a:solidFill>
                <a:latin typeface="Aptos Narrow" panose="020B0004020202020204" pitchFamily="34" charset="0"/>
                <a:ea typeface="Montserrat Light" pitchFamily="34" charset="-122"/>
                <a:cs typeface="Montserrat Light" pitchFamily="34" charset="-120"/>
              </a:rPr>
              <a:t>09</a:t>
            </a:r>
            <a:endParaRPr lang="en-US" sz="1600" dirty="0">
              <a:solidFill>
                <a:srgbClr val="3D3838"/>
              </a:solidFill>
              <a:latin typeface="Aptos Narrow" panose="020B0004020202020204" pitchFamily="34" charset="0"/>
            </a:endParaRPr>
          </a:p>
        </p:txBody>
      </p:sp>
      <p:sp>
        <p:nvSpPr>
          <p:cNvPr id="29" name="Shape 27"/>
          <p:cNvSpPr/>
          <p:nvPr/>
        </p:nvSpPr>
        <p:spPr>
          <a:xfrm>
            <a:off x="8007745" y="5101828"/>
            <a:ext cx="3464136" cy="25400"/>
          </a:xfrm>
          <a:prstGeom prst="rect">
            <a:avLst/>
          </a:prstGeom>
          <a:solidFill>
            <a:srgbClr val="2D2E34"/>
          </a:solidFill>
          <a:ln/>
        </p:spPr>
        <p:txBody>
          <a:bodyPr/>
          <a:lstStyle/>
          <a:p>
            <a:endParaRPr lang="de-DE">
              <a:solidFill>
                <a:srgbClr val="3D3838"/>
              </a:solidFill>
              <a:latin typeface="Aptos Narrow" panose="020B0004020202020204" pitchFamily="34" charset="0"/>
            </a:endParaRPr>
          </a:p>
        </p:txBody>
      </p:sp>
      <p:sp>
        <p:nvSpPr>
          <p:cNvPr id="30" name="Text 28"/>
          <p:cNvSpPr/>
          <p:nvPr/>
        </p:nvSpPr>
        <p:spPr>
          <a:xfrm>
            <a:off x="8007745" y="5242520"/>
            <a:ext cx="3464136" cy="255587"/>
          </a:xfrm>
          <a:prstGeom prst="rect">
            <a:avLst/>
          </a:prstGeom>
          <a:noFill/>
          <a:ln/>
        </p:spPr>
        <p:txBody>
          <a:bodyPr wrap="none" lIns="0" tIns="0" rIns="0" bIns="0" rtlCol="0" anchor="t"/>
          <a:lstStyle/>
          <a:p>
            <a:pPr marL="0" indent="0" algn="l">
              <a:lnSpc>
                <a:spcPct val="104000"/>
              </a:lnSpc>
              <a:buNone/>
            </a:pPr>
            <a:r>
              <a:rPr lang="en-US" b="1" kern="0" spc="-16" dirty="0">
                <a:solidFill>
                  <a:srgbClr val="3D3838"/>
                </a:solidFill>
                <a:latin typeface="Aptos Narrow" panose="020B0004020202020204" pitchFamily="34" charset="0"/>
                <a:ea typeface="Montserrat Bold" pitchFamily="34" charset="-122"/>
                <a:cs typeface="Montserrat Bold" pitchFamily="34" charset="-120"/>
              </a:rPr>
              <a:t>Handlungsempfehlungen</a:t>
            </a:r>
            <a:endParaRPr lang="en-US" dirty="0">
              <a:solidFill>
                <a:srgbClr val="3D3838"/>
              </a:solidFill>
              <a:latin typeface="Aptos Narrow" panose="020B0004020202020204" pitchFamily="34" charset="0"/>
            </a:endParaRPr>
          </a:p>
        </p:txBody>
      </p:sp>
      <p:sp>
        <p:nvSpPr>
          <p:cNvPr id="33" name="Textfeld 32">
            <a:extLst>
              <a:ext uri="{FF2B5EF4-FFF2-40B4-BE49-F238E27FC236}">
                <a16:creationId xmlns:a16="http://schemas.microsoft.com/office/drawing/2014/main" id="{CEA92B08-17B9-15A2-B65C-285FA6118163}"/>
              </a:ext>
            </a:extLst>
          </p:cNvPr>
          <p:cNvSpPr txBox="1"/>
          <p:nvPr/>
        </p:nvSpPr>
        <p:spPr>
          <a:xfrm>
            <a:off x="11764652" y="6454588"/>
            <a:ext cx="490101" cy="338554"/>
          </a:xfrm>
          <a:prstGeom prst="rect">
            <a:avLst/>
          </a:prstGeom>
          <a:noFill/>
        </p:spPr>
        <p:txBody>
          <a:bodyPr wrap="square" rtlCol="0">
            <a:spAutoFit/>
          </a:bodyPr>
          <a:lstStyle/>
          <a:p>
            <a:r>
              <a:rPr lang="de-DE" sz="1600" dirty="0">
                <a:solidFill>
                  <a:srgbClr val="3D3838"/>
                </a:solidFill>
                <a:latin typeface="Aptos Narrow" panose="020B0004020202020204" pitchFamily="34" charset="0"/>
              </a:rPr>
              <a:t>1</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4571886" cy="6858000"/>
          </a:xfrm>
          <a:prstGeom prst="rect">
            <a:avLst/>
          </a:prstGeom>
        </p:spPr>
      </p:pic>
      <p:sp>
        <p:nvSpPr>
          <p:cNvPr id="3" name="Text 0"/>
          <p:cNvSpPr/>
          <p:nvPr/>
        </p:nvSpPr>
        <p:spPr>
          <a:xfrm>
            <a:off x="5291700" y="574316"/>
            <a:ext cx="6180181" cy="485775"/>
          </a:xfrm>
          <a:prstGeom prst="rect">
            <a:avLst/>
          </a:prstGeom>
          <a:noFill/>
          <a:ln/>
        </p:spPr>
        <p:txBody>
          <a:bodyPr wrap="none" lIns="0" tIns="0" rIns="0" bIns="0" rtlCol="0" anchor="t"/>
          <a:lstStyle/>
          <a:p>
            <a:pPr marL="0" indent="0" algn="l">
              <a:lnSpc>
                <a:spcPct val="104000"/>
              </a:lnSpc>
              <a:buNone/>
            </a:pPr>
            <a:r>
              <a:rPr lang="en-US" sz="3600" b="1" kern="0" spc="-31" dirty="0">
                <a:solidFill>
                  <a:srgbClr val="3D3838"/>
                </a:solidFill>
                <a:latin typeface="Aptos Narrow" panose="020B0004020202020204" pitchFamily="34" charset="0"/>
                <a:ea typeface="Montserrat Bold" pitchFamily="34" charset="-122"/>
                <a:cs typeface="Montserrat Bold" pitchFamily="34" charset="-120"/>
              </a:rPr>
              <a:t>Problemstellung &amp; Leitfragen</a:t>
            </a:r>
            <a:endParaRPr lang="en-US" sz="3600" dirty="0">
              <a:solidFill>
                <a:srgbClr val="3D3838"/>
              </a:solidFill>
            </a:endParaRPr>
          </a:p>
        </p:txBody>
      </p:sp>
      <p:sp>
        <p:nvSpPr>
          <p:cNvPr id="4" name="Text 1"/>
          <p:cNvSpPr/>
          <p:nvPr/>
        </p:nvSpPr>
        <p:spPr>
          <a:xfrm>
            <a:off x="5291700" y="1313114"/>
            <a:ext cx="6180181" cy="854519"/>
          </a:xfrm>
          <a:prstGeom prst="rect">
            <a:avLst/>
          </a:prstGeom>
          <a:noFill/>
          <a:ln/>
        </p:spPr>
        <p:txBody>
          <a:bodyPr wrap="square" lIns="0" tIns="0" rIns="0" bIns="0" rtlCol="0" anchor="t">
            <a:normAutofit/>
          </a:bodyPr>
          <a:lstStyle/>
          <a:p>
            <a:pPr marL="0" indent="0" algn="l">
              <a:lnSpc>
                <a:spcPct val="114000"/>
              </a:lnSpc>
              <a:buNone/>
            </a:pPr>
            <a:r>
              <a:rPr lang="en-US" sz="1600" b="1" dirty="0">
                <a:solidFill>
                  <a:srgbClr val="3D3838"/>
                </a:solidFill>
                <a:latin typeface="Aptos Narrow" panose="020B0004020202020204" pitchFamily="34" charset="0"/>
                <a:ea typeface="Source Sans 3 Bold" pitchFamily="34" charset="-122"/>
                <a:cs typeface="Source Sans 3 Bold" pitchFamily="34" charset="-120"/>
              </a:rPr>
              <a:t>Übergeordnete Fragestellung:</a:t>
            </a:r>
            <a:r>
              <a:rPr lang="en-US" sz="1600" dirty="0">
                <a:solidFill>
                  <a:srgbClr val="3D3838"/>
                </a:solidFill>
                <a:latin typeface="Aptos Narrow" panose="020B0004020202020204" pitchFamily="34" charset="0"/>
                <a:ea typeface="Source Sans 3" pitchFamily="34" charset="-122"/>
                <a:cs typeface="Source Sans 3" pitchFamily="34" charset="-120"/>
              </a:rPr>
              <a:t> Welche Schwerpunkte prägen die Met-</a:t>
            </a:r>
            <a:r>
              <a:rPr lang="en-US" sz="1600" dirty="0" err="1">
                <a:solidFill>
                  <a:srgbClr val="3D3838"/>
                </a:solidFill>
                <a:latin typeface="Aptos Narrow" panose="020B0004020202020204" pitchFamily="34" charset="0"/>
                <a:ea typeface="Source Sans 3" pitchFamily="34" charset="-122"/>
                <a:cs typeface="Source Sans 3" pitchFamily="34" charset="-120"/>
              </a:rPr>
              <a:t>Sammlung</a:t>
            </a:r>
            <a:r>
              <a:rPr lang="en-US" sz="1600" dirty="0">
                <a:solidFill>
                  <a:srgbClr val="3D3838"/>
                </a:solidFill>
                <a:latin typeface="Aptos Narrow" panose="020B0004020202020204" pitchFamily="34" charset="0"/>
                <a:ea typeface="Source Sans 3" pitchFamily="34" charset="-122"/>
                <a:cs typeface="Source Sans 3" pitchFamily="34" charset="-120"/>
              </a:rPr>
              <a:t> – und was kennzeichnet die iranischen Bestände?</a:t>
            </a:r>
            <a:endParaRPr lang="en-US" sz="1600" dirty="0">
              <a:solidFill>
                <a:srgbClr val="3D3838"/>
              </a:solidFill>
            </a:endParaRPr>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291700" y="2256631"/>
            <a:ext cx="6180181" cy="1227237"/>
          </a:xfrm>
          <a:prstGeom prst="rect">
            <a:avLst/>
          </a:prstGeom>
        </p:spPr>
      </p:pic>
      <p:sp>
        <p:nvSpPr>
          <p:cNvPr id="6" name="Text 2"/>
          <p:cNvSpPr/>
          <p:nvPr/>
        </p:nvSpPr>
        <p:spPr>
          <a:xfrm>
            <a:off x="5557897" y="2394735"/>
            <a:ext cx="5723985" cy="951028"/>
          </a:xfrm>
          <a:prstGeom prst="rect">
            <a:avLst/>
          </a:prstGeom>
          <a:noFill/>
          <a:ln/>
        </p:spPr>
        <p:txBody>
          <a:bodyPr wrap="square" lIns="0" tIns="0" rIns="0" bIns="0" rtlCol="0" anchor="t"/>
          <a:lstStyle/>
          <a:p>
            <a:pPr>
              <a:lnSpc>
                <a:spcPct val="114000"/>
              </a:lnSpc>
              <a:spcAft>
                <a:spcPts val="750"/>
              </a:spcAft>
            </a:pPr>
            <a:r>
              <a:rPr lang="en-US" b="1" dirty="0" err="1">
                <a:solidFill>
                  <a:srgbClr val="3D3838"/>
                </a:solidFill>
                <a:latin typeface="Aptos Narrow" panose="020B0004020202020204" pitchFamily="34" charset="0"/>
                <a:ea typeface="Source Sans 3 Bold" pitchFamily="34" charset="-122"/>
                <a:cs typeface="Source Sans 3 Bold" pitchFamily="34" charset="-120"/>
              </a:rPr>
              <a:t>Leitfrage</a:t>
            </a:r>
            <a:r>
              <a:rPr lang="en-US" b="1" dirty="0">
                <a:solidFill>
                  <a:srgbClr val="3D3838"/>
                </a:solidFill>
                <a:latin typeface="Aptos Narrow" panose="020B0004020202020204" pitchFamily="34" charset="0"/>
                <a:ea typeface="Source Sans 3 Bold" pitchFamily="34" charset="-122"/>
                <a:cs typeface="Source Sans 3 Bold" pitchFamily="34" charset="-120"/>
              </a:rPr>
              <a:t> 1: </a:t>
            </a:r>
            <a:r>
              <a:rPr lang="en-US" b="1" dirty="0" err="1">
                <a:solidFill>
                  <a:srgbClr val="3D3838"/>
                </a:solidFill>
                <a:latin typeface="Aptos Narrow" panose="020B0004020202020204" pitchFamily="34" charset="0"/>
                <a:ea typeface="Source Sans 3 Bold" pitchFamily="34" charset="-122"/>
                <a:cs typeface="Source Sans 3 Bold" pitchFamily="34" charset="-120"/>
              </a:rPr>
              <a:t>Schwerpunkte</a:t>
            </a:r>
            <a:r>
              <a:rPr lang="en-US" b="1" dirty="0">
                <a:solidFill>
                  <a:srgbClr val="3D3838"/>
                </a:solidFill>
                <a:latin typeface="Aptos Narrow" panose="020B0004020202020204" pitchFamily="34" charset="0"/>
                <a:ea typeface="Source Sans 3 Bold" pitchFamily="34" charset="-122"/>
                <a:cs typeface="Source Sans 3 Bold" pitchFamily="34" charset="-120"/>
              </a:rPr>
              <a:t> der </a:t>
            </a:r>
            <a:r>
              <a:rPr lang="en-US" b="1" dirty="0" err="1">
                <a:solidFill>
                  <a:srgbClr val="3D3838"/>
                </a:solidFill>
                <a:latin typeface="Aptos Narrow" panose="020B0004020202020204" pitchFamily="34" charset="0"/>
                <a:ea typeface="Source Sans 3 Bold" pitchFamily="34" charset="-122"/>
                <a:cs typeface="Source Sans 3 Bold" pitchFamily="34" charset="-120"/>
              </a:rPr>
              <a:t>Gesamtsammlung</a:t>
            </a:r>
            <a:endParaRPr lang="en-US" b="1" dirty="0">
              <a:solidFill>
                <a:srgbClr val="3D3838"/>
              </a:solidFill>
              <a:latin typeface="Aptos Narrow" panose="020B0004020202020204" pitchFamily="34" charset="0"/>
              <a:ea typeface="Source Sans 3 Bold" pitchFamily="34" charset="-122"/>
              <a:cs typeface="Source Sans 3 Bold" pitchFamily="34" charset="-120"/>
            </a:endParaRPr>
          </a:p>
          <a:p>
            <a:pPr>
              <a:lnSpc>
                <a:spcPct val="114000"/>
              </a:lnSpc>
              <a:spcAft>
                <a:spcPts val="750"/>
              </a:spcAft>
            </a:pPr>
            <a:r>
              <a:rPr lang="en-US" sz="1600" dirty="0" err="1">
                <a:solidFill>
                  <a:srgbClr val="3D3838"/>
                </a:solidFill>
                <a:latin typeface="Aptos Narrow" panose="020B0004020202020204" pitchFamily="34" charset="0"/>
                <a:ea typeface="Source Sans 3" pitchFamily="34" charset="-122"/>
                <a:cs typeface="Source Sans 3" pitchFamily="34" charset="-120"/>
              </a:rPr>
              <a:t>Welche</a:t>
            </a:r>
            <a:r>
              <a:rPr lang="en-US" sz="1600" dirty="0">
                <a:solidFill>
                  <a:srgbClr val="3D3838"/>
                </a:solidFill>
                <a:latin typeface="Aptos Narrow" panose="020B0004020202020204" pitchFamily="34" charset="0"/>
                <a:ea typeface="Source Sans 3" pitchFamily="34" charset="-122"/>
                <a:cs typeface="Source Sans 3" pitchFamily="34" charset="-120"/>
              </a:rPr>
              <a:t> </a:t>
            </a:r>
            <a:r>
              <a:rPr lang="en-US" sz="1600" dirty="0" err="1">
                <a:solidFill>
                  <a:srgbClr val="3D3838"/>
                </a:solidFill>
                <a:latin typeface="Aptos Narrow" panose="020B0004020202020204" pitchFamily="34" charset="0"/>
                <a:ea typeface="Source Sans 3" pitchFamily="34" charset="-122"/>
                <a:cs typeface="Source Sans 3" pitchFamily="34" charset="-120"/>
              </a:rPr>
              <a:t>kulturellen</a:t>
            </a:r>
            <a:r>
              <a:rPr lang="en-US" sz="1600" dirty="0">
                <a:solidFill>
                  <a:srgbClr val="3D3838"/>
                </a:solidFill>
                <a:latin typeface="Aptos Narrow" panose="020B0004020202020204" pitchFamily="34" charset="0"/>
                <a:ea typeface="Source Sans 3" pitchFamily="34" charset="-122"/>
                <a:cs typeface="Source Sans 3" pitchFamily="34" charset="-120"/>
              </a:rPr>
              <a:t>, </a:t>
            </a:r>
            <a:r>
              <a:rPr lang="en-US" sz="1600" dirty="0" err="1">
                <a:solidFill>
                  <a:srgbClr val="3D3838"/>
                </a:solidFill>
                <a:latin typeface="Aptos Narrow" panose="020B0004020202020204" pitchFamily="34" charset="0"/>
                <a:ea typeface="Source Sans 3" pitchFamily="34" charset="-122"/>
                <a:cs typeface="Source Sans 3" pitchFamily="34" charset="-120"/>
              </a:rPr>
              <a:t>geografischen</a:t>
            </a:r>
            <a:r>
              <a:rPr lang="en-US" sz="1600" dirty="0">
                <a:solidFill>
                  <a:srgbClr val="3D3838"/>
                </a:solidFill>
                <a:latin typeface="Aptos Narrow" panose="020B0004020202020204" pitchFamily="34" charset="0"/>
                <a:ea typeface="Source Sans 3" pitchFamily="34" charset="-122"/>
                <a:cs typeface="Source Sans 3" pitchFamily="34" charset="-120"/>
              </a:rPr>
              <a:t> und </a:t>
            </a:r>
            <a:r>
              <a:rPr lang="en-US" sz="1600" dirty="0" err="1">
                <a:solidFill>
                  <a:srgbClr val="3D3838"/>
                </a:solidFill>
                <a:latin typeface="Aptos Narrow" panose="020B0004020202020204" pitchFamily="34" charset="0"/>
                <a:ea typeface="Source Sans 3" pitchFamily="34" charset="-122"/>
                <a:cs typeface="Source Sans 3" pitchFamily="34" charset="-120"/>
              </a:rPr>
              <a:t>zeitlichen</a:t>
            </a:r>
            <a:r>
              <a:rPr lang="en-US" sz="1600" dirty="0">
                <a:solidFill>
                  <a:srgbClr val="3D3838"/>
                </a:solidFill>
                <a:latin typeface="Aptos Narrow" panose="020B0004020202020204" pitchFamily="34" charset="0"/>
                <a:ea typeface="Source Sans 3" pitchFamily="34" charset="-122"/>
                <a:cs typeface="Source Sans 3" pitchFamily="34" charset="-120"/>
              </a:rPr>
              <a:t> </a:t>
            </a:r>
            <a:r>
              <a:rPr lang="en-US" sz="1600" dirty="0" err="1">
                <a:solidFill>
                  <a:srgbClr val="3D3838"/>
                </a:solidFill>
                <a:latin typeface="Aptos Narrow" panose="020B0004020202020204" pitchFamily="34" charset="0"/>
                <a:ea typeface="Source Sans 3" pitchFamily="34" charset="-122"/>
                <a:cs typeface="Source Sans 3" pitchFamily="34" charset="-120"/>
              </a:rPr>
              <a:t>Schwerpunkte</a:t>
            </a:r>
            <a:r>
              <a:rPr lang="en-US" sz="1600" dirty="0">
                <a:solidFill>
                  <a:srgbClr val="3D3838"/>
                </a:solidFill>
                <a:latin typeface="Aptos Narrow" panose="020B0004020202020204" pitchFamily="34" charset="0"/>
                <a:ea typeface="Source Sans 3" pitchFamily="34" charset="-122"/>
                <a:cs typeface="Source Sans 3" pitchFamily="34" charset="-120"/>
              </a:rPr>
              <a:t> </a:t>
            </a:r>
            <a:r>
              <a:rPr lang="en-US" sz="1600" dirty="0" err="1">
                <a:solidFill>
                  <a:srgbClr val="3D3838"/>
                </a:solidFill>
                <a:latin typeface="Aptos Narrow" panose="020B0004020202020204" pitchFamily="34" charset="0"/>
                <a:ea typeface="Source Sans 3" pitchFamily="34" charset="-122"/>
                <a:cs typeface="Source Sans 3" pitchFamily="34" charset="-120"/>
              </a:rPr>
              <a:t>zeigt</a:t>
            </a:r>
            <a:r>
              <a:rPr lang="en-US" sz="1600" dirty="0">
                <a:solidFill>
                  <a:srgbClr val="3D3838"/>
                </a:solidFill>
                <a:latin typeface="Aptos Narrow" panose="020B0004020202020204" pitchFamily="34" charset="0"/>
                <a:ea typeface="Source Sans 3" pitchFamily="34" charset="-122"/>
                <a:cs typeface="Source Sans 3" pitchFamily="34" charset="-120"/>
              </a:rPr>
              <a:t> die </a:t>
            </a:r>
            <a:r>
              <a:rPr lang="en-US" sz="1600" dirty="0" err="1">
                <a:solidFill>
                  <a:srgbClr val="3D3838"/>
                </a:solidFill>
                <a:latin typeface="Aptos Narrow" panose="020B0004020202020204" pitchFamily="34" charset="0"/>
                <a:ea typeface="Source Sans 3" pitchFamily="34" charset="-122"/>
                <a:cs typeface="Source Sans 3" pitchFamily="34" charset="-120"/>
              </a:rPr>
              <a:t>Sammlung</a:t>
            </a:r>
            <a:r>
              <a:rPr lang="en-US" sz="1600" dirty="0">
                <a:solidFill>
                  <a:srgbClr val="3D3838"/>
                </a:solidFill>
                <a:latin typeface="Aptos Narrow" panose="020B0004020202020204" pitchFamily="34" charset="0"/>
                <a:ea typeface="Source Sans 3" pitchFamily="34" charset="-122"/>
                <a:cs typeface="Source Sans 3" pitchFamily="34" charset="-120"/>
              </a:rPr>
              <a:t> des Met?</a:t>
            </a:r>
            <a:endParaRPr lang="en-US" sz="1600" dirty="0">
              <a:solidFill>
                <a:srgbClr val="3D3838"/>
              </a:solidFill>
              <a:latin typeface="Aptos Narrow" panose="020B0004020202020204" pitchFamily="34" charset="0"/>
            </a:endParaRPr>
          </a:p>
          <a:p>
            <a:pPr>
              <a:lnSpc>
                <a:spcPct val="114000"/>
              </a:lnSpc>
              <a:spcAft>
                <a:spcPts val="750"/>
              </a:spcAft>
            </a:pPr>
            <a:endParaRPr lang="en-US" dirty="0">
              <a:solidFill>
                <a:srgbClr val="3D3838"/>
              </a:solidFill>
              <a:latin typeface="Aptos Narrow" panose="020B0004020202020204" pitchFamily="34" charset="0"/>
            </a:endParaRPr>
          </a:p>
        </p:txBody>
      </p:sp>
      <p:pic>
        <p:nvPicPr>
          <p:cNvPr id="7"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291700" y="3646289"/>
            <a:ext cx="6180181" cy="977305"/>
          </a:xfrm>
          <a:prstGeom prst="rect">
            <a:avLst/>
          </a:prstGeom>
        </p:spPr>
      </p:pic>
      <p:sp>
        <p:nvSpPr>
          <p:cNvPr id="8" name="Text 3"/>
          <p:cNvSpPr/>
          <p:nvPr/>
        </p:nvSpPr>
        <p:spPr>
          <a:xfrm>
            <a:off x="5557896" y="3772447"/>
            <a:ext cx="5723985" cy="724988"/>
          </a:xfrm>
          <a:prstGeom prst="rect">
            <a:avLst/>
          </a:prstGeom>
          <a:noFill/>
          <a:ln/>
        </p:spPr>
        <p:txBody>
          <a:bodyPr wrap="square" lIns="0" tIns="0" rIns="0" bIns="0" rtlCol="0" anchor="t"/>
          <a:lstStyle/>
          <a:p>
            <a:pPr marL="0" indent="0" algn="l">
              <a:lnSpc>
                <a:spcPct val="114000"/>
              </a:lnSpc>
              <a:spcAft>
                <a:spcPts val="750"/>
              </a:spcAft>
              <a:buNone/>
            </a:pPr>
            <a:r>
              <a:rPr lang="en-US" b="1" dirty="0" err="1">
                <a:solidFill>
                  <a:srgbClr val="3D3838"/>
                </a:solidFill>
                <a:latin typeface="Aptos Narrow" panose="020B0004020202020204" pitchFamily="34" charset="0"/>
                <a:ea typeface="Source Sans 3 Bold" pitchFamily="34" charset="-122"/>
                <a:cs typeface="Source Sans 3 Bold" pitchFamily="34" charset="-120"/>
              </a:rPr>
              <a:t>Leitfrage</a:t>
            </a:r>
            <a:r>
              <a:rPr lang="en-US" b="1" dirty="0">
                <a:solidFill>
                  <a:srgbClr val="3D3838"/>
                </a:solidFill>
                <a:latin typeface="Aptos Narrow" panose="020B0004020202020204" pitchFamily="34" charset="0"/>
                <a:ea typeface="Source Sans 3 Bold" pitchFamily="34" charset="-122"/>
                <a:cs typeface="Source Sans 3 Bold" pitchFamily="34" charset="-120"/>
              </a:rPr>
              <a:t> 2: </a:t>
            </a:r>
            <a:r>
              <a:rPr lang="de-DE" b="1" dirty="0">
                <a:solidFill>
                  <a:srgbClr val="3D3838"/>
                </a:solidFill>
                <a:latin typeface="Aptos Narrow" panose="020B0004020202020204" pitchFamily="34" charset="0"/>
                <a:ea typeface="Source Sans 3 Bold" pitchFamily="34" charset="-122"/>
                <a:cs typeface="Source Sans 3 Bold" pitchFamily="34" charset="-120"/>
              </a:rPr>
              <a:t>Iran im Kontext der Sammlung</a:t>
            </a:r>
          </a:p>
          <a:p>
            <a:pPr marL="0" indent="0" algn="l">
              <a:lnSpc>
                <a:spcPct val="114000"/>
              </a:lnSpc>
              <a:spcAft>
                <a:spcPts val="750"/>
              </a:spcAft>
              <a:buNone/>
            </a:pPr>
            <a:r>
              <a:rPr lang="en-US" sz="1600" dirty="0" err="1">
                <a:solidFill>
                  <a:srgbClr val="3D3838"/>
                </a:solidFill>
                <a:latin typeface="Aptos Narrow" panose="020B0004020202020204" pitchFamily="34" charset="0"/>
                <a:ea typeface="Source Sans 3" pitchFamily="34" charset="-122"/>
                <a:cs typeface="Source Sans 3" pitchFamily="34" charset="-120"/>
              </a:rPr>
              <a:t>Welche</a:t>
            </a:r>
            <a:r>
              <a:rPr lang="en-US" sz="1600" dirty="0">
                <a:solidFill>
                  <a:srgbClr val="3D3838"/>
                </a:solidFill>
                <a:latin typeface="Aptos Narrow" panose="020B0004020202020204" pitchFamily="34" charset="0"/>
                <a:ea typeface="Source Sans 3" pitchFamily="34" charset="-122"/>
                <a:cs typeface="Source Sans 3" pitchFamily="34" charset="-120"/>
              </a:rPr>
              <a:t> Rolle spielen die </a:t>
            </a:r>
            <a:r>
              <a:rPr lang="en-US" sz="1600" dirty="0" err="1">
                <a:solidFill>
                  <a:srgbClr val="3D3838"/>
                </a:solidFill>
                <a:latin typeface="Aptos Narrow" panose="020B0004020202020204" pitchFamily="34" charset="0"/>
                <a:ea typeface="Source Sans 3" pitchFamily="34" charset="-122"/>
                <a:cs typeface="Source Sans 3" pitchFamily="34" charset="-120"/>
              </a:rPr>
              <a:t>iranisch-persischen</a:t>
            </a:r>
            <a:r>
              <a:rPr lang="en-US" sz="1600" dirty="0">
                <a:solidFill>
                  <a:srgbClr val="3D3838"/>
                </a:solidFill>
                <a:latin typeface="Aptos Narrow" panose="020B0004020202020204" pitchFamily="34" charset="0"/>
                <a:ea typeface="Source Sans 3" pitchFamily="34" charset="-122"/>
                <a:cs typeface="Source Sans 3" pitchFamily="34" charset="-120"/>
              </a:rPr>
              <a:t> Bestände </a:t>
            </a:r>
            <a:r>
              <a:rPr lang="en-US" sz="1600" dirty="0" err="1">
                <a:solidFill>
                  <a:srgbClr val="3D3838"/>
                </a:solidFill>
                <a:latin typeface="Aptos Narrow" panose="020B0004020202020204" pitchFamily="34" charset="0"/>
                <a:ea typeface="Source Sans 3" pitchFamily="34" charset="-122"/>
                <a:cs typeface="Source Sans 3" pitchFamily="34" charset="-120"/>
              </a:rPr>
              <a:t>im</a:t>
            </a:r>
            <a:r>
              <a:rPr lang="en-US" sz="1600" dirty="0">
                <a:solidFill>
                  <a:srgbClr val="3D3838"/>
                </a:solidFill>
                <a:latin typeface="Aptos Narrow" panose="020B0004020202020204" pitchFamily="34" charset="0"/>
                <a:ea typeface="Source Sans 3" pitchFamily="34" charset="-122"/>
                <a:cs typeface="Source Sans 3" pitchFamily="34" charset="-120"/>
              </a:rPr>
              <a:t> Met?</a:t>
            </a:r>
            <a:endParaRPr lang="en-US" sz="1600" dirty="0">
              <a:solidFill>
                <a:srgbClr val="3D3838"/>
              </a:solidFill>
            </a:endParaRPr>
          </a:p>
        </p:txBody>
      </p:sp>
      <p:pic>
        <p:nvPicPr>
          <p:cNvPr id="9" name="Image 3"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291700" y="4786015"/>
            <a:ext cx="6180181" cy="1227237"/>
          </a:xfrm>
          <a:prstGeom prst="rect">
            <a:avLst/>
          </a:prstGeom>
        </p:spPr>
      </p:pic>
      <p:sp>
        <p:nvSpPr>
          <p:cNvPr id="10" name="Text 4"/>
          <p:cNvSpPr/>
          <p:nvPr/>
        </p:nvSpPr>
        <p:spPr>
          <a:xfrm>
            <a:off x="5557897" y="4933772"/>
            <a:ext cx="5836244" cy="931722"/>
          </a:xfrm>
          <a:prstGeom prst="rect">
            <a:avLst/>
          </a:prstGeom>
          <a:noFill/>
          <a:ln/>
        </p:spPr>
        <p:txBody>
          <a:bodyPr wrap="square" lIns="0" tIns="0" rIns="0" bIns="0" rtlCol="0" anchor="t"/>
          <a:lstStyle/>
          <a:p>
            <a:pPr marL="0" indent="0" algn="l">
              <a:lnSpc>
                <a:spcPct val="114000"/>
              </a:lnSpc>
              <a:spcAft>
                <a:spcPts val="750"/>
              </a:spcAft>
              <a:buNone/>
            </a:pPr>
            <a:r>
              <a:rPr lang="en-US" b="1" dirty="0" err="1">
                <a:solidFill>
                  <a:srgbClr val="3D3838"/>
                </a:solidFill>
                <a:latin typeface="Aptos Narrow" panose="020B0004020202020204" pitchFamily="34" charset="0"/>
                <a:ea typeface="Source Sans 3 Bold" pitchFamily="34" charset="-122"/>
                <a:cs typeface="Source Sans 3 Bold" pitchFamily="34" charset="-120"/>
              </a:rPr>
              <a:t>Leitfrage</a:t>
            </a:r>
            <a:r>
              <a:rPr lang="en-US" b="1" dirty="0">
                <a:solidFill>
                  <a:srgbClr val="3D3838"/>
                </a:solidFill>
                <a:latin typeface="Aptos Narrow" panose="020B0004020202020204" pitchFamily="34" charset="0"/>
                <a:ea typeface="Source Sans 3 Bold" pitchFamily="34" charset="-122"/>
                <a:cs typeface="Source Sans 3 Bold" pitchFamily="34" charset="-120"/>
              </a:rPr>
              <a:t> 3: </a:t>
            </a:r>
            <a:r>
              <a:rPr lang="en-US" b="1" dirty="0" err="1">
                <a:solidFill>
                  <a:srgbClr val="3D3838"/>
                </a:solidFill>
                <a:latin typeface="Aptos Narrow" panose="020B0004020202020204" pitchFamily="34" charset="0"/>
                <a:ea typeface="Source Sans 3 Bold" pitchFamily="34" charset="-122"/>
                <a:cs typeface="Source Sans 3 Bold" pitchFamily="34" charset="-120"/>
              </a:rPr>
              <a:t>Schwerpunkte</a:t>
            </a:r>
            <a:r>
              <a:rPr lang="en-US" b="1" dirty="0">
                <a:solidFill>
                  <a:srgbClr val="3D3838"/>
                </a:solidFill>
                <a:latin typeface="Aptos Narrow" panose="020B0004020202020204" pitchFamily="34" charset="0"/>
                <a:ea typeface="Source Sans 3 Bold" pitchFamily="34" charset="-122"/>
                <a:cs typeface="Source Sans 3 Bold" pitchFamily="34" charset="-120"/>
              </a:rPr>
              <a:t> der </a:t>
            </a:r>
            <a:r>
              <a:rPr lang="en-US" b="1" dirty="0" err="1">
                <a:solidFill>
                  <a:srgbClr val="3D3838"/>
                </a:solidFill>
                <a:latin typeface="Aptos Narrow" panose="020B0004020202020204" pitchFamily="34" charset="0"/>
                <a:ea typeface="Source Sans 3 Bold" pitchFamily="34" charset="-122"/>
                <a:cs typeface="Source Sans 3 Bold" pitchFamily="34" charset="-120"/>
              </a:rPr>
              <a:t>iranischen</a:t>
            </a:r>
            <a:r>
              <a:rPr lang="en-US" b="1" dirty="0">
                <a:solidFill>
                  <a:srgbClr val="3D3838"/>
                </a:solidFill>
                <a:latin typeface="Aptos Narrow" panose="020B0004020202020204" pitchFamily="34" charset="0"/>
                <a:ea typeface="Source Sans 3 Bold" pitchFamily="34" charset="-122"/>
                <a:cs typeface="Source Sans 3 Bold" pitchFamily="34" charset="-120"/>
              </a:rPr>
              <a:t> </a:t>
            </a:r>
            <a:r>
              <a:rPr lang="en-US" b="1" dirty="0" err="1">
                <a:solidFill>
                  <a:srgbClr val="3D3838"/>
                </a:solidFill>
                <a:latin typeface="Aptos Narrow" panose="020B0004020202020204" pitchFamily="34" charset="0"/>
                <a:ea typeface="Source Sans 3 Bold" pitchFamily="34" charset="-122"/>
                <a:cs typeface="Source Sans 3 Bold" pitchFamily="34" charset="-120"/>
              </a:rPr>
              <a:t>Bestände</a:t>
            </a:r>
            <a:endParaRPr lang="en-US" dirty="0">
              <a:solidFill>
                <a:srgbClr val="3D3838"/>
              </a:solidFill>
              <a:latin typeface="Aptos Narrow" panose="020B0004020202020204" pitchFamily="34" charset="0"/>
            </a:endParaRPr>
          </a:p>
          <a:p>
            <a:pPr marL="0" indent="0" algn="l">
              <a:lnSpc>
                <a:spcPct val="114000"/>
              </a:lnSpc>
              <a:buNone/>
            </a:pPr>
            <a:r>
              <a:rPr lang="en-US" sz="1600" dirty="0">
                <a:solidFill>
                  <a:srgbClr val="3D3838"/>
                </a:solidFill>
                <a:latin typeface="Aptos Narrow" panose="020B0004020202020204" pitchFamily="34" charset="0"/>
                <a:ea typeface="Source Sans 3" pitchFamily="34" charset="-122"/>
                <a:cs typeface="Source Sans 3" pitchFamily="34" charset="-120"/>
              </a:rPr>
              <a:t>Welche zeitlichen, materiellen und institutionellen Schwerpunkte haben die </a:t>
            </a:r>
            <a:r>
              <a:rPr lang="en-US" sz="1600" dirty="0" err="1">
                <a:solidFill>
                  <a:srgbClr val="3D3838"/>
                </a:solidFill>
                <a:latin typeface="Aptos Narrow" panose="020B0004020202020204" pitchFamily="34" charset="0"/>
                <a:ea typeface="Source Sans 3" pitchFamily="34" charset="-122"/>
                <a:cs typeface="Source Sans 3" pitchFamily="34" charset="-120"/>
              </a:rPr>
              <a:t>iranisch-persischen</a:t>
            </a:r>
            <a:r>
              <a:rPr lang="en-US" sz="1600" dirty="0">
                <a:solidFill>
                  <a:srgbClr val="3D3838"/>
                </a:solidFill>
                <a:latin typeface="Aptos Narrow" panose="020B0004020202020204" pitchFamily="34" charset="0"/>
                <a:ea typeface="Source Sans 3" pitchFamily="34" charset="-122"/>
                <a:cs typeface="Source Sans 3" pitchFamily="34" charset="-120"/>
              </a:rPr>
              <a:t> Bestände?</a:t>
            </a:r>
            <a:endParaRPr lang="en-US" sz="1600" dirty="0">
              <a:solidFill>
                <a:srgbClr val="3D3838"/>
              </a:solidFill>
            </a:endParaRPr>
          </a:p>
        </p:txBody>
      </p:sp>
      <p:sp>
        <p:nvSpPr>
          <p:cNvPr id="12" name="Textfeld 11">
            <a:extLst>
              <a:ext uri="{FF2B5EF4-FFF2-40B4-BE49-F238E27FC236}">
                <a16:creationId xmlns:a16="http://schemas.microsoft.com/office/drawing/2014/main" id="{FD991071-8173-49EB-5CB9-58EEB30F9899}"/>
              </a:ext>
            </a:extLst>
          </p:cNvPr>
          <p:cNvSpPr txBox="1"/>
          <p:nvPr/>
        </p:nvSpPr>
        <p:spPr>
          <a:xfrm>
            <a:off x="11764652" y="6454588"/>
            <a:ext cx="490101" cy="338554"/>
          </a:xfrm>
          <a:prstGeom prst="rect">
            <a:avLst/>
          </a:prstGeom>
          <a:noFill/>
        </p:spPr>
        <p:txBody>
          <a:bodyPr wrap="square" rtlCol="0">
            <a:spAutoFit/>
          </a:bodyPr>
          <a:lstStyle/>
          <a:p>
            <a:r>
              <a:rPr lang="de-DE" sz="1600" dirty="0">
                <a:solidFill>
                  <a:srgbClr val="3D3838"/>
                </a:solidFill>
                <a:latin typeface="Aptos Narrow" panose="020B0004020202020204" pitchFamily="34" charset="0"/>
              </a:rPr>
              <a:t>2</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19814" y="596702"/>
            <a:ext cx="5715948" cy="511274"/>
          </a:xfrm>
          <a:prstGeom prst="rect">
            <a:avLst/>
          </a:prstGeom>
          <a:noFill/>
          <a:ln/>
        </p:spPr>
        <p:txBody>
          <a:bodyPr wrap="none" lIns="0" tIns="0" rIns="0" bIns="0" rtlCol="0" anchor="t"/>
          <a:lstStyle/>
          <a:p>
            <a:pPr marL="0" indent="0" algn="l">
              <a:lnSpc>
                <a:spcPct val="104000"/>
              </a:lnSpc>
              <a:buNone/>
            </a:pPr>
            <a:r>
              <a:rPr lang="en-US" sz="3200" b="1" kern="0" spc="-32" dirty="0" err="1">
                <a:solidFill>
                  <a:srgbClr val="3D3838"/>
                </a:solidFill>
                <a:latin typeface="Aptos Narrow" panose="020B0004020202020204" pitchFamily="34" charset="0"/>
                <a:ea typeface="Montserrat Bold" pitchFamily="34" charset="-122"/>
                <a:cs typeface="Montserrat Bold" pitchFamily="34" charset="-120"/>
              </a:rPr>
              <a:t>Datenbasis</a:t>
            </a:r>
            <a:r>
              <a:rPr lang="en-US" sz="3200" b="1" kern="0" spc="-32" dirty="0">
                <a:solidFill>
                  <a:srgbClr val="3D3838"/>
                </a:solidFill>
                <a:latin typeface="Aptos Narrow" panose="020B0004020202020204" pitchFamily="34" charset="0"/>
                <a:ea typeface="Montserrat Bold" pitchFamily="34" charset="-122"/>
                <a:cs typeface="Montserrat Bold" pitchFamily="34" charset="-120"/>
              </a:rPr>
              <a:t> &amp; </a:t>
            </a:r>
            <a:r>
              <a:rPr lang="en-US" sz="3200" b="1" kern="0" spc="-32" dirty="0" err="1">
                <a:solidFill>
                  <a:srgbClr val="3D3838"/>
                </a:solidFill>
                <a:latin typeface="Aptos Narrow" panose="020B0004020202020204" pitchFamily="34" charset="0"/>
                <a:ea typeface="Montserrat Bold" pitchFamily="34" charset="-122"/>
                <a:cs typeface="Montserrat Bold" pitchFamily="34" charset="-120"/>
              </a:rPr>
              <a:t>Analyseprozess</a:t>
            </a:r>
            <a:endParaRPr lang="en-US" sz="3200" dirty="0">
              <a:solidFill>
                <a:srgbClr val="3D3838"/>
              </a:solidFill>
              <a:latin typeface="Aptos Narrow" panose="020B0004020202020204" pitchFamily="34" charset="0"/>
            </a:endParaRPr>
          </a:p>
        </p:txBody>
      </p:sp>
      <p:sp>
        <p:nvSpPr>
          <p:cNvPr id="3" name="Text 1"/>
          <p:cNvSpPr/>
          <p:nvPr/>
        </p:nvSpPr>
        <p:spPr>
          <a:xfrm>
            <a:off x="719814" y="1332022"/>
            <a:ext cx="5715948" cy="5167389"/>
          </a:xfrm>
          <a:prstGeom prst="rect">
            <a:avLst/>
          </a:prstGeom>
          <a:noFill/>
          <a:ln/>
        </p:spPr>
        <p:txBody>
          <a:bodyPr wrap="square" lIns="0" tIns="0" rIns="0" bIns="0" rtlCol="0" anchor="t">
            <a:normAutofit/>
          </a:bodyPr>
          <a:lstStyle/>
          <a:p>
            <a:pPr marL="284480" indent="-284480">
              <a:buSzPct val="100000"/>
              <a:buChar char="•"/>
            </a:pPr>
            <a:endParaRPr lang="en-US" dirty="0">
              <a:solidFill>
                <a:srgbClr val="3D3838"/>
              </a:solidFill>
              <a:latin typeface="Aptos Narrow" panose="020B0004020202020204" pitchFamily="34" charset="0"/>
            </a:endParaRPr>
          </a:p>
        </p:txBody>
      </p:sp>
      <p:sp>
        <p:nvSpPr>
          <p:cNvPr id="6" name="Text 3"/>
          <p:cNvSpPr/>
          <p:nvPr/>
        </p:nvSpPr>
        <p:spPr>
          <a:xfrm>
            <a:off x="1304495" y="3477022"/>
            <a:ext cx="4951388" cy="539948"/>
          </a:xfrm>
          <a:prstGeom prst="rect">
            <a:avLst/>
          </a:prstGeom>
          <a:noFill/>
          <a:ln/>
        </p:spPr>
        <p:txBody>
          <a:bodyPr wrap="square" lIns="0" tIns="0" rIns="0" bIns="0" rtlCol="0" anchor="t">
            <a:normAutofit/>
          </a:bodyPr>
          <a:lstStyle/>
          <a:p>
            <a:pPr marL="0" indent="0" algn="l">
              <a:lnSpc>
                <a:spcPct val="125000"/>
              </a:lnSpc>
              <a:buNone/>
            </a:pPr>
            <a:endParaRPr lang="en-US" sz="1400" dirty="0">
              <a:solidFill>
                <a:srgbClr val="3D3838"/>
              </a:solidFill>
              <a:latin typeface="Aptos Narrow" panose="020B0004020202020204" pitchFamily="34" charset="0"/>
            </a:endParaRPr>
          </a:p>
        </p:txBody>
      </p:sp>
      <p:pic>
        <p:nvPicPr>
          <p:cNvPr id="7" name="Image 1" descr="preencoded.png"/>
          <p:cNvPicPr>
            <a:picLocks noChangeAspect="1"/>
          </p:cNvPicPr>
          <p:nvPr/>
        </p:nvPicPr>
        <p:blipFill>
          <a:blip r:embed="rId3"/>
          <a:stretch>
            <a:fillRect/>
          </a:stretch>
        </p:blipFill>
        <p:spPr>
          <a:xfrm>
            <a:off x="7114326" y="1107976"/>
            <a:ext cx="4596888" cy="4597003"/>
          </a:xfrm>
          <a:prstGeom prst="rect">
            <a:avLst/>
          </a:prstGeom>
        </p:spPr>
      </p:pic>
      <p:sp>
        <p:nvSpPr>
          <p:cNvPr id="9" name="Text 2">
            <a:extLst>
              <a:ext uri="{FF2B5EF4-FFF2-40B4-BE49-F238E27FC236}">
                <a16:creationId xmlns:a16="http://schemas.microsoft.com/office/drawing/2014/main" id="{E9974E6B-F86F-371D-FBD1-079C271CE0DE}"/>
              </a:ext>
            </a:extLst>
          </p:cNvPr>
          <p:cNvSpPr/>
          <p:nvPr/>
        </p:nvSpPr>
        <p:spPr>
          <a:xfrm>
            <a:off x="719814" y="1478614"/>
            <a:ext cx="6180181" cy="292199"/>
          </a:xfrm>
          <a:prstGeom prst="rect">
            <a:avLst/>
          </a:prstGeom>
          <a:noFill/>
          <a:ln/>
        </p:spPr>
        <p:txBody>
          <a:bodyPr wrap="none" lIns="0" tIns="0" rIns="0" bIns="0" rtlCol="0" anchor="t"/>
          <a:lstStyle/>
          <a:p>
            <a:pPr marL="0" indent="0" algn="l">
              <a:lnSpc>
                <a:spcPct val="104000"/>
              </a:lnSpc>
              <a:buNone/>
            </a:pPr>
            <a:r>
              <a:rPr lang="en-US" sz="1800" b="1" dirty="0">
                <a:solidFill>
                  <a:srgbClr val="3D3838"/>
                </a:solidFill>
                <a:latin typeface="Aptos Narrow" panose="020B0004020202020204" pitchFamily="34" charset="0"/>
                <a:ea typeface="Montserrat Bold" pitchFamily="34" charset="-122"/>
                <a:cs typeface="Montserrat Bold" pitchFamily="34" charset="-120"/>
              </a:rPr>
              <a:t>Datenbasis</a:t>
            </a:r>
            <a:endParaRPr lang="en-US" sz="1800" dirty="0">
              <a:solidFill>
                <a:srgbClr val="3D3838"/>
              </a:solidFill>
              <a:latin typeface="Aptos Narrow" panose="020B0004020202020204" pitchFamily="34" charset="0"/>
            </a:endParaRPr>
          </a:p>
        </p:txBody>
      </p:sp>
      <p:sp>
        <p:nvSpPr>
          <p:cNvPr id="11" name="Text 3">
            <a:extLst>
              <a:ext uri="{FF2B5EF4-FFF2-40B4-BE49-F238E27FC236}">
                <a16:creationId xmlns:a16="http://schemas.microsoft.com/office/drawing/2014/main" id="{965649CC-F353-CB50-5C92-0FAAB83CF686}"/>
              </a:ext>
            </a:extLst>
          </p:cNvPr>
          <p:cNvSpPr/>
          <p:nvPr/>
        </p:nvSpPr>
        <p:spPr>
          <a:xfrm>
            <a:off x="719814" y="1844678"/>
            <a:ext cx="5715948" cy="1865626"/>
          </a:xfrm>
          <a:prstGeom prst="rect">
            <a:avLst/>
          </a:prstGeom>
          <a:noFill/>
          <a:ln/>
        </p:spPr>
        <p:txBody>
          <a:bodyPr wrap="square" lIns="0" tIns="0" rIns="0" bIns="0" rtlCol="0" anchor="t">
            <a:normAutofit/>
          </a:bodyPr>
          <a:lstStyle/>
          <a:p>
            <a:pPr marL="284480" indent="-284480">
              <a:lnSpc>
                <a:spcPct val="114000"/>
              </a:lnSpc>
              <a:buSzPct val="100000"/>
              <a:buChar char="•"/>
            </a:pPr>
            <a:r>
              <a:rPr lang="en-US" dirty="0" err="1">
                <a:solidFill>
                  <a:srgbClr val="3D3838"/>
                </a:solidFill>
                <a:latin typeface="Aptos Narrow" panose="020B0004020202020204" pitchFamily="34" charset="0"/>
                <a:ea typeface="Source Sans 3" pitchFamily="34" charset="-122"/>
                <a:cs typeface="Source Sans 3" pitchFamily="34" charset="-120"/>
              </a:rPr>
              <a:t>Zentrale</a:t>
            </a:r>
            <a:r>
              <a:rPr lang="en-US" dirty="0">
                <a:solidFill>
                  <a:srgbClr val="3D3838"/>
                </a:solidFill>
                <a:latin typeface="Aptos Narrow" panose="020B0004020202020204" pitchFamily="34" charset="0"/>
                <a:ea typeface="Source Sans 3" pitchFamily="34" charset="-122"/>
                <a:cs typeface="Source Sans 3" pitchFamily="34" charset="-120"/>
              </a:rPr>
              <a:t> </a:t>
            </a:r>
            <a:r>
              <a:rPr lang="en-US" dirty="0" err="1">
                <a:solidFill>
                  <a:srgbClr val="3D3838"/>
                </a:solidFill>
                <a:latin typeface="Aptos Narrow" panose="020B0004020202020204" pitchFamily="34" charset="0"/>
                <a:ea typeface="Source Sans 3" pitchFamily="34" charset="-122"/>
                <a:cs typeface="Source Sans 3" pitchFamily="34" charset="-120"/>
              </a:rPr>
              <a:t>Quelldatei</a:t>
            </a:r>
            <a:r>
              <a:rPr lang="en-US" dirty="0">
                <a:solidFill>
                  <a:srgbClr val="3D3838"/>
                </a:solidFill>
                <a:latin typeface="Aptos Narrow" panose="020B0004020202020204" pitchFamily="34" charset="0"/>
                <a:ea typeface="Source Sans 3" pitchFamily="34" charset="-122"/>
                <a:cs typeface="Source Sans 3" pitchFamily="34" charset="-120"/>
              </a:rPr>
              <a:t>: </a:t>
            </a:r>
            <a:r>
              <a:rPr lang="en-US" b="1" dirty="0">
                <a:solidFill>
                  <a:srgbClr val="3D3838"/>
                </a:solidFill>
                <a:latin typeface="Aptos Narrow" panose="020B0004020202020204" pitchFamily="34" charset="0"/>
                <a:ea typeface="Source Sans 3 Bold" pitchFamily="34" charset="-122"/>
                <a:cs typeface="Source Sans 3 Bold" pitchFamily="34" charset="-120"/>
              </a:rPr>
              <a:t>MetObjects.csv *</a:t>
            </a:r>
            <a:endParaRPr lang="en-US" dirty="0">
              <a:solidFill>
                <a:srgbClr val="3D3838"/>
              </a:solidFill>
              <a:latin typeface="Aptos Narrow" panose="020B0004020202020204" pitchFamily="34" charset="0"/>
              <a:ea typeface="Source Sans 3" pitchFamily="34" charset="-122"/>
              <a:cs typeface="Source Sans 3" pitchFamily="34" charset="-120"/>
            </a:endParaRPr>
          </a:p>
          <a:p>
            <a:pPr marL="284480" indent="-284480">
              <a:lnSpc>
                <a:spcPct val="114000"/>
              </a:lnSpc>
              <a:buSzPct val="100000"/>
              <a:buChar char="•"/>
            </a:pPr>
            <a:r>
              <a:rPr lang="en-US" dirty="0" err="1">
                <a:solidFill>
                  <a:srgbClr val="3D3838"/>
                </a:solidFill>
                <a:latin typeface="Aptos Narrow" panose="020B0004020202020204" pitchFamily="34" charset="0"/>
                <a:ea typeface="Source Sans 3" pitchFamily="34" charset="-122"/>
                <a:cs typeface="Source Sans 3" pitchFamily="34" charset="-120"/>
              </a:rPr>
              <a:t>Primärdatensatz</a:t>
            </a:r>
            <a:r>
              <a:rPr lang="en-US" dirty="0">
                <a:solidFill>
                  <a:srgbClr val="3D3838"/>
                </a:solidFill>
                <a:latin typeface="Aptos Narrow" panose="020B0004020202020204" pitchFamily="34" charset="0"/>
                <a:ea typeface="Source Sans 3" pitchFamily="34" charset="-122"/>
                <a:cs typeface="Source Sans 3" pitchFamily="34" charset="-120"/>
              </a:rPr>
              <a:t> </a:t>
            </a:r>
            <a:r>
              <a:rPr lang="en-US" dirty="0" err="1">
                <a:solidFill>
                  <a:srgbClr val="3D3838"/>
                </a:solidFill>
                <a:latin typeface="Aptos Narrow" panose="020B0004020202020204" pitchFamily="34" charset="0"/>
                <a:ea typeface="Source Sans 3" pitchFamily="34" charset="-122"/>
                <a:cs typeface="Source Sans 3" pitchFamily="34" charset="-120"/>
              </a:rPr>
              <a:t>direkt</a:t>
            </a:r>
            <a:r>
              <a:rPr lang="en-US" dirty="0">
                <a:solidFill>
                  <a:srgbClr val="3D3838"/>
                </a:solidFill>
                <a:latin typeface="Aptos Narrow" panose="020B0004020202020204" pitchFamily="34" charset="0"/>
                <a:ea typeface="Source Sans 3" pitchFamily="34" charset="-122"/>
                <a:cs typeface="Source Sans 3" pitchFamily="34" charset="-120"/>
              </a:rPr>
              <a:t> </a:t>
            </a:r>
            <a:r>
              <a:rPr lang="en-US" dirty="0" err="1">
                <a:solidFill>
                  <a:srgbClr val="3D3838"/>
                </a:solidFill>
                <a:latin typeface="Aptos Narrow" panose="020B0004020202020204" pitchFamily="34" charset="0"/>
                <a:ea typeface="Source Sans 3" pitchFamily="34" charset="-122"/>
                <a:cs typeface="Source Sans 3" pitchFamily="34" charset="-120"/>
              </a:rPr>
              <a:t>vom</a:t>
            </a:r>
            <a:r>
              <a:rPr lang="en-US" dirty="0">
                <a:solidFill>
                  <a:srgbClr val="3D3838"/>
                </a:solidFill>
                <a:latin typeface="Aptos Narrow" panose="020B0004020202020204" pitchFamily="34" charset="0"/>
                <a:ea typeface="Source Sans 3" pitchFamily="34" charset="-122"/>
                <a:cs typeface="Source Sans 3" pitchFamily="34" charset="-120"/>
              </a:rPr>
              <a:t> Museum </a:t>
            </a:r>
            <a:r>
              <a:rPr lang="en-US" dirty="0" err="1">
                <a:solidFill>
                  <a:srgbClr val="3D3838"/>
                </a:solidFill>
                <a:latin typeface="Aptos Narrow" panose="020B0004020202020204" pitchFamily="34" charset="0"/>
                <a:ea typeface="Source Sans 3" pitchFamily="34" charset="-122"/>
                <a:cs typeface="Source Sans 3" pitchFamily="34" charset="-120"/>
              </a:rPr>
              <a:t>bereitgestellt</a:t>
            </a:r>
            <a:endParaRPr lang="en-US" dirty="0">
              <a:solidFill>
                <a:srgbClr val="3D3838"/>
              </a:solidFill>
              <a:latin typeface="Aptos Narrow" panose="020B0004020202020204" pitchFamily="34" charset="0"/>
            </a:endParaRPr>
          </a:p>
          <a:p>
            <a:pPr marL="284480" indent="-284480">
              <a:lnSpc>
                <a:spcPct val="114000"/>
              </a:lnSpc>
              <a:buSzPct val="100000"/>
              <a:buChar char="•"/>
            </a:pPr>
            <a:r>
              <a:rPr lang="en-US" b="1" dirty="0">
                <a:solidFill>
                  <a:srgbClr val="3D3838"/>
                </a:solidFill>
                <a:latin typeface="Aptos Narrow" panose="020B0004020202020204" pitchFamily="34" charset="0"/>
                <a:ea typeface="Source Sans 3 Bold" pitchFamily="34" charset="-122"/>
                <a:cs typeface="Source Sans 3 Bold" pitchFamily="34" charset="-120"/>
              </a:rPr>
              <a:t>448.203 </a:t>
            </a:r>
            <a:r>
              <a:rPr lang="en-US" b="1" dirty="0" err="1">
                <a:solidFill>
                  <a:srgbClr val="3D3838"/>
                </a:solidFill>
                <a:latin typeface="Aptos Narrow" panose="020B0004020202020204" pitchFamily="34" charset="0"/>
                <a:ea typeface="Source Sans 3 Bold" pitchFamily="34" charset="-122"/>
                <a:cs typeface="Source Sans 3 Bold" pitchFamily="34" charset="-120"/>
              </a:rPr>
              <a:t>Zeilen</a:t>
            </a:r>
            <a:r>
              <a:rPr lang="en-US" dirty="0">
                <a:solidFill>
                  <a:srgbClr val="3D3838"/>
                </a:solidFill>
                <a:latin typeface="Aptos Narrow" panose="020B0004020202020204" pitchFamily="34" charset="0"/>
                <a:ea typeface="Source Sans 3" pitchFamily="34" charset="-122"/>
                <a:cs typeface="Source Sans 3" pitchFamily="34" charset="-120"/>
              </a:rPr>
              <a:t> </a:t>
            </a:r>
            <a:r>
              <a:rPr lang="en-US" dirty="0" err="1">
                <a:solidFill>
                  <a:srgbClr val="3D3838"/>
                </a:solidFill>
                <a:latin typeface="Aptos Narrow" panose="020B0004020202020204" pitchFamily="34" charset="0"/>
                <a:ea typeface="Source Sans 3" pitchFamily="34" charset="-122"/>
                <a:cs typeface="Source Sans 3" pitchFamily="34" charset="-120"/>
              </a:rPr>
              <a:t>bzw</a:t>
            </a:r>
            <a:r>
              <a:rPr lang="en-US" dirty="0">
                <a:solidFill>
                  <a:srgbClr val="3D3838"/>
                </a:solidFill>
                <a:latin typeface="Aptos Narrow" panose="020B0004020202020204" pitchFamily="34" charset="0"/>
                <a:ea typeface="Source Sans 3" pitchFamily="34" charset="-122"/>
                <a:cs typeface="Source Sans 3" pitchFamily="34" charset="-120"/>
              </a:rPr>
              <a:t>. </a:t>
            </a:r>
            <a:r>
              <a:rPr lang="en-US" dirty="0" err="1">
                <a:solidFill>
                  <a:srgbClr val="3D3838"/>
                </a:solidFill>
                <a:latin typeface="Aptos Narrow" panose="020B0004020202020204" pitchFamily="34" charset="0"/>
                <a:ea typeface="Source Sans 3" pitchFamily="34" charset="-122"/>
                <a:cs typeface="Source Sans 3" pitchFamily="34" charset="-120"/>
              </a:rPr>
              <a:t>Objekte</a:t>
            </a:r>
            <a:endParaRPr lang="en-US" dirty="0">
              <a:solidFill>
                <a:srgbClr val="3D3838"/>
              </a:solidFill>
              <a:latin typeface="Aptos Narrow" panose="020B0004020202020204" pitchFamily="34" charset="0"/>
            </a:endParaRPr>
          </a:p>
          <a:p>
            <a:pPr marL="284480" indent="-284480">
              <a:lnSpc>
                <a:spcPct val="114000"/>
              </a:lnSpc>
              <a:buSzPct val="100000"/>
              <a:buChar char="•"/>
            </a:pPr>
            <a:r>
              <a:rPr lang="en-US" b="1" dirty="0">
                <a:solidFill>
                  <a:srgbClr val="3D3838"/>
                </a:solidFill>
                <a:latin typeface="Aptos Narrow" panose="020B0004020202020204" pitchFamily="34" charset="0"/>
                <a:ea typeface="Source Sans 3 Bold" pitchFamily="34" charset="-122"/>
                <a:cs typeface="Source Sans 3 Bold" pitchFamily="34" charset="-120"/>
              </a:rPr>
              <a:t>43 Attribute, </a:t>
            </a:r>
            <a:r>
              <a:rPr lang="de-DE" dirty="0">
                <a:solidFill>
                  <a:srgbClr val="3D3838"/>
                </a:solidFill>
                <a:latin typeface="Aptos Narrow" panose="020B0004020202020204" pitchFamily="34" charset="0"/>
              </a:rPr>
              <a:t>Beispiel: Culture, Country, Department usw.</a:t>
            </a:r>
          </a:p>
          <a:p>
            <a:pPr marL="284480" indent="-284480">
              <a:lnSpc>
                <a:spcPct val="114000"/>
              </a:lnSpc>
              <a:buSzPct val="100000"/>
              <a:buChar char="•"/>
            </a:pPr>
            <a:r>
              <a:rPr lang="de-DE" dirty="0" err="1">
                <a:solidFill>
                  <a:srgbClr val="3D3838"/>
                </a:solidFill>
                <a:latin typeface="Aptos Narrow" panose="020B0004020202020204" pitchFamily="34" charset="0"/>
              </a:rPr>
              <a:t>Metadata</a:t>
            </a:r>
            <a:r>
              <a:rPr lang="de-DE" dirty="0">
                <a:solidFill>
                  <a:srgbClr val="3D3838"/>
                </a:solidFill>
                <a:latin typeface="Aptos Narrow" panose="020B0004020202020204" pitchFamily="34" charset="0"/>
              </a:rPr>
              <a:t> Date bei allen Objekten identisch: 2017-04-03</a:t>
            </a:r>
          </a:p>
          <a:p>
            <a:pPr>
              <a:lnSpc>
                <a:spcPct val="114000"/>
              </a:lnSpc>
              <a:buSzPct val="100000"/>
            </a:pPr>
            <a:endParaRPr lang="de-DE" dirty="0">
              <a:solidFill>
                <a:srgbClr val="3D3838"/>
              </a:solidFill>
              <a:latin typeface="Aptos Narrow" panose="020B0004020202020204" pitchFamily="34" charset="0"/>
            </a:endParaRPr>
          </a:p>
          <a:p>
            <a:pPr>
              <a:lnSpc>
                <a:spcPct val="114000"/>
              </a:lnSpc>
              <a:buSzPct val="100000"/>
            </a:pPr>
            <a:endParaRPr lang="de-DE" sz="1100" b="1" dirty="0">
              <a:solidFill>
                <a:srgbClr val="3D3838"/>
              </a:solidFill>
              <a:latin typeface="Aptos Narrow" panose="020B0004020202020204" pitchFamily="34" charset="0"/>
            </a:endParaRPr>
          </a:p>
          <a:p>
            <a:pPr marL="284480" indent="-284480">
              <a:lnSpc>
                <a:spcPct val="114000"/>
              </a:lnSpc>
              <a:buSzPct val="100000"/>
              <a:buChar char="•"/>
            </a:pPr>
            <a:endParaRPr lang="en-US" dirty="0">
              <a:solidFill>
                <a:srgbClr val="3D3838"/>
              </a:solidFill>
              <a:latin typeface="Aptos Narrow" panose="020B0004020202020204" pitchFamily="34" charset="0"/>
            </a:endParaRPr>
          </a:p>
        </p:txBody>
      </p:sp>
      <p:sp>
        <p:nvSpPr>
          <p:cNvPr id="13" name="Text 4">
            <a:extLst>
              <a:ext uri="{FF2B5EF4-FFF2-40B4-BE49-F238E27FC236}">
                <a16:creationId xmlns:a16="http://schemas.microsoft.com/office/drawing/2014/main" id="{A762E187-49C2-0B46-2027-49BB48C93323}"/>
              </a:ext>
            </a:extLst>
          </p:cNvPr>
          <p:cNvSpPr/>
          <p:nvPr/>
        </p:nvSpPr>
        <p:spPr>
          <a:xfrm>
            <a:off x="719815" y="3744484"/>
            <a:ext cx="6180181" cy="292199"/>
          </a:xfrm>
          <a:prstGeom prst="rect">
            <a:avLst/>
          </a:prstGeom>
          <a:noFill/>
          <a:ln/>
        </p:spPr>
        <p:txBody>
          <a:bodyPr wrap="none" lIns="0" tIns="0" rIns="0" bIns="0" rtlCol="0" anchor="t"/>
          <a:lstStyle/>
          <a:p>
            <a:pPr marL="0" indent="0" algn="l">
              <a:lnSpc>
                <a:spcPct val="104000"/>
              </a:lnSpc>
              <a:buNone/>
            </a:pPr>
            <a:r>
              <a:rPr lang="en-US" sz="1800" b="1" dirty="0">
                <a:solidFill>
                  <a:srgbClr val="3D3838"/>
                </a:solidFill>
                <a:latin typeface="Aptos Narrow" panose="020B0004020202020204" pitchFamily="34" charset="0"/>
                <a:ea typeface="Montserrat Bold" pitchFamily="34" charset="-122"/>
                <a:cs typeface="Montserrat Bold" pitchFamily="34" charset="-120"/>
              </a:rPr>
              <a:t>Iterativer Analyseprozess</a:t>
            </a:r>
            <a:endParaRPr lang="en-US" sz="1800" dirty="0">
              <a:solidFill>
                <a:srgbClr val="3D3838"/>
              </a:solidFill>
              <a:latin typeface="Aptos Narrow" panose="020B0004020202020204" pitchFamily="34" charset="0"/>
            </a:endParaRPr>
          </a:p>
        </p:txBody>
      </p:sp>
      <p:sp>
        <p:nvSpPr>
          <p:cNvPr id="15" name="Text 5">
            <a:extLst>
              <a:ext uri="{FF2B5EF4-FFF2-40B4-BE49-F238E27FC236}">
                <a16:creationId xmlns:a16="http://schemas.microsoft.com/office/drawing/2014/main" id="{1BA4153A-B701-9E5F-8FD7-E40C225A5D0C}"/>
              </a:ext>
            </a:extLst>
          </p:cNvPr>
          <p:cNvSpPr/>
          <p:nvPr/>
        </p:nvSpPr>
        <p:spPr>
          <a:xfrm>
            <a:off x="719814" y="4110547"/>
            <a:ext cx="5976821" cy="2012348"/>
          </a:xfrm>
          <a:prstGeom prst="rect">
            <a:avLst/>
          </a:prstGeom>
          <a:noFill/>
          <a:ln/>
        </p:spPr>
        <p:txBody>
          <a:bodyPr wrap="square" lIns="0" tIns="0" rIns="0" bIns="0" rtlCol="0" anchor="t">
            <a:normAutofit/>
          </a:bodyPr>
          <a:lstStyle/>
          <a:p>
            <a:pPr marL="284480" indent="-284480">
              <a:lnSpc>
                <a:spcPct val="114000"/>
              </a:lnSpc>
              <a:buSzPct val="100000"/>
              <a:buChar char="•"/>
            </a:pPr>
            <a:r>
              <a:rPr lang="de-DE" b="1" dirty="0">
                <a:solidFill>
                  <a:srgbClr val="3D3838"/>
                </a:solidFill>
                <a:latin typeface="Aptos Narrow" panose="020B0004020202020204" pitchFamily="34" charset="0"/>
              </a:rPr>
              <a:t>Exploration – Bereinigung – Analyse</a:t>
            </a:r>
          </a:p>
          <a:p>
            <a:pPr marL="284480" indent="-284480">
              <a:lnSpc>
                <a:spcPct val="114000"/>
              </a:lnSpc>
              <a:buSzPct val="100000"/>
              <a:buChar char="•"/>
            </a:pPr>
            <a:r>
              <a:rPr lang="de-DE" dirty="0">
                <a:solidFill>
                  <a:srgbClr val="3D3838"/>
                </a:solidFill>
                <a:latin typeface="Aptos Narrow" panose="020B0004020202020204" pitchFamily="34" charset="0"/>
              </a:rPr>
              <a:t>Exploration lieferte Grundlage für Bereinigungsentscheidungen</a:t>
            </a:r>
          </a:p>
          <a:p>
            <a:pPr marL="284480" indent="-284480">
              <a:lnSpc>
                <a:spcPct val="114000"/>
              </a:lnSpc>
              <a:buSzPct val="100000"/>
              <a:buChar char="•"/>
            </a:pPr>
            <a:r>
              <a:rPr lang="de-DE" dirty="0">
                <a:solidFill>
                  <a:srgbClr val="3D3838"/>
                </a:solidFill>
                <a:latin typeface="Aptos Narrow" panose="020B0004020202020204" pitchFamily="34" charset="0"/>
              </a:rPr>
              <a:t>Analyseergebnisse machten vereinzelt weitere Bereinigungen erforderlich</a:t>
            </a:r>
          </a:p>
          <a:p>
            <a:pPr marL="284480" indent="-284480">
              <a:lnSpc>
                <a:spcPct val="114000"/>
              </a:lnSpc>
              <a:buSzPct val="100000"/>
              <a:buChar char="•"/>
            </a:pPr>
            <a:r>
              <a:rPr lang="de-DE" dirty="0">
                <a:solidFill>
                  <a:srgbClr val="3D3838"/>
                </a:solidFill>
                <a:latin typeface="Aptos Narrow" panose="020B0004020202020204" pitchFamily="34" charset="0"/>
              </a:rPr>
              <a:t>Beispiel: Iran-Teildatensatz erforderte erneute Prüfung von Kultur- und Länderangaben</a:t>
            </a:r>
          </a:p>
        </p:txBody>
      </p:sp>
      <p:sp>
        <p:nvSpPr>
          <p:cNvPr id="5" name="Textfeld 4">
            <a:extLst>
              <a:ext uri="{FF2B5EF4-FFF2-40B4-BE49-F238E27FC236}">
                <a16:creationId xmlns:a16="http://schemas.microsoft.com/office/drawing/2014/main" id="{6E8D5B4B-6873-02D0-FCB3-BE6CF2895611}"/>
              </a:ext>
            </a:extLst>
          </p:cNvPr>
          <p:cNvSpPr txBox="1"/>
          <p:nvPr/>
        </p:nvSpPr>
        <p:spPr>
          <a:xfrm>
            <a:off x="11764652" y="6454588"/>
            <a:ext cx="490101" cy="338554"/>
          </a:xfrm>
          <a:prstGeom prst="rect">
            <a:avLst/>
          </a:prstGeom>
          <a:noFill/>
        </p:spPr>
        <p:txBody>
          <a:bodyPr wrap="square" rtlCol="0">
            <a:spAutoFit/>
          </a:bodyPr>
          <a:lstStyle/>
          <a:p>
            <a:r>
              <a:rPr lang="de-DE" sz="1600" dirty="0">
                <a:solidFill>
                  <a:srgbClr val="3D3838"/>
                </a:solidFill>
                <a:latin typeface="Aptos Narrow" panose="020B0004020202020204" pitchFamily="34" charset="0"/>
              </a:rPr>
              <a:t>3</a:t>
            </a:r>
          </a:p>
        </p:txBody>
      </p:sp>
      <p:sp>
        <p:nvSpPr>
          <p:cNvPr id="8" name="Text 4">
            <a:extLst>
              <a:ext uri="{FF2B5EF4-FFF2-40B4-BE49-F238E27FC236}">
                <a16:creationId xmlns:a16="http://schemas.microsoft.com/office/drawing/2014/main" id="{6B2D0547-605F-2D30-7B37-3CD0A3F2EE10}"/>
              </a:ext>
            </a:extLst>
          </p:cNvPr>
          <p:cNvSpPr/>
          <p:nvPr/>
        </p:nvSpPr>
        <p:spPr>
          <a:xfrm>
            <a:off x="719815" y="6308488"/>
            <a:ext cx="9831644" cy="225103"/>
          </a:xfrm>
          <a:prstGeom prst="rect">
            <a:avLst/>
          </a:prstGeom>
          <a:noFill/>
          <a:ln/>
        </p:spPr>
        <p:txBody>
          <a:bodyPr wrap="none" lIns="0" tIns="0" rIns="0" bIns="0" rtlCol="0" anchor="t"/>
          <a:lstStyle/>
          <a:p>
            <a:pPr marL="0" indent="0" algn="l">
              <a:lnSpc>
                <a:spcPct val="104000"/>
              </a:lnSpc>
              <a:buNone/>
            </a:pPr>
            <a:r>
              <a:rPr lang="en-US" sz="1200" b="1" dirty="0">
                <a:solidFill>
                  <a:srgbClr val="3D3838"/>
                </a:solidFill>
                <a:latin typeface="Aptos Narrow" panose="020B0004020202020204" pitchFamily="34" charset="0"/>
                <a:ea typeface="Montserrat Bold" pitchFamily="34" charset="-122"/>
                <a:cs typeface="Montserrat Bold" pitchFamily="34" charset="-120"/>
              </a:rPr>
              <a:t>* Dataset: </a:t>
            </a:r>
            <a:r>
              <a:rPr lang="en-US" sz="1200" dirty="0">
                <a:solidFill>
                  <a:srgbClr val="3D3838"/>
                </a:solidFill>
                <a:latin typeface="Aptos Narrow" panose="020B0004020202020204" pitchFamily="34" charset="0"/>
                <a:ea typeface="Montserrat Bold" pitchFamily="34" charset="-122"/>
                <a:cs typeface="Montserrat Bold" pitchFamily="34" charset="-120"/>
              </a:rPr>
              <a:t>https://www.kaggle.com/datasets/metmuseum/the-metropolitan-museum-of-art-open-access, Kaggle, CC0-Lizenz, </a:t>
            </a:r>
            <a:r>
              <a:rPr lang="en-US" sz="1200" dirty="0" err="1">
                <a:solidFill>
                  <a:srgbClr val="3D3838"/>
                </a:solidFill>
                <a:latin typeface="Aptos Narrow" panose="020B0004020202020204" pitchFamily="34" charset="0"/>
                <a:ea typeface="Montserrat Bold" pitchFamily="34" charset="-122"/>
                <a:cs typeface="Montserrat Bold" pitchFamily="34" charset="-120"/>
              </a:rPr>
              <a:t>heruntergeladen</a:t>
            </a:r>
            <a:r>
              <a:rPr lang="en-US" sz="1200" dirty="0">
                <a:solidFill>
                  <a:srgbClr val="3D3838"/>
                </a:solidFill>
                <a:latin typeface="Aptos Narrow" panose="020B0004020202020204" pitchFamily="34" charset="0"/>
                <a:ea typeface="Montserrat Bold" pitchFamily="34" charset="-122"/>
                <a:cs typeface="Montserrat Bold" pitchFamily="34" charset="-120"/>
              </a:rPr>
              <a:t> 22.09.2026</a:t>
            </a:r>
            <a:r>
              <a:rPr lang="en-US" sz="1200" b="1" dirty="0">
                <a:solidFill>
                  <a:srgbClr val="3D3838"/>
                </a:solidFill>
                <a:latin typeface="Aptos Narrow" panose="020B0004020202020204" pitchFamily="34" charset="0"/>
                <a:ea typeface="Montserrat Bold" pitchFamily="34" charset="-122"/>
                <a:cs typeface="Montserrat Bold" pitchFamily="34" charset="-120"/>
              </a:rPr>
              <a:t>. </a:t>
            </a:r>
            <a:endParaRPr lang="en-US" sz="1200" b="1" dirty="0">
              <a:solidFill>
                <a:srgbClr val="3D3838"/>
              </a:solidFill>
              <a:latin typeface="Aptos Narrow" panose="020B00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19814" y="1425729"/>
            <a:ext cx="4037308" cy="4037409"/>
          </a:xfrm>
          <a:prstGeom prst="rect">
            <a:avLst/>
          </a:prstGeom>
        </p:spPr>
      </p:pic>
      <p:sp>
        <p:nvSpPr>
          <p:cNvPr id="3" name="Text 0"/>
          <p:cNvSpPr/>
          <p:nvPr/>
        </p:nvSpPr>
        <p:spPr>
          <a:xfrm>
            <a:off x="719814" y="550565"/>
            <a:ext cx="10758317" cy="1672682"/>
          </a:xfrm>
          <a:prstGeom prst="rect">
            <a:avLst/>
          </a:prstGeom>
          <a:noFill/>
          <a:ln/>
        </p:spPr>
        <p:txBody>
          <a:bodyPr wrap="square" lIns="0" tIns="0" rIns="0" bIns="0" rtlCol="0" anchor="t">
            <a:normAutofit/>
          </a:bodyPr>
          <a:lstStyle/>
          <a:p>
            <a:pPr marL="0" indent="0" algn="l">
              <a:lnSpc>
                <a:spcPct val="104000"/>
              </a:lnSpc>
              <a:buNone/>
            </a:pPr>
            <a:r>
              <a:rPr lang="en-US" sz="3600" b="1" kern="0" spc="-32" dirty="0">
                <a:solidFill>
                  <a:srgbClr val="3D3838"/>
                </a:solidFill>
                <a:latin typeface="Aptos Narrow" panose="020B0004020202020204" pitchFamily="34" charset="0"/>
                <a:ea typeface="Montserrat Bold" pitchFamily="34" charset="-122"/>
                <a:cs typeface="Montserrat Bold" pitchFamily="34" charset="-120"/>
              </a:rPr>
              <a:t>Explorative Datenanalyse &amp; Datenqualität</a:t>
            </a:r>
            <a:endParaRPr lang="en-US" sz="3600" dirty="0">
              <a:solidFill>
                <a:srgbClr val="3D3838"/>
              </a:solidFill>
              <a:latin typeface="Aptos Narrow" panose="020B0004020202020204" pitchFamily="34" charset="0"/>
            </a:endParaRPr>
          </a:p>
        </p:txBody>
      </p:sp>
      <p:sp>
        <p:nvSpPr>
          <p:cNvPr id="4" name="Text 1"/>
          <p:cNvSpPr/>
          <p:nvPr/>
        </p:nvSpPr>
        <p:spPr>
          <a:xfrm>
            <a:off x="5202603" y="1410295"/>
            <a:ext cx="6275528" cy="3255324"/>
          </a:xfrm>
          <a:prstGeom prst="rect">
            <a:avLst/>
          </a:prstGeom>
          <a:noFill/>
          <a:ln/>
        </p:spPr>
        <p:txBody>
          <a:bodyPr wrap="square" lIns="0" tIns="0" rIns="0" bIns="0" rtlCol="0" anchor="t">
            <a:normAutofit/>
          </a:bodyPr>
          <a:lstStyle/>
          <a:p>
            <a:pPr marL="284480" indent="-284480">
              <a:lnSpc>
                <a:spcPct val="114000"/>
              </a:lnSpc>
              <a:buSzPct val="100000"/>
              <a:buFontTx/>
              <a:buChar char="•"/>
            </a:pPr>
            <a:r>
              <a:rPr lang="en-US" dirty="0">
                <a:solidFill>
                  <a:srgbClr val="3D3838"/>
                </a:solidFill>
                <a:latin typeface="Aptos Narrow" panose="020B0004020202020204" pitchFamily="34" charset="0"/>
              </a:rPr>
              <a:t>EDA </a:t>
            </a:r>
            <a:r>
              <a:rPr lang="en-US" dirty="0" err="1">
                <a:solidFill>
                  <a:srgbClr val="3D3838"/>
                </a:solidFill>
                <a:latin typeface="Aptos Narrow" panose="020B0004020202020204" pitchFamily="34" charset="0"/>
              </a:rPr>
              <a:t>zeigte</a:t>
            </a:r>
            <a:r>
              <a:rPr lang="en-US" dirty="0">
                <a:solidFill>
                  <a:srgbClr val="3D3838"/>
                </a:solidFill>
                <a:latin typeface="Aptos Narrow" panose="020B0004020202020204" pitchFamily="34" charset="0"/>
              </a:rPr>
              <a:t> massive </a:t>
            </a:r>
            <a:r>
              <a:rPr lang="en-US" dirty="0" err="1">
                <a:solidFill>
                  <a:srgbClr val="3D3838"/>
                </a:solidFill>
                <a:latin typeface="Aptos Narrow" panose="020B0004020202020204" pitchFamily="34" charset="0"/>
              </a:rPr>
              <a:t>Datenqualitätsprobleme</a:t>
            </a:r>
            <a:r>
              <a:rPr lang="en-US" dirty="0">
                <a:solidFill>
                  <a:srgbClr val="3D3838"/>
                </a:solidFill>
                <a:latin typeface="Aptos Narrow" panose="020B0004020202020204" pitchFamily="34" charset="0"/>
              </a:rPr>
              <a:t> auf</a:t>
            </a:r>
            <a:endParaRPr lang="en-US" b="1" dirty="0">
              <a:solidFill>
                <a:srgbClr val="3D3838"/>
              </a:solidFill>
              <a:latin typeface="Aptos Narrow" panose="020B0004020202020204" pitchFamily="34" charset="0"/>
              <a:ea typeface="Source Sans 3 Bold" pitchFamily="34" charset="-122"/>
              <a:cs typeface="Source Sans 3 Bold" pitchFamily="34" charset="-120"/>
            </a:endParaRPr>
          </a:p>
          <a:p>
            <a:pPr marL="284480" indent="-284480" algn="l">
              <a:lnSpc>
                <a:spcPct val="114000"/>
              </a:lnSpc>
              <a:buSzPct val="100000"/>
              <a:buChar char="•"/>
            </a:pPr>
            <a:r>
              <a:rPr lang="en-US" b="1" dirty="0">
                <a:solidFill>
                  <a:srgbClr val="3D3838"/>
                </a:solidFill>
                <a:latin typeface="Aptos Narrow" panose="020B0004020202020204" pitchFamily="34" charset="0"/>
                <a:ea typeface="Source Sans 3 Bold" pitchFamily="34" charset="-122"/>
                <a:cs typeface="Source Sans 3 Bold" pitchFamily="34" charset="-120"/>
              </a:rPr>
              <a:t>Object ID</a:t>
            </a:r>
            <a:r>
              <a:rPr lang="en-US" dirty="0">
                <a:solidFill>
                  <a:srgbClr val="3D3838"/>
                </a:solidFill>
                <a:latin typeface="Aptos Narrow" panose="020B0004020202020204" pitchFamily="34" charset="0"/>
                <a:ea typeface="Source Sans 3" pitchFamily="34" charset="-122"/>
                <a:cs typeface="Source Sans 3" pitchFamily="34" charset="-120"/>
              </a:rPr>
              <a:t> </a:t>
            </a:r>
            <a:r>
              <a:rPr lang="en-US" dirty="0" err="1">
                <a:solidFill>
                  <a:srgbClr val="3D3838"/>
                </a:solidFill>
                <a:latin typeface="Aptos Narrow" panose="020B0004020202020204" pitchFamily="34" charset="0"/>
                <a:ea typeface="Source Sans 3" pitchFamily="34" charset="-122"/>
                <a:cs typeface="Source Sans 3" pitchFamily="34" charset="-120"/>
              </a:rPr>
              <a:t>eindeutig</a:t>
            </a:r>
            <a:r>
              <a:rPr lang="en-US" dirty="0">
                <a:solidFill>
                  <a:srgbClr val="3D3838"/>
                </a:solidFill>
                <a:latin typeface="Aptos Narrow" panose="020B0004020202020204" pitchFamily="34" charset="0"/>
                <a:ea typeface="Source Sans 3" pitchFamily="34" charset="-122"/>
                <a:cs typeface="Source Sans 3" pitchFamily="34" charset="-120"/>
              </a:rPr>
              <a:t>, </a:t>
            </a:r>
            <a:r>
              <a:rPr lang="en-US" b="1" dirty="0">
                <a:solidFill>
                  <a:srgbClr val="3D3838"/>
                </a:solidFill>
                <a:latin typeface="Aptos Narrow" panose="020B0004020202020204" pitchFamily="34" charset="0"/>
                <a:ea typeface="Source Sans 3 Bold" pitchFamily="34" charset="-122"/>
                <a:cs typeface="Source Sans 3 Bold" pitchFamily="34" charset="-120"/>
              </a:rPr>
              <a:t>Object Number</a:t>
            </a:r>
            <a:r>
              <a:rPr lang="en-US" dirty="0">
                <a:solidFill>
                  <a:srgbClr val="3D3838"/>
                </a:solidFill>
                <a:latin typeface="Aptos Narrow" panose="020B0004020202020204" pitchFamily="34" charset="0"/>
                <a:ea typeface="Source Sans 3" pitchFamily="34" charset="-122"/>
                <a:cs typeface="Source Sans 3" pitchFamily="34" charset="-120"/>
              </a:rPr>
              <a:t> </a:t>
            </a:r>
            <a:r>
              <a:rPr lang="en-US" dirty="0" err="1">
                <a:solidFill>
                  <a:srgbClr val="3D3838"/>
                </a:solidFill>
                <a:latin typeface="Aptos Narrow" panose="020B0004020202020204" pitchFamily="34" charset="0"/>
                <a:ea typeface="Source Sans 3" pitchFamily="34" charset="-122"/>
                <a:cs typeface="Source Sans 3" pitchFamily="34" charset="-120"/>
              </a:rPr>
              <a:t>dagegen</a:t>
            </a:r>
            <a:r>
              <a:rPr lang="en-US" dirty="0">
                <a:solidFill>
                  <a:srgbClr val="3D3838"/>
                </a:solidFill>
                <a:latin typeface="Aptos Narrow" panose="020B0004020202020204" pitchFamily="34" charset="0"/>
                <a:ea typeface="Source Sans 3" pitchFamily="34" charset="-122"/>
                <a:cs typeface="Source Sans 3" pitchFamily="34" charset="-120"/>
              </a:rPr>
              <a:t> </a:t>
            </a:r>
            <a:r>
              <a:rPr lang="en-US" dirty="0" err="1">
                <a:solidFill>
                  <a:srgbClr val="3D3838"/>
                </a:solidFill>
                <a:latin typeface="Aptos Narrow" panose="020B0004020202020204" pitchFamily="34" charset="0"/>
                <a:ea typeface="Source Sans 3" pitchFamily="34" charset="-122"/>
                <a:cs typeface="Source Sans 3" pitchFamily="34" charset="-120"/>
              </a:rPr>
              <a:t>mit</a:t>
            </a:r>
            <a:r>
              <a:rPr lang="en-US" dirty="0">
                <a:solidFill>
                  <a:srgbClr val="3D3838"/>
                </a:solidFill>
                <a:latin typeface="Aptos Narrow" panose="020B0004020202020204" pitchFamily="34" charset="0"/>
                <a:ea typeface="Source Sans 3" pitchFamily="34" charset="-122"/>
                <a:cs typeface="Source Sans 3" pitchFamily="34" charset="-120"/>
              </a:rPr>
              <a:t> 2576 </a:t>
            </a:r>
            <a:r>
              <a:rPr lang="en-US" dirty="0" err="1">
                <a:solidFill>
                  <a:srgbClr val="3D3838"/>
                </a:solidFill>
                <a:latin typeface="Aptos Narrow" panose="020B0004020202020204" pitchFamily="34" charset="0"/>
                <a:ea typeface="Source Sans 3" pitchFamily="34" charset="-122"/>
                <a:cs typeface="Source Sans 3" pitchFamily="34" charset="-120"/>
              </a:rPr>
              <a:t>versteckten</a:t>
            </a:r>
            <a:r>
              <a:rPr lang="en-US" dirty="0">
                <a:solidFill>
                  <a:srgbClr val="3D3838"/>
                </a:solidFill>
                <a:latin typeface="Aptos Narrow" panose="020B0004020202020204" pitchFamily="34" charset="0"/>
                <a:ea typeface="Source Sans 3" pitchFamily="34" charset="-122"/>
                <a:cs typeface="Source Sans 3" pitchFamily="34" charset="-120"/>
              </a:rPr>
              <a:t> </a:t>
            </a:r>
            <a:r>
              <a:rPr lang="en-US" dirty="0" err="1">
                <a:solidFill>
                  <a:srgbClr val="3D3838"/>
                </a:solidFill>
                <a:latin typeface="Aptos Narrow" panose="020B0004020202020204" pitchFamily="34" charset="0"/>
                <a:ea typeface="Source Sans 3" pitchFamily="34" charset="-122"/>
                <a:cs typeface="Source Sans 3" pitchFamily="34" charset="-120"/>
              </a:rPr>
              <a:t>Duplikaten</a:t>
            </a:r>
            <a:endParaRPr lang="en-US" dirty="0">
              <a:solidFill>
                <a:srgbClr val="3D3838"/>
              </a:solidFill>
              <a:latin typeface="Aptos Narrow" panose="020B0004020202020204" pitchFamily="34" charset="0"/>
              <a:ea typeface="Source Sans 3" pitchFamily="34" charset="-122"/>
              <a:cs typeface="Source Sans 3" pitchFamily="34" charset="-120"/>
            </a:endParaRPr>
          </a:p>
          <a:p>
            <a:pPr marL="284480" indent="-284480">
              <a:lnSpc>
                <a:spcPct val="114000"/>
              </a:lnSpc>
              <a:buSzPct val="100000"/>
              <a:buChar char="•"/>
            </a:pPr>
            <a:r>
              <a:rPr lang="en-US" dirty="0">
                <a:solidFill>
                  <a:srgbClr val="3D3838"/>
                </a:solidFill>
                <a:latin typeface="Aptos Narrow" panose="020B0004020202020204" pitchFamily="34" charset="0"/>
                <a:ea typeface="Source Sans 3" pitchFamily="34" charset="-122"/>
                <a:cs typeface="Source Sans 3" pitchFamily="34" charset="-120"/>
              </a:rPr>
              <a:t>Culture (7101) und Country (1035): Sehr hohe Vielfalt, teils mehrdeutig – z. B. „Iran or Turkey“ oder „</a:t>
            </a:r>
            <a:r>
              <a:rPr lang="en-US" dirty="0" err="1">
                <a:solidFill>
                  <a:srgbClr val="3D3838"/>
                </a:solidFill>
                <a:latin typeface="Aptos Narrow" panose="020B0004020202020204" pitchFamily="34" charset="0"/>
                <a:ea typeface="Source Sans 3" pitchFamily="34" charset="-122"/>
                <a:cs typeface="Source Sans 3" pitchFamily="34" charset="-120"/>
              </a:rPr>
              <a:t>Iran|Iran</a:t>
            </a:r>
            <a:r>
              <a:rPr lang="en-US" dirty="0">
                <a:solidFill>
                  <a:srgbClr val="3D3838"/>
                </a:solidFill>
                <a:latin typeface="Aptos Narrow" panose="020B0004020202020204" pitchFamily="34" charset="0"/>
                <a:ea typeface="Source Sans 3" pitchFamily="34" charset="-122"/>
                <a:cs typeface="Source Sans 3" pitchFamily="34" charset="-120"/>
              </a:rPr>
              <a:t>“ </a:t>
            </a:r>
            <a:endParaRPr lang="en-US" dirty="0">
              <a:solidFill>
                <a:srgbClr val="3D3838"/>
              </a:solidFill>
              <a:latin typeface="Aptos Narrow" panose="020B0004020202020204" pitchFamily="34" charset="0"/>
            </a:endParaRPr>
          </a:p>
          <a:p>
            <a:pPr marL="284480" indent="-284480" algn="l">
              <a:lnSpc>
                <a:spcPct val="114000"/>
              </a:lnSpc>
              <a:buSzPct val="100000"/>
              <a:buChar char="•"/>
            </a:pPr>
            <a:r>
              <a:rPr lang="en-US" dirty="0">
                <a:solidFill>
                  <a:srgbClr val="3D3838"/>
                </a:solidFill>
                <a:latin typeface="Aptos Narrow" panose="020B0004020202020204" pitchFamily="34" charset="0"/>
                <a:ea typeface="Source Sans 3" pitchFamily="34" charset="-122"/>
                <a:cs typeface="Source Sans 3" pitchFamily="34" charset="-120"/>
              </a:rPr>
              <a:t>Period: </a:t>
            </a:r>
            <a:r>
              <a:rPr lang="en-US" dirty="0" err="1">
                <a:solidFill>
                  <a:srgbClr val="3D3838"/>
                </a:solidFill>
                <a:latin typeface="Aptos Narrow" panose="020B0004020202020204" pitchFamily="34" charset="0"/>
                <a:ea typeface="Source Sans 3" pitchFamily="34" charset="-122"/>
                <a:cs typeface="Source Sans 3" pitchFamily="34" charset="-120"/>
              </a:rPr>
              <a:t>Über</a:t>
            </a:r>
            <a:r>
              <a:rPr lang="en-US" dirty="0">
                <a:solidFill>
                  <a:srgbClr val="3D3838"/>
                </a:solidFill>
                <a:latin typeface="Aptos Narrow" panose="020B0004020202020204" pitchFamily="34" charset="0"/>
                <a:ea typeface="Source Sans 3" pitchFamily="34" charset="-122"/>
                <a:cs typeface="Source Sans 3" pitchFamily="34" charset="-120"/>
              </a:rPr>
              <a:t> </a:t>
            </a:r>
            <a:r>
              <a:rPr lang="en-US" b="1" dirty="0">
                <a:solidFill>
                  <a:srgbClr val="3D3838"/>
                </a:solidFill>
                <a:latin typeface="Aptos Narrow" panose="020B0004020202020204" pitchFamily="34" charset="0"/>
                <a:ea typeface="Source Sans 3 Bold" pitchFamily="34" charset="-122"/>
                <a:cs typeface="Source Sans 3 Bold" pitchFamily="34" charset="-120"/>
              </a:rPr>
              <a:t>80 % fehlende Werte</a:t>
            </a:r>
            <a:r>
              <a:rPr lang="en-US" dirty="0">
                <a:solidFill>
                  <a:srgbClr val="3D3838"/>
                </a:solidFill>
                <a:latin typeface="Aptos Narrow" panose="020B0004020202020204" pitchFamily="34" charset="0"/>
                <a:ea typeface="Source Sans 3" pitchFamily="34" charset="-122"/>
                <a:cs typeface="Source Sans 3" pitchFamily="34" charset="-120"/>
              </a:rPr>
              <a:t>, </a:t>
            </a:r>
            <a:r>
              <a:rPr lang="en-US" dirty="0" err="1">
                <a:solidFill>
                  <a:srgbClr val="3D3838"/>
                </a:solidFill>
                <a:latin typeface="Aptos Narrow" panose="020B0004020202020204" pitchFamily="34" charset="0"/>
                <a:ea typeface="Source Sans 3" pitchFamily="34" charset="-122"/>
                <a:cs typeface="Source Sans 3" pitchFamily="34" charset="-120"/>
              </a:rPr>
              <a:t>kaum</a:t>
            </a:r>
            <a:r>
              <a:rPr lang="en-US" dirty="0">
                <a:solidFill>
                  <a:srgbClr val="3D3838"/>
                </a:solidFill>
                <a:latin typeface="Aptos Narrow" panose="020B0004020202020204" pitchFamily="34" charset="0"/>
                <a:ea typeface="Source Sans 3" pitchFamily="34" charset="-122"/>
                <a:cs typeface="Source Sans 3" pitchFamily="34" charset="-120"/>
              </a:rPr>
              <a:t> </a:t>
            </a:r>
            <a:r>
              <a:rPr lang="en-US" dirty="0" err="1">
                <a:solidFill>
                  <a:srgbClr val="3D3838"/>
                </a:solidFill>
                <a:latin typeface="Aptos Narrow" panose="020B0004020202020204" pitchFamily="34" charset="0"/>
                <a:ea typeface="Source Sans 3" pitchFamily="34" charset="-122"/>
                <a:cs typeface="Source Sans 3" pitchFamily="34" charset="-120"/>
              </a:rPr>
              <a:t>nutzbar</a:t>
            </a:r>
            <a:endParaRPr lang="en-US" dirty="0">
              <a:solidFill>
                <a:srgbClr val="3D3838"/>
              </a:solidFill>
              <a:latin typeface="Aptos Narrow" panose="020B0004020202020204" pitchFamily="34" charset="0"/>
              <a:ea typeface="Source Sans 3" pitchFamily="34" charset="-122"/>
              <a:cs typeface="Source Sans 3" pitchFamily="34" charset="-120"/>
            </a:endParaRPr>
          </a:p>
          <a:p>
            <a:pPr marL="284480" indent="-284480" algn="l">
              <a:lnSpc>
                <a:spcPct val="114000"/>
              </a:lnSpc>
              <a:buSzPct val="100000"/>
              <a:buChar char="•"/>
            </a:pPr>
            <a:r>
              <a:rPr lang="de-DE" dirty="0" err="1">
                <a:solidFill>
                  <a:srgbClr val="3D3838"/>
                </a:solidFill>
                <a:latin typeface="Aptos Narrow" panose="020B0004020202020204" pitchFamily="34" charset="0"/>
              </a:rPr>
              <a:t>Object</a:t>
            </a:r>
            <a:r>
              <a:rPr lang="de-DE" dirty="0">
                <a:solidFill>
                  <a:srgbClr val="3D3838"/>
                </a:solidFill>
                <a:latin typeface="Aptos Narrow" panose="020B0004020202020204" pitchFamily="34" charset="0"/>
              </a:rPr>
              <a:t> End Date: Zahlreiche Werte nicht nachvollziehbar bzw. zuzuordnen, nur </a:t>
            </a:r>
            <a:r>
              <a:rPr lang="de-DE" dirty="0" err="1">
                <a:solidFill>
                  <a:srgbClr val="3D3838"/>
                </a:solidFill>
                <a:latin typeface="Aptos Narrow" panose="020B0004020202020204" pitchFamily="34" charset="0"/>
              </a:rPr>
              <a:t>Object</a:t>
            </a:r>
            <a:r>
              <a:rPr lang="de-DE" dirty="0">
                <a:solidFill>
                  <a:srgbClr val="3D3838"/>
                </a:solidFill>
                <a:latin typeface="Aptos Narrow" panose="020B0004020202020204" pitchFamily="34" charset="0"/>
              </a:rPr>
              <a:t> Begin Date (Datierungsanfang) genutzt</a:t>
            </a:r>
            <a:endParaRPr lang="en-US" dirty="0">
              <a:solidFill>
                <a:srgbClr val="3D3838"/>
              </a:solidFill>
              <a:latin typeface="Aptos Narrow" panose="020B0004020202020204" pitchFamily="34" charset="0"/>
            </a:endParaRPr>
          </a:p>
          <a:p>
            <a:pPr marL="284480" indent="-284480" algn="l">
              <a:lnSpc>
                <a:spcPct val="114000"/>
              </a:lnSpc>
              <a:buSzPct val="100000"/>
              <a:buChar char="•"/>
            </a:pPr>
            <a:r>
              <a:rPr lang="en-US" dirty="0">
                <a:solidFill>
                  <a:srgbClr val="3D3838"/>
                </a:solidFill>
                <a:latin typeface="Aptos Narrow" panose="020B0004020202020204" pitchFamily="34" charset="0"/>
                <a:ea typeface="Source Sans 3" pitchFamily="34" charset="-122"/>
                <a:cs typeface="Source Sans 3" pitchFamily="34" charset="-120"/>
              </a:rPr>
              <a:t>Dort </a:t>
            </a:r>
            <a:r>
              <a:rPr lang="en-US" dirty="0" err="1">
                <a:solidFill>
                  <a:srgbClr val="3D3838"/>
                </a:solidFill>
                <a:latin typeface="Aptos Narrow" panose="020B0004020202020204" pitchFamily="34" charset="0"/>
                <a:ea typeface="Source Sans 3" pitchFamily="34" charset="-122"/>
                <a:cs typeface="Source Sans 3" pitchFamily="34" charset="-120"/>
              </a:rPr>
              <a:t>auch</a:t>
            </a:r>
            <a:r>
              <a:rPr lang="en-US" dirty="0">
                <a:solidFill>
                  <a:srgbClr val="3D3838"/>
                </a:solidFill>
                <a:latin typeface="Aptos Narrow" panose="020B0004020202020204" pitchFamily="34" charset="0"/>
                <a:ea typeface="Source Sans 3" pitchFamily="34" charset="-122"/>
                <a:cs typeface="Source Sans 3" pitchFamily="34" charset="-120"/>
              </a:rPr>
              <a:t> </a:t>
            </a:r>
            <a:r>
              <a:rPr lang="en-US" dirty="0" err="1">
                <a:solidFill>
                  <a:srgbClr val="3D3838"/>
                </a:solidFill>
                <a:latin typeface="Aptos Narrow" panose="020B0004020202020204" pitchFamily="34" charset="0"/>
                <a:ea typeface="Source Sans 3" pitchFamily="34" charset="-122"/>
                <a:cs typeface="Source Sans 3" pitchFamily="34" charset="-120"/>
              </a:rPr>
              <a:t>vereinzelte</a:t>
            </a:r>
            <a:r>
              <a:rPr lang="en-US" dirty="0">
                <a:solidFill>
                  <a:srgbClr val="3D3838"/>
                </a:solidFill>
                <a:latin typeface="Aptos Narrow" panose="020B0004020202020204" pitchFamily="34" charset="0"/>
                <a:ea typeface="Source Sans 3" pitchFamily="34" charset="-122"/>
                <a:cs typeface="Source Sans 3" pitchFamily="34" charset="-120"/>
              </a:rPr>
              <a:t> </a:t>
            </a:r>
            <a:r>
              <a:rPr lang="en-US" dirty="0" err="1">
                <a:solidFill>
                  <a:srgbClr val="3D3838"/>
                </a:solidFill>
                <a:latin typeface="Aptos Narrow" panose="020B0004020202020204" pitchFamily="34" charset="0"/>
                <a:ea typeface="Source Sans 3" pitchFamily="34" charset="-122"/>
                <a:cs typeface="Source Sans 3" pitchFamily="34" charset="-120"/>
              </a:rPr>
              <a:t>fehlerhafte</a:t>
            </a:r>
            <a:r>
              <a:rPr lang="en-US" dirty="0">
                <a:solidFill>
                  <a:srgbClr val="3D3838"/>
                </a:solidFill>
                <a:latin typeface="Aptos Narrow" panose="020B0004020202020204" pitchFamily="34" charset="0"/>
                <a:ea typeface="Source Sans 3" pitchFamily="34" charset="-122"/>
                <a:cs typeface="Source Sans 3" pitchFamily="34" charset="-120"/>
              </a:rPr>
              <a:t> </a:t>
            </a:r>
            <a:r>
              <a:rPr lang="en-US" dirty="0" err="1">
                <a:solidFill>
                  <a:srgbClr val="3D3838"/>
                </a:solidFill>
                <a:latin typeface="Aptos Narrow" panose="020B0004020202020204" pitchFamily="34" charset="0"/>
                <a:ea typeface="Source Sans 3" pitchFamily="34" charset="-122"/>
                <a:cs typeface="Source Sans 3" pitchFamily="34" charset="-120"/>
              </a:rPr>
              <a:t>Werte</a:t>
            </a:r>
            <a:r>
              <a:rPr lang="en-US" dirty="0">
                <a:solidFill>
                  <a:srgbClr val="3D3838"/>
                </a:solidFill>
                <a:latin typeface="Aptos Narrow" panose="020B0004020202020204" pitchFamily="34" charset="0"/>
                <a:ea typeface="Source Sans 3" pitchFamily="34" charset="-122"/>
                <a:cs typeface="Source Sans 3" pitchFamily="34" charset="-120"/>
              </a:rPr>
              <a:t> (zwei Jahreszahlen </a:t>
            </a:r>
            <a:r>
              <a:rPr lang="en-US" dirty="0" err="1">
                <a:solidFill>
                  <a:srgbClr val="3D3838"/>
                </a:solidFill>
                <a:latin typeface="Aptos Narrow" panose="020B0004020202020204" pitchFamily="34" charset="0"/>
                <a:ea typeface="Source Sans 3" pitchFamily="34" charset="-122"/>
                <a:cs typeface="Source Sans 3" pitchFamily="34" charset="-120"/>
              </a:rPr>
              <a:t>verschmolzen</a:t>
            </a:r>
            <a:r>
              <a:rPr lang="en-US" dirty="0">
                <a:solidFill>
                  <a:srgbClr val="3D3838"/>
                </a:solidFill>
                <a:latin typeface="Aptos Narrow" panose="020B0004020202020204" pitchFamily="34" charset="0"/>
                <a:ea typeface="Source Sans 3" pitchFamily="34" charset="-122"/>
                <a:cs typeface="Source Sans 3" pitchFamily="34" charset="-120"/>
              </a:rPr>
              <a:t>)</a:t>
            </a:r>
            <a:endParaRPr lang="en-US" dirty="0">
              <a:solidFill>
                <a:srgbClr val="3D3838"/>
              </a:solidFill>
              <a:latin typeface="Aptos Narrow" panose="020B0004020202020204" pitchFamily="34" charset="0"/>
            </a:endParaRPr>
          </a:p>
        </p:txBody>
      </p:sp>
      <p:sp>
        <p:nvSpPr>
          <p:cNvPr id="5" name="Shape 2"/>
          <p:cNvSpPr/>
          <p:nvPr/>
        </p:nvSpPr>
        <p:spPr>
          <a:xfrm>
            <a:off x="5196658" y="4740025"/>
            <a:ext cx="6275528" cy="953691"/>
          </a:xfrm>
          <a:prstGeom prst="roundRect">
            <a:avLst>
              <a:gd name="adj" fmla="val 2831"/>
            </a:avLst>
          </a:prstGeom>
          <a:solidFill>
            <a:srgbClr val="FDECEA"/>
          </a:solidFill>
          <a:ln/>
        </p:spPr>
        <p:txBody>
          <a:bodyPr/>
          <a:lstStyle/>
          <a:p>
            <a:endParaRPr lang="de-DE">
              <a:solidFill>
                <a:srgbClr val="3D3838"/>
              </a:solidFill>
              <a:latin typeface="Aptos Narrow" panose="020B0004020202020204" pitchFamily="34" charset="0"/>
            </a:endParaRPr>
          </a:p>
        </p:txBody>
      </p:sp>
      <p:pic>
        <p:nvPicPr>
          <p:cNvPr id="6" name="Image 1" descr="preencoded.png"/>
          <p:cNvPicPr>
            <a:picLocks noChangeAspect="1"/>
          </p:cNvPicPr>
          <p:nvPr/>
        </p:nvPicPr>
        <p:blipFill>
          <a:blip r:embed="rId4"/>
          <a:stretch>
            <a:fillRect/>
          </a:stretch>
        </p:blipFill>
        <p:spPr>
          <a:xfrm>
            <a:off x="5393035" y="5126928"/>
            <a:ext cx="224923" cy="179884"/>
          </a:xfrm>
          <a:prstGeom prst="rect">
            <a:avLst/>
          </a:prstGeom>
        </p:spPr>
      </p:pic>
      <p:sp>
        <p:nvSpPr>
          <p:cNvPr id="7" name="Text 3"/>
          <p:cNvSpPr/>
          <p:nvPr/>
        </p:nvSpPr>
        <p:spPr>
          <a:xfrm>
            <a:off x="5781338" y="4883733"/>
            <a:ext cx="5690847" cy="886263"/>
          </a:xfrm>
          <a:prstGeom prst="rect">
            <a:avLst/>
          </a:prstGeom>
          <a:noFill/>
          <a:ln/>
        </p:spPr>
        <p:txBody>
          <a:bodyPr wrap="square" lIns="0" tIns="0" rIns="0" bIns="0" rtlCol="0" anchor="t">
            <a:normAutofit/>
          </a:bodyPr>
          <a:lstStyle/>
          <a:p>
            <a:pPr marL="0" indent="0" algn="l">
              <a:lnSpc>
                <a:spcPct val="114000"/>
              </a:lnSpc>
              <a:buNone/>
            </a:pPr>
            <a:r>
              <a:rPr lang="en-US" sz="1600" dirty="0" err="1">
                <a:solidFill>
                  <a:srgbClr val="3D3838"/>
                </a:solidFill>
                <a:latin typeface="Aptos Narrow" panose="020B0004020202020204" pitchFamily="34" charset="0"/>
                <a:ea typeface="Source Sans 3" pitchFamily="34" charset="-122"/>
                <a:cs typeface="Source Sans 3" pitchFamily="34" charset="-120"/>
              </a:rPr>
              <a:t>Datensatz</a:t>
            </a:r>
            <a:r>
              <a:rPr lang="en-US" sz="1600" dirty="0">
                <a:solidFill>
                  <a:srgbClr val="3D3838"/>
                </a:solidFill>
                <a:latin typeface="Aptos Narrow" panose="020B0004020202020204" pitchFamily="34" charset="0"/>
                <a:ea typeface="Source Sans 3" pitchFamily="34" charset="-122"/>
                <a:cs typeface="Source Sans 3" pitchFamily="34" charset="-120"/>
              </a:rPr>
              <a:t> inhaltlich vielfältig, aber mit </a:t>
            </a:r>
            <a:r>
              <a:rPr lang="en-US" sz="1600" dirty="0" err="1">
                <a:solidFill>
                  <a:srgbClr val="3D3838"/>
                </a:solidFill>
                <a:latin typeface="Aptos Narrow" panose="020B0004020202020204" pitchFamily="34" charset="0"/>
                <a:ea typeface="Source Sans 3" pitchFamily="34" charset="-122"/>
                <a:cs typeface="Source Sans 3" pitchFamily="34" charset="-120"/>
              </a:rPr>
              <a:t>deutlichen</a:t>
            </a:r>
            <a:r>
              <a:rPr lang="en-US" sz="1600" dirty="0">
                <a:solidFill>
                  <a:srgbClr val="3D3838"/>
                </a:solidFill>
                <a:latin typeface="Aptos Narrow" panose="020B0004020202020204" pitchFamily="34" charset="0"/>
                <a:ea typeface="Source Sans 3" pitchFamily="34" charset="-122"/>
                <a:cs typeface="Source Sans 3" pitchFamily="34" charset="-120"/>
              </a:rPr>
              <a:t> </a:t>
            </a:r>
            <a:r>
              <a:rPr lang="en-US" sz="1600" dirty="0" err="1">
                <a:solidFill>
                  <a:srgbClr val="3D3838"/>
                </a:solidFill>
                <a:latin typeface="Aptos Narrow" panose="020B0004020202020204" pitchFamily="34" charset="0"/>
                <a:ea typeface="Source Sans 3" pitchFamily="34" charset="-122"/>
                <a:cs typeface="Source Sans 3" pitchFamily="34" charset="-120"/>
              </a:rPr>
              <a:t>Dokumentations-lücken</a:t>
            </a:r>
            <a:r>
              <a:rPr lang="en-US" sz="1600" dirty="0">
                <a:solidFill>
                  <a:srgbClr val="3D3838"/>
                </a:solidFill>
                <a:latin typeface="Aptos Narrow" panose="020B0004020202020204" pitchFamily="34" charset="0"/>
                <a:ea typeface="Source Sans 3" pitchFamily="34" charset="-122"/>
                <a:cs typeface="Source Sans 3" pitchFamily="34" charset="-120"/>
              </a:rPr>
              <a:t>, </a:t>
            </a:r>
            <a:r>
              <a:rPr lang="en-US" sz="1600" dirty="0" err="1">
                <a:solidFill>
                  <a:srgbClr val="3D3838"/>
                </a:solidFill>
                <a:latin typeface="Aptos Narrow" panose="020B0004020202020204" pitchFamily="34" charset="0"/>
                <a:ea typeface="Source Sans 3" pitchFamily="34" charset="-122"/>
                <a:cs typeface="Source Sans 3" pitchFamily="34" charset="-120"/>
              </a:rPr>
              <a:t>sodass</a:t>
            </a:r>
            <a:r>
              <a:rPr lang="en-US" sz="1600" dirty="0">
                <a:solidFill>
                  <a:srgbClr val="3D3838"/>
                </a:solidFill>
                <a:latin typeface="Aptos Narrow" panose="020B0004020202020204" pitchFamily="34" charset="0"/>
                <a:ea typeface="Source Sans 3" pitchFamily="34" charset="-122"/>
                <a:cs typeface="Source Sans 3" pitchFamily="34" charset="-120"/>
              </a:rPr>
              <a:t> </a:t>
            </a:r>
            <a:r>
              <a:rPr lang="en-US" sz="1600" dirty="0" err="1">
                <a:solidFill>
                  <a:srgbClr val="3D3838"/>
                </a:solidFill>
                <a:latin typeface="Aptos Narrow" panose="020B0004020202020204" pitchFamily="34" charset="0"/>
                <a:ea typeface="Source Sans 3" pitchFamily="34" charset="-122"/>
                <a:cs typeface="Source Sans 3" pitchFamily="34" charset="-120"/>
              </a:rPr>
              <a:t>eine</a:t>
            </a:r>
            <a:r>
              <a:rPr lang="en-US" sz="1600" dirty="0">
                <a:solidFill>
                  <a:srgbClr val="3D3838"/>
                </a:solidFill>
                <a:latin typeface="Aptos Narrow" panose="020B0004020202020204" pitchFamily="34" charset="0"/>
                <a:ea typeface="Source Sans 3" pitchFamily="34" charset="-122"/>
                <a:cs typeface="Source Sans 3" pitchFamily="34" charset="-120"/>
              </a:rPr>
              <a:t> </a:t>
            </a:r>
            <a:r>
              <a:rPr lang="en-US" sz="1600" dirty="0" err="1">
                <a:solidFill>
                  <a:srgbClr val="3D3838"/>
                </a:solidFill>
                <a:latin typeface="Aptos Narrow" panose="020B0004020202020204" pitchFamily="34" charset="0"/>
                <a:ea typeface="Source Sans 3" pitchFamily="34" charset="-122"/>
                <a:cs typeface="Source Sans 3" pitchFamily="34" charset="-120"/>
              </a:rPr>
              <a:t>gezielte</a:t>
            </a:r>
            <a:r>
              <a:rPr lang="en-US" sz="1600" dirty="0">
                <a:solidFill>
                  <a:srgbClr val="3D3838"/>
                </a:solidFill>
                <a:latin typeface="Aptos Narrow" panose="020B0004020202020204" pitchFamily="34" charset="0"/>
                <a:ea typeface="Source Sans 3" pitchFamily="34" charset="-122"/>
                <a:cs typeface="Source Sans 3" pitchFamily="34" charset="-120"/>
              </a:rPr>
              <a:t> </a:t>
            </a:r>
            <a:r>
              <a:rPr lang="en-US" sz="1600" dirty="0" err="1">
                <a:solidFill>
                  <a:srgbClr val="3D3838"/>
                </a:solidFill>
                <a:latin typeface="Aptos Narrow" panose="020B0004020202020204" pitchFamily="34" charset="0"/>
                <a:ea typeface="Source Sans 3" pitchFamily="34" charset="-122"/>
                <a:cs typeface="Source Sans 3" pitchFamily="34" charset="-120"/>
              </a:rPr>
              <a:t>Bereinigung</a:t>
            </a:r>
            <a:r>
              <a:rPr lang="en-US" sz="1600" dirty="0">
                <a:solidFill>
                  <a:srgbClr val="3D3838"/>
                </a:solidFill>
                <a:latin typeface="Aptos Narrow" panose="020B0004020202020204" pitchFamily="34" charset="0"/>
                <a:ea typeface="Source Sans 3" pitchFamily="34" charset="-122"/>
                <a:cs typeface="Source Sans 3" pitchFamily="34" charset="-120"/>
              </a:rPr>
              <a:t> </a:t>
            </a:r>
            <a:r>
              <a:rPr lang="en-US" sz="1600" dirty="0" err="1">
                <a:solidFill>
                  <a:srgbClr val="3D3838"/>
                </a:solidFill>
                <a:latin typeface="Aptos Narrow" panose="020B0004020202020204" pitchFamily="34" charset="0"/>
                <a:ea typeface="Source Sans 3" pitchFamily="34" charset="-122"/>
                <a:cs typeface="Source Sans 3" pitchFamily="34" charset="-120"/>
              </a:rPr>
              <a:t>nötig</a:t>
            </a:r>
            <a:r>
              <a:rPr lang="en-US" sz="1600" dirty="0">
                <a:solidFill>
                  <a:srgbClr val="3D3838"/>
                </a:solidFill>
                <a:latin typeface="Aptos Narrow" panose="020B0004020202020204" pitchFamily="34" charset="0"/>
                <a:ea typeface="Source Sans 3" pitchFamily="34" charset="-122"/>
                <a:cs typeface="Source Sans 3" pitchFamily="34" charset="-120"/>
              </a:rPr>
              <a:t> </a:t>
            </a:r>
            <a:r>
              <a:rPr lang="en-US" sz="1600" dirty="0" err="1">
                <a:solidFill>
                  <a:srgbClr val="3D3838"/>
                </a:solidFill>
                <a:latin typeface="Aptos Narrow" panose="020B0004020202020204" pitchFamily="34" charset="0"/>
                <a:ea typeface="Source Sans 3" pitchFamily="34" charset="-122"/>
                <a:cs typeface="Source Sans 3" pitchFamily="34" charset="-120"/>
              </a:rPr>
              <a:t>ist</a:t>
            </a:r>
            <a:r>
              <a:rPr lang="en-US" sz="1600" dirty="0">
                <a:solidFill>
                  <a:srgbClr val="3D3838"/>
                </a:solidFill>
                <a:latin typeface="Aptos Narrow" panose="020B0004020202020204" pitchFamily="34" charset="0"/>
                <a:ea typeface="Source Sans 3" pitchFamily="34" charset="-122"/>
                <a:cs typeface="Source Sans 3" pitchFamily="34" charset="-120"/>
              </a:rPr>
              <a:t>.</a:t>
            </a:r>
            <a:endParaRPr lang="en-US" sz="1600" dirty="0">
              <a:solidFill>
                <a:srgbClr val="3D3838"/>
              </a:solidFill>
              <a:latin typeface="Aptos Narrow" panose="020B0004020202020204" pitchFamily="34" charset="0"/>
            </a:endParaRPr>
          </a:p>
        </p:txBody>
      </p:sp>
      <p:sp>
        <p:nvSpPr>
          <p:cNvPr id="9" name="Textfeld 8">
            <a:extLst>
              <a:ext uri="{FF2B5EF4-FFF2-40B4-BE49-F238E27FC236}">
                <a16:creationId xmlns:a16="http://schemas.microsoft.com/office/drawing/2014/main" id="{B868852A-766C-00A0-2CC5-800E9880DD2E}"/>
              </a:ext>
            </a:extLst>
          </p:cNvPr>
          <p:cNvSpPr txBox="1"/>
          <p:nvPr/>
        </p:nvSpPr>
        <p:spPr>
          <a:xfrm>
            <a:off x="11764652" y="6454588"/>
            <a:ext cx="490101" cy="338554"/>
          </a:xfrm>
          <a:prstGeom prst="rect">
            <a:avLst/>
          </a:prstGeom>
          <a:noFill/>
        </p:spPr>
        <p:txBody>
          <a:bodyPr wrap="square" rtlCol="0">
            <a:spAutoFit/>
          </a:bodyPr>
          <a:lstStyle/>
          <a:p>
            <a:r>
              <a:rPr lang="de-DE" sz="1600" dirty="0">
                <a:solidFill>
                  <a:srgbClr val="3D3838"/>
                </a:solidFill>
                <a:latin typeface="Aptos Narrow" panose="020B0004020202020204" pitchFamily="34" charset="0"/>
              </a:rPr>
              <a:t>4</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19814" y="535136"/>
            <a:ext cx="10752067" cy="460077"/>
          </a:xfrm>
          <a:prstGeom prst="rect">
            <a:avLst/>
          </a:prstGeom>
          <a:noFill/>
          <a:ln/>
        </p:spPr>
        <p:txBody>
          <a:bodyPr wrap="none" lIns="0" tIns="0" rIns="0" bIns="0" rtlCol="0" anchor="t"/>
          <a:lstStyle/>
          <a:p>
            <a:pPr marL="0" indent="0" algn="l">
              <a:lnSpc>
                <a:spcPct val="104000"/>
              </a:lnSpc>
              <a:buNone/>
            </a:pPr>
            <a:r>
              <a:rPr lang="en-US" sz="3600" b="1" kern="0" spc="-29" dirty="0">
                <a:solidFill>
                  <a:srgbClr val="000000"/>
                </a:solidFill>
                <a:latin typeface="Aptos Narrow" panose="020B0004020202020204" pitchFamily="34" charset="0"/>
                <a:ea typeface="Montserrat Bold" pitchFamily="34" charset="-122"/>
                <a:cs typeface="Montserrat Bold" pitchFamily="34" charset="-120"/>
              </a:rPr>
              <a:t>Datenbereinigung</a:t>
            </a:r>
            <a:endParaRPr lang="en-US" sz="2850" dirty="0"/>
          </a:p>
        </p:txBody>
      </p:sp>
      <p:pic>
        <p:nvPicPr>
          <p:cNvPr id="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80435" y="1334417"/>
            <a:ext cx="242881" cy="242888"/>
          </a:xfrm>
          <a:prstGeom prst="rect">
            <a:avLst/>
          </a:prstGeom>
        </p:spPr>
      </p:pic>
      <p:sp>
        <p:nvSpPr>
          <p:cNvPr id="4" name="Text 1"/>
          <p:cNvSpPr/>
          <p:nvPr/>
        </p:nvSpPr>
        <p:spPr>
          <a:xfrm>
            <a:off x="1246057" y="1329406"/>
            <a:ext cx="5766846" cy="229989"/>
          </a:xfrm>
          <a:prstGeom prst="rect">
            <a:avLst/>
          </a:prstGeom>
          <a:noFill/>
          <a:ln/>
        </p:spPr>
        <p:txBody>
          <a:bodyPr wrap="none" lIns="0" tIns="0" rIns="0" bIns="0" rtlCol="0" anchor="t"/>
          <a:lstStyle/>
          <a:p>
            <a:pPr marL="0" indent="0" algn="l">
              <a:lnSpc>
                <a:spcPct val="104000"/>
              </a:lnSpc>
              <a:buNone/>
            </a:pPr>
            <a:r>
              <a:rPr lang="de-DE" b="1" kern="0" spc="-14" dirty="0">
                <a:solidFill>
                  <a:srgbClr val="3D3838"/>
                </a:solidFill>
                <a:latin typeface="Aptos Narrow" panose="020B0004020202020204" pitchFamily="34" charset="0"/>
                <a:ea typeface="Montserrat Bold" pitchFamily="34" charset="-122"/>
                <a:cs typeface="Montserrat Bold" pitchFamily="34" charset="-120"/>
              </a:rPr>
              <a:t>Reduktion auf </a:t>
            </a:r>
            <a:r>
              <a:rPr lang="de-DE" b="1" kern="0" spc="-14" dirty="0" err="1">
                <a:solidFill>
                  <a:srgbClr val="3D3838"/>
                </a:solidFill>
                <a:latin typeface="Aptos Narrow" panose="020B0004020202020204" pitchFamily="34" charset="0"/>
                <a:ea typeface="Montserrat Bold" pitchFamily="34" charset="-122"/>
                <a:cs typeface="Montserrat Bold" pitchFamily="34" charset="-120"/>
              </a:rPr>
              <a:t>analysis_df</a:t>
            </a:r>
            <a:endParaRPr lang="en-US" dirty="0"/>
          </a:p>
        </p:txBody>
      </p:sp>
      <p:sp>
        <p:nvSpPr>
          <p:cNvPr id="5" name="Text 2"/>
          <p:cNvSpPr/>
          <p:nvPr/>
        </p:nvSpPr>
        <p:spPr>
          <a:xfrm>
            <a:off x="1246057" y="1705148"/>
            <a:ext cx="5766846" cy="461764"/>
          </a:xfrm>
          <a:prstGeom prst="rect">
            <a:avLst/>
          </a:prstGeom>
          <a:noFill/>
          <a:ln/>
        </p:spPr>
        <p:txBody>
          <a:bodyPr wrap="square" lIns="0" tIns="0" rIns="0" bIns="0" rtlCol="0" anchor="t">
            <a:normAutofit/>
          </a:bodyPr>
          <a:lstStyle/>
          <a:p>
            <a:pPr marL="0" indent="0" algn="l">
              <a:lnSpc>
                <a:spcPct val="119000"/>
              </a:lnSpc>
              <a:buNone/>
            </a:pPr>
            <a:r>
              <a:rPr lang="de-DE" sz="1600" dirty="0">
                <a:solidFill>
                  <a:srgbClr val="3D3838"/>
                </a:solidFill>
                <a:latin typeface="Aptos Narrow" panose="020B0004020202020204" pitchFamily="34" charset="0"/>
                <a:ea typeface="Source Sans 3" pitchFamily="34" charset="-122"/>
                <a:cs typeface="Source Sans 3" pitchFamily="34" charset="-120"/>
              </a:rPr>
              <a:t>Von 43 auf zunächst 13 analyserelevante Attribute eingegrenzt</a:t>
            </a:r>
            <a:endParaRPr lang="en-US" sz="1600" dirty="0"/>
          </a:p>
        </p:txBody>
      </p:sp>
      <p:pic>
        <p:nvPicPr>
          <p:cNvPr id="6"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80435" y="2209012"/>
            <a:ext cx="242881" cy="242888"/>
          </a:xfrm>
          <a:prstGeom prst="rect">
            <a:avLst/>
          </a:prstGeom>
        </p:spPr>
      </p:pic>
      <p:sp>
        <p:nvSpPr>
          <p:cNvPr id="7" name="Text 3"/>
          <p:cNvSpPr/>
          <p:nvPr/>
        </p:nvSpPr>
        <p:spPr>
          <a:xfrm>
            <a:off x="1246057" y="2204002"/>
            <a:ext cx="5766846" cy="229989"/>
          </a:xfrm>
          <a:prstGeom prst="rect">
            <a:avLst/>
          </a:prstGeom>
          <a:noFill/>
          <a:ln/>
        </p:spPr>
        <p:txBody>
          <a:bodyPr wrap="none" lIns="0" tIns="0" rIns="0" bIns="0" rtlCol="0" anchor="t"/>
          <a:lstStyle/>
          <a:p>
            <a:pPr marL="0" indent="0" algn="l">
              <a:lnSpc>
                <a:spcPct val="104000"/>
              </a:lnSpc>
              <a:buNone/>
            </a:pPr>
            <a:r>
              <a:rPr lang="en-US" b="1" kern="0" spc="-14" dirty="0" err="1">
                <a:solidFill>
                  <a:srgbClr val="3D3838"/>
                </a:solidFill>
                <a:latin typeface="Aptos Narrow" panose="020B0004020202020204" pitchFamily="34" charset="0"/>
                <a:ea typeface="Montserrat Bold" pitchFamily="34" charset="-122"/>
                <a:cs typeface="Montserrat Bold" pitchFamily="34" charset="-120"/>
              </a:rPr>
              <a:t>Fehlende</a:t>
            </a:r>
            <a:r>
              <a:rPr lang="en-US" b="1" kern="0" spc="-14" dirty="0">
                <a:solidFill>
                  <a:srgbClr val="3D3838"/>
                </a:solidFill>
                <a:latin typeface="Aptos Narrow" panose="020B0004020202020204" pitchFamily="34" charset="0"/>
                <a:ea typeface="Montserrat Bold" pitchFamily="34" charset="-122"/>
                <a:cs typeface="Montserrat Bold" pitchFamily="34" charset="-120"/>
              </a:rPr>
              <a:t> </a:t>
            </a:r>
            <a:r>
              <a:rPr lang="en-US" b="1" kern="0" spc="-14" dirty="0" err="1">
                <a:solidFill>
                  <a:srgbClr val="3D3838"/>
                </a:solidFill>
                <a:latin typeface="Aptos Narrow" panose="020B0004020202020204" pitchFamily="34" charset="0"/>
                <a:ea typeface="Montserrat Bold" pitchFamily="34" charset="-122"/>
                <a:cs typeface="Montserrat Bold" pitchFamily="34" charset="-120"/>
              </a:rPr>
              <a:t>Werte</a:t>
            </a:r>
            <a:r>
              <a:rPr lang="en-US" b="1" kern="0" spc="-14" dirty="0">
                <a:solidFill>
                  <a:srgbClr val="3D3838"/>
                </a:solidFill>
                <a:latin typeface="Aptos Narrow" panose="020B0004020202020204" pitchFamily="34" charset="0"/>
                <a:ea typeface="Montserrat Bold" pitchFamily="34" charset="-122"/>
                <a:cs typeface="Montserrat Bold" pitchFamily="34" charset="-120"/>
              </a:rPr>
              <a:t> </a:t>
            </a:r>
            <a:r>
              <a:rPr lang="en-US" b="1" kern="0" spc="-14" dirty="0" err="1">
                <a:solidFill>
                  <a:srgbClr val="3D3838"/>
                </a:solidFill>
                <a:latin typeface="Aptos Narrow" panose="020B0004020202020204" pitchFamily="34" charset="0"/>
                <a:ea typeface="Montserrat Bold" pitchFamily="34" charset="-122"/>
                <a:cs typeface="Montserrat Bold" pitchFamily="34" charset="-120"/>
              </a:rPr>
              <a:t>ersetzt</a:t>
            </a:r>
            <a:endParaRPr lang="en-US" dirty="0"/>
          </a:p>
        </p:txBody>
      </p:sp>
      <p:sp>
        <p:nvSpPr>
          <p:cNvPr id="8" name="Text 4"/>
          <p:cNvSpPr/>
          <p:nvPr/>
        </p:nvSpPr>
        <p:spPr>
          <a:xfrm>
            <a:off x="1246057" y="2579742"/>
            <a:ext cx="5766846" cy="606623"/>
          </a:xfrm>
          <a:prstGeom prst="rect">
            <a:avLst/>
          </a:prstGeom>
          <a:noFill/>
          <a:ln/>
        </p:spPr>
        <p:txBody>
          <a:bodyPr wrap="none" lIns="0" tIns="0" rIns="0" bIns="0" rtlCol="0" anchor="t"/>
          <a:lstStyle/>
          <a:p>
            <a:pPr marL="0" indent="0" algn="l">
              <a:lnSpc>
                <a:spcPct val="114000"/>
              </a:lnSpc>
              <a:buNone/>
            </a:pPr>
            <a:r>
              <a:rPr lang="en-US" sz="1600" dirty="0" err="1">
                <a:solidFill>
                  <a:srgbClr val="3D3838"/>
                </a:solidFill>
                <a:latin typeface="Aptos Narrow" panose="020B0004020202020204" pitchFamily="34" charset="0"/>
                <a:ea typeface="Source Sans 3" pitchFamily="34" charset="-122"/>
                <a:cs typeface="Source Sans 3" pitchFamily="34" charset="-120"/>
              </a:rPr>
              <a:t>Aussagekräftige</a:t>
            </a:r>
            <a:r>
              <a:rPr lang="en-US" sz="1600" dirty="0">
                <a:solidFill>
                  <a:srgbClr val="3D3838"/>
                </a:solidFill>
                <a:latin typeface="Aptos Narrow" panose="020B0004020202020204" pitchFamily="34" charset="0"/>
                <a:ea typeface="Source Sans 3" pitchFamily="34" charset="-122"/>
                <a:cs typeface="Source Sans 3" pitchFamily="34" charset="-120"/>
              </a:rPr>
              <a:t> </a:t>
            </a:r>
            <a:r>
              <a:rPr lang="en-US" sz="1600" dirty="0" err="1">
                <a:solidFill>
                  <a:srgbClr val="3D3838"/>
                </a:solidFill>
                <a:latin typeface="Aptos Narrow" panose="020B0004020202020204" pitchFamily="34" charset="0"/>
                <a:ea typeface="Source Sans 3" pitchFamily="34" charset="-122"/>
                <a:cs typeface="Source Sans 3" pitchFamily="34" charset="-120"/>
              </a:rPr>
              <a:t>Platzhalter</a:t>
            </a:r>
            <a:r>
              <a:rPr lang="en-US" sz="1600" dirty="0">
                <a:solidFill>
                  <a:srgbClr val="3D3838"/>
                </a:solidFill>
                <a:latin typeface="Aptos Narrow" panose="020B0004020202020204" pitchFamily="34" charset="0"/>
                <a:ea typeface="Source Sans 3" pitchFamily="34" charset="-122"/>
                <a:cs typeface="Source Sans 3" pitchFamily="34" charset="-120"/>
              </a:rPr>
              <a:t> </a:t>
            </a:r>
            <a:r>
              <a:rPr lang="en-US" sz="1600" dirty="0" err="1">
                <a:solidFill>
                  <a:srgbClr val="3D3838"/>
                </a:solidFill>
                <a:latin typeface="Aptos Narrow" panose="020B0004020202020204" pitchFamily="34" charset="0"/>
                <a:ea typeface="Source Sans 3" pitchFamily="34" charset="-122"/>
                <a:cs typeface="Source Sans 3" pitchFamily="34" charset="-120"/>
              </a:rPr>
              <a:t>statt</a:t>
            </a:r>
            <a:r>
              <a:rPr lang="en-US" sz="1600" dirty="0">
                <a:solidFill>
                  <a:srgbClr val="3D3838"/>
                </a:solidFill>
                <a:latin typeface="Aptos Narrow" panose="020B0004020202020204" pitchFamily="34" charset="0"/>
                <a:ea typeface="Source Sans 3" pitchFamily="34" charset="-122"/>
                <a:cs typeface="Source Sans 3" pitchFamily="34" charset="-120"/>
              </a:rPr>
              <a:t> </a:t>
            </a:r>
            <a:r>
              <a:rPr lang="en-US" sz="1600" dirty="0" err="1">
                <a:solidFill>
                  <a:srgbClr val="3D3838"/>
                </a:solidFill>
                <a:latin typeface="Aptos Narrow" panose="020B0004020202020204" pitchFamily="34" charset="0"/>
                <a:ea typeface="Source Sans 3" pitchFamily="34" charset="-122"/>
                <a:cs typeface="Source Sans 3" pitchFamily="34" charset="-120"/>
              </a:rPr>
              <a:t>Zeilenlöschung</a:t>
            </a:r>
            <a:r>
              <a:rPr lang="en-US" sz="1600" dirty="0">
                <a:solidFill>
                  <a:srgbClr val="3D3838"/>
                </a:solidFill>
                <a:latin typeface="Aptos Narrow" panose="020B0004020202020204" pitchFamily="34" charset="0"/>
                <a:ea typeface="Source Sans 3" pitchFamily="34" charset="-122"/>
                <a:cs typeface="Source Sans 3" pitchFamily="34" charset="-120"/>
              </a:rPr>
              <a:t> – </a:t>
            </a:r>
          </a:p>
          <a:p>
            <a:pPr marL="0" indent="0" algn="l">
              <a:lnSpc>
                <a:spcPct val="114000"/>
              </a:lnSpc>
              <a:buNone/>
            </a:pPr>
            <a:r>
              <a:rPr lang="en-US" sz="1600" dirty="0">
                <a:solidFill>
                  <a:srgbClr val="3D3838"/>
                </a:solidFill>
                <a:latin typeface="Aptos Narrow" panose="020B0004020202020204" pitchFamily="34" charset="0"/>
                <a:ea typeface="Source Sans 3" pitchFamily="34" charset="-122"/>
                <a:cs typeface="Source Sans 3" pitchFamily="34" charset="-120"/>
              </a:rPr>
              <a:t>z. B. Country → „unspecified“, Classification → „unclassified“</a:t>
            </a:r>
          </a:p>
        </p:txBody>
      </p:sp>
      <p:pic>
        <p:nvPicPr>
          <p:cNvPr id="9"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80535" y="3363023"/>
            <a:ext cx="242881" cy="242888"/>
          </a:xfrm>
          <a:prstGeom prst="rect">
            <a:avLst/>
          </a:prstGeom>
        </p:spPr>
      </p:pic>
      <p:sp>
        <p:nvSpPr>
          <p:cNvPr id="10" name="Text 5"/>
          <p:cNvSpPr/>
          <p:nvPr/>
        </p:nvSpPr>
        <p:spPr>
          <a:xfrm>
            <a:off x="1246157" y="3358013"/>
            <a:ext cx="5766846" cy="229989"/>
          </a:xfrm>
          <a:prstGeom prst="rect">
            <a:avLst/>
          </a:prstGeom>
          <a:noFill/>
          <a:ln/>
        </p:spPr>
        <p:txBody>
          <a:bodyPr wrap="none" lIns="0" tIns="0" rIns="0" bIns="0" rtlCol="0" anchor="t"/>
          <a:lstStyle/>
          <a:p>
            <a:pPr marL="0" indent="0" algn="l">
              <a:lnSpc>
                <a:spcPct val="104000"/>
              </a:lnSpc>
              <a:buNone/>
            </a:pPr>
            <a:r>
              <a:rPr lang="en-US" b="1" kern="0" spc="-14" dirty="0">
                <a:solidFill>
                  <a:srgbClr val="3D3838"/>
                </a:solidFill>
                <a:latin typeface="Aptos Narrow" panose="020B0004020202020204" pitchFamily="34" charset="0"/>
                <a:ea typeface="Montserrat Bold" pitchFamily="34" charset="-122"/>
                <a:cs typeface="Montserrat Bold" pitchFamily="34" charset="-120"/>
              </a:rPr>
              <a:t>Classification </a:t>
            </a:r>
            <a:r>
              <a:rPr lang="en-US" b="1" kern="0" spc="-14" dirty="0" err="1">
                <a:solidFill>
                  <a:srgbClr val="3D3838"/>
                </a:solidFill>
                <a:latin typeface="Aptos Narrow" panose="020B0004020202020204" pitchFamily="34" charset="0"/>
                <a:ea typeface="Montserrat Bold" pitchFamily="34" charset="-122"/>
                <a:cs typeface="Montserrat Bold" pitchFamily="34" charset="-120"/>
              </a:rPr>
              <a:t>bereinigt</a:t>
            </a:r>
            <a:endParaRPr lang="en-US" dirty="0"/>
          </a:p>
        </p:txBody>
      </p:sp>
      <p:sp>
        <p:nvSpPr>
          <p:cNvPr id="11" name="Text 6"/>
          <p:cNvSpPr/>
          <p:nvPr/>
        </p:nvSpPr>
        <p:spPr>
          <a:xfrm>
            <a:off x="1246157" y="3733754"/>
            <a:ext cx="5766846" cy="230882"/>
          </a:xfrm>
          <a:prstGeom prst="rect">
            <a:avLst/>
          </a:prstGeom>
          <a:noFill/>
          <a:ln/>
        </p:spPr>
        <p:txBody>
          <a:bodyPr wrap="none" lIns="0" tIns="0" rIns="0" bIns="0" rtlCol="0" anchor="t"/>
          <a:lstStyle/>
          <a:p>
            <a:pPr marL="0" indent="0" algn="l">
              <a:lnSpc>
                <a:spcPct val="119000"/>
              </a:lnSpc>
              <a:buNone/>
            </a:pPr>
            <a:r>
              <a:rPr lang="de-DE" sz="1600" dirty="0">
                <a:solidFill>
                  <a:srgbClr val="3D3838"/>
                </a:solidFill>
                <a:latin typeface="Aptos Narrow" panose="020B0004020202020204" pitchFamily="34" charset="0"/>
                <a:ea typeface="Source Sans 3" pitchFamily="34" charset="-122"/>
                <a:cs typeface="Source Sans 3" pitchFamily="34" charset="-120"/>
              </a:rPr>
              <a:t>Mehrfachwerte (Trennzeichen „|") auf erste Kategorie reduziert</a:t>
            </a:r>
            <a:endParaRPr lang="en-US" sz="1600" dirty="0"/>
          </a:p>
        </p:txBody>
      </p:sp>
      <p:pic>
        <p:nvPicPr>
          <p:cNvPr id="12" name="Image 3"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80435" y="4246977"/>
            <a:ext cx="242881" cy="242888"/>
          </a:xfrm>
          <a:prstGeom prst="rect">
            <a:avLst/>
          </a:prstGeom>
        </p:spPr>
      </p:pic>
      <p:sp>
        <p:nvSpPr>
          <p:cNvPr id="13" name="Text 7"/>
          <p:cNvSpPr/>
          <p:nvPr/>
        </p:nvSpPr>
        <p:spPr>
          <a:xfrm>
            <a:off x="1246057" y="4241967"/>
            <a:ext cx="5766846" cy="229989"/>
          </a:xfrm>
          <a:prstGeom prst="rect">
            <a:avLst/>
          </a:prstGeom>
          <a:noFill/>
          <a:ln/>
        </p:spPr>
        <p:txBody>
          <a:bodyPr wrap="none" lIns="0" tIns="0" rIns="0" bIns="0" rtlCol="0" anchor="t"/>
          <a:lstStyle/>
          <a:p>
            <a:r>
              <a:rPr lang="de-DE" b="1" dirty="0">
                <a:solidFill>
                  <a:srgbClr val="3D3838"/>
                </a:solidFill>
                <a:latin typeface="Aptos Narrow" panose="020B0004020202020204" pitchFamily="34" charset="0"/>
              </a:rPr>
              <a:t>Fehlerhafter Datierungsbeginn</a:t>
            </a:r>
            <a:endParaRPr lang="en-US" b="1" dirty="0">
              <a:solidFill>
                <a:srgbClr val="3D3838"/>
              </a:solidFill>
              <a:latin typeface="Aptos Narrow" panose="020B0004020202020204" pitchFamily="34" charset="0"/>
            </a:endParaRPr>
          </a:p>
        </p:txBody>
      </p:sp>
      <p:sp>
        <p:nvSpPr>
          <p:cNvPr id="14" name="Text 8"/>
          <p:cNvSpPr/>
          <p:nvPr/>
        </p:nvSpPr>
        <p:spPr>
          <a:xfrm>
            <a:off x="1246057" y="4617707"/>
            <a:ext cx="5038103" cy="1002309"/>
          </a:xfrm>
          <a:prstGeom prst="rect">
            <a:avLst/>
          </a:prstGeom>
          <a:noFill/>
          <a:ln/>
        </p:spPr>
        <p:txBody>
          <a:bodyPr wrap="none" lIns="0" tIns="0" rIns="0" bIns="0" rtlCol="0" anchor="t"/>
          <a:lstStyle/>
          <a:p>
            <a:pPr marL="0" indent="0" algn="l">
              <a:lnSpc>
                <a:spcPct val="119000"/>
              </a:lnSpc>
              <a:buNone/>
            </a:pPr>
            <a:r>
              <a:rPr lang="de-DE" sz="1600" dirty="0">
                <a:solidFill>
                  <a:srgbClr val="3D3838"/>
                </a:solidFill>
                <a:latin typeface="Aptos Narrow" panose="020B0004020202020204" pitchFamily="34" charset="0"/>
                <a:ea typeface="Source Sans 3" pitchFamily="34" charset="-122"/>
                <a:cs typeface="Source Sans 3" pitchFamily="34" charset="-120"/>
              </a:rPr>
              <a:t>Zwei Objekte entfernt, ein Datensatz korrigiert („18591861" → 1859)</a:t>
            </a:r>
            <a:endParaRPr lang="en-US" sz="1600" dirty="0"/>
          </a:p>
        </p:txBody>
      </p:sp>
      <p:sp>
        <p:nvSpPr>
          <p:cNvPr id="15" name="Shape 9"/>
          <p:cNvSpPr/>
          <p:nvPr/>
        </p:nvSpPr>
        <p:spPr>
          <a:xfrm>
            <a:off x="719814" y="5213648"/>
            <a:ext cx="6293189" cy="805061"/>
          </a:xfrm>
          <a:prstGeom prst="roundRect">
            <a:avLst>
              <a:gd name="adj" fmla="val 3018"/>
            </a:avLst>
          </a:prstGeom>
          <a:solidFill>
            <a:srgbClr val="FDECEA"/>
          </a:solidFill>
          <a:ln/>
        </p:spPr>
        <p:txBody>
          <a:bodyPr/>
          <a:lstStyle/>
          <a:p>
            <a:endParaRPr lang="de-DE"/>
          </a:p>
        </p:txBody>
      </p:sp>
      <p:pic>
        <p:nvPicPr>
          <p:cNvPr id="16" name="Image 4" descr="preencoded.png"/>
          <p:cNvPicPr>
            <a:picLocks noChangeAspect="1"/>
          </p:cNvPicPr>
          <p:nvPr/>
        </p:nvPicPr>
        <p:blipFill>
          <a:blip r:embed="rId4"/>
          <a:stretch>
            <a:fillRect/>
          </a:stretch>
        </p:blipFill>
        <p:spPr>
          <a:xfrm>
            <a:off x="881835" y="5522814"/>
            <a:ext cx="202401" cy="161925"/>
          </a:xfrm>
          <a:prstGeom prst="rect">
            <a:avLst/>
          </a:prstGeom>
        </p:spPr>
      </p:pic>
      <p:sp>
        <p:nvSpPr>
          <p:cNvPr id="17" name="Text 10"/>
          <p:cNvSpPr/>
          <p:nvPr/>
        </p:nvSpPr>
        <p:spPr>
          <a:xfrm>
            <a:off x="1246157" y="5339770"/>
            <a:ext cx="5605025" cy="712306"/>
          </a:xfrm>
          <a:prstGeom prst="rect">
            <a:avLst/>
          </a:prstGeom>
          <a:noFill/>
          <a:ln/>
        </p:spPr>
        <p:txBody>
          <a:bodyPr wrap="square" lIns="0" tIns="0" rIns="0" bIns="0" rtlCol="0" anchor="t">
            <a:normAutofit/>
          </a:bodyPr>
          <a:lstStyle/>
          <a:p>
            <a:pPr marL="0" indent="0" algn="l">
              <a:lnSpc>
                <a:spcPct val="114000"/>
              </a:lnSpc>
              <a:buNone/>
            </a:pPr>
            <a:r>
              <a:rPr lang="de-DE" sz="1600" dirty="0">
                <a:solidFill>
                  <a:srgbClr val="000000"/>
                </a:solidFill>
                <a:latin typeface="Aptos Narrow" panose="020B0004020202020204" pitchFamily="34" charset="0"/>
                <a:ea typeface="Source Sans 3" pitchFamily="34" charset="-122"/>
                <a:cs typeface="Source Sans 3" pitchFamily="34" charset="-120"/>
              </a:rPr>
              <a:t>Regelbasierte Bereinigung schafft eine konsistente, belastbare Datengrundlage für die weitere Analyse.</a:t>
            </a:r>
            <a:endParaRPr lang="en-US" sz="1600" dirty="0"/>
          </a:p>
        </p:txBody>
      </p:sp>
      <p:pic>
        <p:nvPicPr>
          <p:cNvPr id="18" name="Image 5" descr="preencoded.png"/>
          <p:cNvPicPr>
            <a:picLocks noChangeAspect="1"/>
          </p:cNvPicPr>
          <p:nvPr/>
        </p:nvPicPr>
        <p:blipFill>
          <a:blip r:embed="rId5"/>
          <a:stretch>
            <a:fillRect/>
          </a:stretch>
        </p:blipFill>
        <p:spPr>
          <a:xfrm>
            <a:off x="7539146" y="1529312"/>
            <a:ext cx="3657310" cy="3657402"/>
          </a:xfrm>
          <a:prstGeom prst="rect">
            <a:avLst/>
          </a:prstGeom>
        </p:spPr>
      </p:pic>
      <p:sp>
        <p:nvSpPr>
          <p:cNvPr id="20" name="Textfeld 19">
            <a:extLst>
              <a:ext uri="{FF2B5EF4-FFF2-40B4-BE49-F238E27FC236}">
                <a16:creationId xmlns:a16="http://schemas.microsoft.com/office/drawing/2014/main" id="{39E59A4C-E6AD-DBBE-373C-F23D1D7A02C7}"/>
              </a:ext>
            </a:extLst>
          </p:cNvPr>
          <p:cNvSpPr txBox="1"/>
          <p:nvPr/>
        </p:nvSpPr>
        <p:spPr>
          <a:xfrm>
            <a:off x="11764652" y="6454588"/>
            <a:ext cx="490101" cy="338554"/>
          </a:xfrm>
          <a:prstGeom prst="rect">
            <a:avLst/>
          </a:prstGeom>
          <a:noFill/>
        </p:spPr>
        <p:txBody>
          <a:bodyPr wrap="square" rtlCol="0">
            <a:spAutoFit/>
          </a:bodyPr>
          <a:lstStyle/>
          <a:p>
            <a:r>
              <a:rPr lang="de-DE" sz="1600" dirty="0">
                <a:solidFill>
                  <a:srgbClr val="3D3838"/>
                </a:solidFill>
                <a:latin typeface="Aptos Narrow" panose="020B0004020202020204" pitchFamily="34" charset="0"/>
              </a:rPr>
              <a:t>5</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19814" y="508497"/>
            <a:ext cx="10752067" cy="511274"/>
          </a:xfrm>
          <a:prstGeom prst="rect">
            <a:avLst/>
          </a:prstGeom>
          <a:noFill/>
          <a:ln/>
        </p:spPr>
        <p:txBody>
          <a:bodyPr wrap="none" lIns="0" tIns="0" rIns="0" bIns="0" rtlCol="0" anchor="t"/>
          <a:lstStyle/>
          <a:p>
            <a:pPr marL="0" indent="0" algn="l">
              <a:lnSpc>
                <a:spcPct val="104000"/>
              </a:lnSpc>
              <a:buNone/>
            </a:pPr>
            <a:r>
              <a:rPr lang="en-US" sz="3600" b="1" kern="0" spc="-32" dirty="0">
                <a:solidFill>
                  <a:srgbClr val="000000"/>
                </a:solidFill>
                <a:latin typeface="Aptos Narrow" panose="020B0004020202020204" pitchFamily="34" charset="0"/>
                <a:ea typeface="Montserrat Bold" pitchFamily="34" charset="-122"/>
                <a:cs typeface="Montserrat Bold" pitchFamily="34" charset="-120"/>
              </a:rPr>
              <a:t>Feature Engineering</a:t>
            </a:r>
            <a:endParaRPr lang="en-US" sz="3600" dirty="0"/>
          </a:p>
        </p:txBody>
      </p:sp>
      <p:pic>
        <p:nvPicPr>
          <p:cNvPr id="3" name="Image 0" descr="preencoded.png"/>
          <p:cNvPicPr>
            <a:picLocks noChangeAspect="1"/>
          </p:cNvPicPr>
          <p:nvPr/>
        </p:nvPicPr>
        <p:blipFill>
          <a:blip r:embed="rId3"/>
          <a:stretch>
            <a:fillRect/>
          </a:stretch>
        </p:blipFill>
        <p:spPr>
          <a:xfrm>
            <a:off x="719814" y="1692034"/>
            <a:ext cx="4037308" cy="4037409"/>
          </a:xfrm>
          <a:prstGeom prst="rect">
            <a:avLst/>
          </a:prstGeom>
        </p:spPr>
      </p:pic>
      <p:sp>
        <p:nvSpPr>
          <p:cNvPr id="4" name="Text 1"/>
          <p:cNvSpPr/>
          <p:nvPr/>
        </p:nvSpPr>
        <p:spPr>
          <a:xfrm>
            <a:off x="5202603" y="1680535"/>
            <a:ext cx="6562050" cy="4515187"/>
          </a:xfrm>
          <a:prstGeom prst="rect">
            <a:avLst/>
          </a:prstGeom>
          <a:noFill/>
          <a:ln/>
        </p:spPr>
        <p:txBody>
          <a:bodyPr wrap="square" lIns="0" tIns="0" rIns="0" bIns="0" rtlCol="0" anchor="t">
            <a:normAutofit/>
          </a:bodyPr>
          <a:lstStyle/>
          <a:p>
            <a:pPr marL="284480" indent="-284480" algn="l">
              <a:lnSpc>
                <a:spcPct val="114000"/>
              </a:lnSpc>
              <a:buSzPct val="100000"/>
              <a:buChar char="•"/>
            </a:pPr>
            <a:r>
              <a:rPr lang="en-US" b="1" dirty="0" err="1">
                <a:solidFill>
                  <a:srgbClr val="3D3838"/>
                </a:solidFill>
                <a:latin typeface="Aptos Narrow" panose="020B0004020202020204" pitchFamily="34" charset="0"/>
                <a:ea typeface="Source Sans 3 Bold" pitchFamily="34" charset="-122"/>
                <a:cs typeface="Source Sans 3 Bold" pitchFamily="34" charset="-120"/>
              </a:rPr>
              <a:t>country_clean</a:t>
            </a:r>
            <a:r>
              <a:rPr lang="en-US" b="1" dirty="0">
                <a:solidFill>
                  <a:srgbClr val="3D3838"/>
                </a:solidFill>
                <a:latin typeface="Aptos Narrow" panose="020B0004020202020204" pitchFamily="34" charset="0"/>
                <a:ea typeface="Source Sans 3 Bold" pitchFamily="34" charset="-122"/>
                <a:cs typeface="Source Sans 3 Bold" pitchFamily="34" charset="-120"/>
              </a:rPr>
              <a:t> &amp; </a:t>
            </a:r>
            <a:r>
              <a:rPr lang="en-US" b="1" dirty="0" err="1">
                <a:solidFill>
                  <a:srgbClr val="3D3838"/>
                </a:solidFill>
                <a:latin typeface="Aptos Narrow" panose="020B0004020202020204" pitchFamily="34" charset="0"/>
                <a:ea typeface="Source Sans 3 Bold" pitchFamily="34" charset="-122"/>
                <a:cs typeface="Source Sans 3 Bold" pitchFamily="34" charset="-120"/>
              </a:rPr>
              <a:t>world_region</a:t>
            </a:r>
            <a:r>
              <a:rPr lang="en-US" b="1" dirty="0">
                <a:solidFill>
                  <a:srgbClr val="3D3838"/>
                </a:solidFill>
                <a:latin typeface="Aptos Narrow" panose="020B0004020202020204" pitchFamily="34" charset="0"/>
                <a:ea typeface="Source Sans 3 Bold" pitchFamily="34" charset="-122"/>
                <a:cs typeface="Source Sans 3 Bold" pitchFamily="34" charset="-120"/>
              </a:rPr>
              <a:t>: </a:t>
            </a:r>
            <a:r>
              <a:rPr lang="en-US" dirty="0" err="1">
                <a:solidFill>
                  <a:srgbClr val="3D3838"/>
                </a:solidFill>
                <a:latin typeface="Aptos Narrow" panose="020B0004020202020204" pitchFamily="34" charset="0"/>
                <a:ea typeface="Source Sans 3 Bold" pitchFamily="34" charset="-122"/>
                <a:cs typeface="Source Sans 3 Bold" pitchFamily="34" charset="-120"/>
              </a:rPr>
              <a:t>Herkunftsangaben</a:t>
            </a:r>
            <a:r>
              <a:rPr lang="en-US" dirty="0">
                <a:solidFill>
                  <a:srgbClr val="3D3838"/>
                </a:solidFill>
                <a:latin typeface="Aptos Narrow" panose="020B0004020202020204" pitchFamily="34" charset="0"/>
                <a:ea typeface="Source Sans 3 Bold" pitchFamily="34" charset="-122"/>
                <a:cs typeface="Source Sans 3 Bold" pitchFamily="34" charset="-120"/>
              </a:rPr>
              <a:t> </a:t>
            </a:r>
            <a:r>
              <a:rPr lang="en-US" dirty="0" err="1">
                <a:solidFill>
                  <a:srgbClr val="3D3838"/>
                </a:solidFill>
                <a:latin typeface="Aptos Narrow" panose="020B0004020202020204" pitchFamily="34" charset="0"/>
                <a:ea typeface="Source Sans 3 Bold" pitchFamily="34" charset="-122"/>
                <a:cs typeface="Source Sans 3 Bold" pitchFamily="34" charset="-120"/>
              </a:rPr>
              <a:t>vereinheitlicht</a:t>
            </a:r>
            <a:r>
              <a:rPr lang="en-US" dirty="0">
                <a:solidFill>
                  <a:srgbClr val="3D3838"/>
                </a:solidFill>
                <a:latin typeface="Aptos Narrow" panose="020B0004020202020204" pitchFamily="34" charset="0"/>
                <a:ea typeface="Source Sans 3 Bold" pitchFamily="34" charset="-122"/>
                <a:cs typeface="Source Sans 3 Bold" pitchFamily="34" charset="-120"/>
              </a:rPr>
              <a:t> und auf </a:t>
            </a:r>
            <a:r>
              <a:rPr lang="en-US" dirty="0" err="1">
                <a:solidFill>
                  <a:srgbClr val="3D3838"/>
                </a:solidFill>
                <a:latin typeface="Aptos Narrow" panose="020B0004020202020204" pitchFamily="34" charset="0"/>
                <a:ea typeface="Source Sans 3 Bold" pitchFamily="34" charset="-122"/>
                <a:cs typeface="Source Sans 3 Bold" pitchFamily="34" charset="-120"/>
              </a:rPr>
              <a:t>Weltregionen</a:t>
            </a:r>
            <a:r>
              <a:rPr lang="en-US" dirty="0">
                <a:solidFill>
                  <a:srgbClr val="3D3838"/>
                </a:solidFill>
                <a:latin typeface="Aptos Narrow" panose="020B0004020202020204" pitchFamily="34" charset="0"/>
                <a:ea typeface="Source Sans 3 Bold" pitchFamily="34" charset="-122"/>
                <a:cs typeface="Source Sans 3 Bold" pitchFamily="34" charset="-120"/>
              </a:rPr>
              <a:t> </a:t>
            </a:r>
            <a:r>
              <a:rPr lang="en-US" dirty="0" err="1">
                <a:solidFill>
                  <a:srgbClr val="3D3838"/>
                </a:solidFill>
                <a:latin typeface="Aptos Narrow" panose="020B0004020202020204" pitchFamily="34" charset="0"/>
                <a:ea typeface="Source Sans 3 Bold" pitchFamily="34" charset="-122"/>
                <a:cs typeface="Source Sans 3 Bold" pitchFamily="34" charset="-120"/>
              </a:rPr>
              <a:t>gemappt</a:t>
            </a:r>
            <a:r>
              <a:rPr lang="en-US" dirty="0">
                <a:solidFill>
                  <a:srgbClr val="3D3838"/>
                </a:solidFill>
                <a:latin typeface="Aptos Narrow" panose="020B0004020202020204" pitchFamily="34" charset="0"/>
                <a:ea typeface="Source Sans 3 Bold" pitchFamily="34" charset="-122"/>
                <a:cs typeface="Source Sans 3 Bold" pitchFamily="34" charset="-120"/>
              </a:rPr>
              <a:t> (Europa, </a:t>
            </a:r>
            <a:r>
              <a:rPr lang="en-US" dirty="0" err="1">
                <a:solidFill>
                  <a:srgbClr val="3D3838"/>
                </a:solidFill>
                <a:latin typeface="Aptos Narrow" panose="020B0004020202020204" pitchFamily="34" charset="0"/>
                <a:ea typeface="Source Sans 3 Bold" pitchFamily="34" charset="-122"/>
                <a:cs typeface="Source Sans 3 Bold" pitchFamily="34" charset="-120"/>
              </a:rPr>
              <a:t>Asien</a:t>
            </a:r>
            <a:r>
              <a:rPr lang="en-US" dirty="0">
                <a:solidFill>
                  <a:srgbClr val="3D3838"/>
                </a:solidFill>
                <a:latin typeface="Aptos Narrow" panose="020B0004020202020204" pitchFamily="34" charset="0"/>
                <a:ea typeface="Source Sans 3 Bold" pitchFamily="34" charset="-122"/>
                <a:cs typeface="Source Sans 3 Bold" pitchFamily="34" charset="-120"/>
              </a:rPr>
              <a:t> </a:t>
            </a:r>
            <a:r>
              <a:rPr lang="en-US" dirty="0" err="1">
                <a:solidFill>
                  <a:srgbClr val="3D3838"/>
                </a:solidFill>
                <a:latin typeface="Aptos Narrow" panose="020B0004020202020204" pitchFamily="34" charset="0"/>
                <a:ea typeface="Source Sans 3 Bold" pitchFamily="34" charset="-122"/>
                <a:cs typeface="Source Sans 3 Bold" pitchFamily="34" charset="-120"/>
              </a:rPr>
              <a:t>usw</a:t>
            </a:r>
            <a:r>
              <a:rPr lang="en-US" dirty="0">
                <a:solidFill>
                  <a:srgbClr val="3D3838"/>
                </a:solidFill>
                <a:latin typeface="Aptos Narrow" panose="020B0004020202020204" pitchFamily="34" charset="0"/>
                <a:ea typeface="Source Sans 3 Bold" pitchFamily="34" charset="-122"/>
                <a:cs typeface="Source Sans 3 Bold" pitchFamily="34" charset="-120"/>
              </a:rPr>
              <a:t>.)</a:t>
            </a:r>
          </a:p>
          <a:p>
            <a:pPr marL="284480" indent="-284480" algn="l">
              <a:lnSpc>
                <a:spcPct val="114000"/>
              </a:lnSpc>
              <a:buSzPct val="100000"/>
              <a:buChar char="•"/>
            </a:pPr>
            <a:r>
              <a:rPr lang="en-US" b="1" dirty="0" err="1">
                <a:solidFill>
                  <a:srgbClr val="3D3838"/>
                </a:solidFill>
                <a:latin typeface="Aptos Narrow" panose="020B0004020202020204" pitchFamily="34" charset="0"/>
                <a:ea typeface="Source Sans 3 Bold" pitchFamily="34" charset="-122"/>
                <a:cs typeface="Source Sans 3 Bold" pitchFamily="34" charset="-120"/>
              </a:rPr>
              <a:t>begin_century</a:t>
            </a:r>
            <a:r>
              <a:rPr lang="en-US" b="1" dirty="0">
                <a:solidFill>
                  <a:srgbClr val="3D3838"/>
                </a:solidFill>
                <a:latin typeface="Aptos Narrow" panose="020B0004020202020204" pitchFamily="34" charset="0"/>
                <a:ea typeface="Source Sans 3 Bold" pitchFamily="34" charset="-122"/>
                <a:cs typeface="Source Sans 3 Bold" pitchFamily="34" charset="-120"/>
              </a:rPr>
              <a:t> </a:t>
            </a:r>
            <a:r>
              <a:rPr lang="en-US" dirty="0" err="1">
                <a:solidFill>
                  <a:srgbClr val="3D3838"/>
                </a:solidFill>
                <a:latin typeface="Aptos Narrow" panose="020B0004020202020204" pitchFamily="34" charset="0"/>
                <a:ea typeface="Source Sans 3 Bold" pitchFamily="34" charset="-122"/>
                <a:cs typeface="Source Sans 3 Bold" pitchFamily="34" charset="-120"/>
              </a:rPr>
              <a:t>ordnet</a:t>
            </a:r>
            <a:r>
              <a:rPr lang="en-US" dirty="0">
                <a:solidFill>
                  <a:srgbClr val="3D3838"/>
                </a:solidFill>
                <a:latin typeface="Aptos Narrow" panose="020B0004020202020204" pitchFamily="34" charset="0"/>
                <a:ea typeface="Source Sans 3 Bold" pitchFamily="34" charset="-122"/>
                <a:cs typeface="Source Sans 3 Bold" pitchFamily="34" charset="-120"/>
              </a:rPr>
              <a:t> den </a:t>
            </a:r>
            <a:r>
              <a:rPr lang="en-US" dirty="0" err="1">
                <a:solidFill>
                  <a:srgbClr val="3D3838"/>
                </a:solidFill>
                <a:latin typeface="Aptos Narrow" panose="020B0004020202020204" pitchFamily="34" charset="0"/>
                <a:ea typeface="Source Sans 3 Bold" pitchFamily="34" charset="-122"/>
                <a:cs typeface="Source Sans 3 Bold" pitchFamily="34" charset="-120"/>
              </a:rPr>
              <a:t>Datierungsbeginn</a:t>
            </a:r>
            <a:r>
              <a:rPr lang="en-US" dirty="0">
                <a:solidFill>
                  <a:srgbClr val="3D3838"/>
                </a:solidFill>
                <a:latin typeface="Aptos Narrow" panose="020B0004020202020204" pitchFamily="34" charset="0"/>
                <a:ea typeface="Source Sans 3 Bold" pitchFamily="34" charset="-122"/>
                <a:cs typeface="Source Sans 3 Bold" pitchFamily="34" charset="-120"/>
              </a:rPr>
              <a:t> </a:t>
            </a:r>
            <a:r>
              <a:rPr lang="en-US" dirty="0" err="1">
                <a:solidFill>
                  <a:srgbClr val="3D3838"/>
                </a:solidFill>
                <a:latin typeface="Aptos Narrow" panose="020B0004020202020204" pitchFamily="34" charset="0"/>
                <a:ea typeface="Source Sans 3 Bold" pitchFamily="34" charset="-122"/>
                <a:cs typeface="Source Sans 3 Bold" pitchFamily="34" charset="-120"/>
              </a:rPr>
              <a:t>einem</a:t>
            </a:r>
            <a:r>
              <a:rPr lang="en-US" dirty="0">
                <a:solidFill>
                  <a:srgbClr val="3D3838"/>
                </a:solidFill>
                <a:latin typeface="Aptos Narrow" panose="020B0004020202020204" pitchFamily="34" charset="0"/>
                <a:ea typeface="Source Sans 3 Bold" pitchFamily="34" charset="-122"/>
                <a:cs typeface="Source Sans 3 Bold" pitchFamily="34" charset="-120"/>
              </a:rPr>
              <a:t> </a:t>
            </a:r>
            <a:r>
              <a:rPr lang="en-US" dirty="0" err="1">
                <a:solidFill>
                  <a:srgbClr val="3D3838"/>
                </a:solidFill>
                <a:latin typeface="Aptos Narrow" panose="020B0004020202020204" pitchFamily="34" charset="0"/>
                <a:ea typeface="Source Sans 3 Bold" pitchFamily="34" charset="-122"/>
                <a:cs typeface="Source Sans 3 Bold" pitchFamily="34" charset="-120"/>
              </a:rPr>
              <a:t>Jahrhundert</a:t>
            </a:r>
            <a:r>
              <a:rPr lang="en-US" dirty="0">
                <a:solidFill>
                  <a:srgbClr val="3D3838"/>
                </a:solidFill>
                <a:latin typeface="Aptos Narrow" panose="020B0004020202020204" pitchFamily="34" charset="0"/>
                <a:ea typeface="Source Sans 3 Bold" pitchFamily="34" charset="-122"/>
                <a:cs typeface="Source Sans 3 Bold" pitchFamily="34" charset="-120"/>
              </a:rPr>
              <a:t> </a:t>
            </a:r>
            <a:r>
              <a:rPr lang="en-US" dirty="0" err="1">
                <a:solidFill>
                  <a:srgbClr val="3D3838"/>
                </a:solidFill>
                <a:latin typeface="Aptos Narrow" panose="020B0004020202020204" pitchFamily="34" charset="0"/>
                <a:ea typeface="Source Sans 3 Bold" pitchFamily="34" charset="-122"/>
                <a:cs typeface="Source Sans 3 Bold" pitchFamily="34" charset="-120"/>
              </a:rPr>
              <a:t>zu</a:t>
            </a:r>
            <a:endParaRPr lang="en-US" dirty="0">
              <a:solidFill>
                <a:srgbClr val="3D3838"/>
              </a:solidFill>
              <a:latin typeface="Aptos Narrow" panose="020B0004020202020204" pitchFamily="34" charset="0"/>
              <a:ea typeface="Source Sans 3 Bold" pitchFamily="34" charset="-122"/>
              <a:cs typeface="Source Sans 3 Bold" pitchFamily="34" charset="-120"/>
            </a:endParaRPr>
          </a:p>
          <a:p>
            <a:pPr marL="284480" indent="-284480" algn="l">
              <a:lnSpc>
                <a:spcPct val="114000"/>
              </a:lnSpc>
              <a:buSzPct val="100000"/>
              <a:buChar char="•"/>
            </a:pPr>
            <a:r>
              <a:rPr lang="en-US" b="1" dirty="0" err="1">
                <a:solidFill>
                  <a:srgbClr val="3D3838"/>
                </a:solidFill>
                <a:latin typeface="Aptos Narrow" panose="020B0004020202020204" pitchFamily="34" charset="0"/>
                <a:ea typeface="Source Sans 3 Bold" pitchFamily="34" charset="-122"/>
                <a:cs typeface="Source Sans 3 Bold" pitchFamily="34" charset="-120"/>
              </a:rPr>
              <a:t>acquisition_type</a:t>
            </a:r>
            <a:r>
              <a:rPr lang="en-US" b="1" dirty="0">
                <a:solidFill>
                  <a:srgbClr val="3D3838"/>
                </a:solidFill>
                <a:latin typeface="Aptos Narrow" panose="020B0004020202020204" pitchFamily="34" charset="0"/>
                <a:ea typeface="Source Sans 3 Bold" pitchFamily="34" charset="-122"/>
                <a:cs typeface="Source Sans 3 Bold" pitchFamily="34" charset="-120"/>
              </a:rPr>
              <a:t> </a:t>
            </a:r>
            <a:r>
              <a:rPr lang="en-US" dirty="0">
                <a:solidFill>
                  <a:srgbClr val="3D3838"/>
                </a:solidFill>
                <a:latin typeface="Aptos Narrow" panose="020B0004020202020204" pitchFamily="34" charset="0"/>
                <a:ea typeface="Source Sans 3 Bold" pitchFamily="34" charset="-122"/>
                <a:cs typeface="Source Sans 3 Bold" pitchFamily="34" charset="-120"/>
              </a:rPr>
              <a:t>und </a:t>
            </a:r>
            <a:r>
              <a:rPr lang="en-US" b="1" dirty="0" err="1">
                <a:solidFill>
                  <a:srgbClr val="3D3838"/>
                </a:solidFill>
                <a:latin typeface="Aptos Narrow" panose="020B0004020202020204" pitchFamily="34" charset="0"/>
                <a:ea typeface="Source Sans 3 Bold" pitchFamily="34" charset="-122"/>
                <a:cs typeface="Source Sans 3 Bold" pitchFamily="34" charset="-120"/>
              </a:rPr>
              <a:t>acquisition_year</a:t>
            </a:r>
            <a:r>
              <a:rPr lang="en-US" b="1" dirty="0">
                <a:solidFill>
                  <a:srgbClr val="3D3838"/>
                </a:solidFill>
                <a:latin typeface="Aptos Narrow" panose="020B0004020202020204" pitchFamily="34" charset="0"/>
                <a:ea typeface="Source Sans 3 Bold" pitchFamily="34" charset="-122"/>
                <a:cs typeface="Source Sans 3 Bold" pitchFamily="34" charset="-120"/>
              </a:rPr>
              <a:t> </a:t>
            </a:r>
            <a:r>
              <a:rPr lang="en-US" dirty="0" err="1">
                <a:solidFill>
                  <a:srgbClr val="3D3838"/>
                </a:solidFill>
                <a:latin typeface="Aptos Narrow" panose="020B0004020202020204" pitchFamily="34" charset="0"/>
                <a:ea typeface="Source Sans 3 Bold" pitchFamily="34" charset="-122"/>
                <a:cs typeface="Source Sans 3 Bold" pitchFamily="34" charset="-120"/>
              </a:rPr>
              <a:t>zur</a:t>
            </a:r>
            <a:r>
              <a:rPr lang="en-US" dirty="0">
                <a:solidFill>
                  <a:srgbClr val="3D3838"/>
                </a:solidFill>
                <a:latin typeface="Aptos Narrow" panose="020B0004020202020204" pitchFamily="34" charset="0"/>
                <a:ea typeface="Source Sans 3 Bold" pitchFamily="34" charset="-122"/>
                <a:cs typeface="Source Sans 3 Bold" pitchFamily="34" charset="-120"/>
              </a:rPr>
              <a:t> </a:t>
            </a:r>
            <a:r>
              <a:rPr lang="en-US" dirty="0" err="1">
                <a:solidFill>
                  <a:srgbClr val="3D3838"/>
                </a:solidFill>
                <a:latin typeface="Aptos Narrow" panose="020B0004020202020204" pitchFamily="34" charset="0"/>
                <a:ea typeface="Source Sans 3 Bold" pitchFamily="34" charset="-122"/>
                <a:cs typeface="Source Sans 3 Bold" pitchFamily="34" charset="-120"/>
              </a:rPr>
              <a:t>Erwerbungsgeschichte</a:t>
            </a:r>
            <a:r>
              <a:rPr lang="en-US" dirty="0">
                <a:solidFill>
                  <a:srgbClr val="3D3838"/>
                </a:solidFill>
                <a:latin typeface="Aptos Narrow" panose="020B0004020202020204" pitchFamily="34" charset="0"/>
                <a:ea typeface="Source Sans 3 Bold" pitchFamily="34" charset="-122"/>
                <a:cs typeface="Source Sans 3 Bold" pitchFamily="34" charset="-120"/>
              </a:rPr>
              <a:t> </a:t>
            </a:r>
            <a:r>
              <a:rPr lang="en-US" dirty="0" err="1">
                <a:solidFill>
                  <a:srgbClr val="3D3838"/>
                </a:solidFill>
                <a:latin typeface="Aptos Narrow" panose="020B0004020202020204" pitchFamily="34" charset="0"/>
                <a:ea typeface="Source Sans 3 Bold" pitchFamily="34" charset="-122"/>
                <a:cs typeface="Source Sans 3 Bold" pitchFamily="34" charset="-120"/>
              </a:rPr>
              <a:t>aus</a:t>
            </a:r>
            <a:r>
              <a:rPr lang="en-US" dirty="0">
                <a:solidFill>
                  <a:srgbClr val="3D3838"/>
                </a:solidFill>
                <a:latin typeface="Aptos Narrow" panose="020B0004020202020204" pitchFamily="34" charset="0"/>
                <a:ea typeface="Source Sans 3 Bold" pitchFamily="34" charset="-122"/>
                <a:cs typeface="Source Sans 3 Bold" pitchFamily="34" charset="-120"/>
              </a:rPr>
              <a:t> Credit Line </a:t>
            </a:r>
            <a:r>
              <a:rPr lang="en-US" dirty="0" err="1">
                <a:solidFill>
                  <a:srgbClr val="3D3838"/>
                </a:solidFill>
                <a:latin typeface="Aptos Narrow" panose="020B0004020202020204" pitchFamily="34" charset="0"/>
                <a:ea typeface="Source Sans 3 Bold" pitchFamily="34" charset="-122"/>
                <a:cs typeface="Source Sans 3 Bold" pitchFamily="34" charset="-120"/>
              </a:rPr>
              <a:t>extrahiert</a:t>
            </a:r>
            <a:endParaRPr lang="en-US" dirty="0">
              <a:solidFill>
                <a:srgbClr val="3D3838"/>
              </a:solidFill>
              <a:latin typeface="Aptos Narrow" panose="020B0004020202020204" pitchFamily="34" charset="0"/>
              <a:ea typeface="Source Sans 3 Bold" pitchFamily="34" charset="-122"/>
              <a:cs typeface="Source Sans 3 Bold" pitchFamily="34" charset="-120"/>
            </a:endParaRPr>
          </a:p>
          <a:p>
            <a:pPr marL="284480" indent="-284480" algn="l">
              <a:lnSpc>
                <a:spcPct val="114000"/>
              </a:lnSpc>
              <a:buSzPct val="100000"/>
              <a:buChar char="•"/>
            </a:pPr>
            <a:r>
              <a:rPr lang="en-US" dirty="0" err="1">
                <a:solidFill>
                  <a:srgbClr val="3D3838"/>
                </a:solidFill>
                <a:latin typeface="Aptos Narrow" panose="020B0004020202020204" pitchFamily="34" charset="0"/>
                <a:ea typeface="Source Sans 3 Bold" pitchFamily="34" charset="-122"/>
                <a:cs typeface="Source Sans 3 Bold" pitchFamily="34" charset="-120"/>
              </a:rPr>
              <a:t>Teildatensatz</a:t>
            </a:r>
            <a:r>
              <a:rPr lang="en-US" dirty="0">
                <a:solidFill>
                  <a:srgbClr val="3D3838"/>
                </a:solidFill>
                <a:latin typeface="Aptos Narrow" panose="020B0004020202020204" pitchFamily="34" charset="0"/>
                <a:ea typeface="Source Sans 3 Bold" pitchFamily="34" charset="-122"/>
                <a:cs typeface="Source Sans 3 Bold" pitchFamily="34" charset="-120"/>
              </a:rPr>
              <a:t> Iran (</a:t>
            </a:r>
            <a:r>
              <a:rPr lang="en-US" b="1" dirty="0" err="1">
                <a:solidFill>
                  <a:srgbClr val="3D3838"/>
                </a:solidFill>
                <a:latin typeface="Aptos Narrow" panose="020B0004020202020204" pitchFamily="34" charset="0"/>
                <a:ea typeface="Source Sans 3 Bold" pitchFamily="34" charset="-122"/>
                <a:cs typeface="Source Sans 3 Bold" pitchFamily="34" charset="-120"/>
              </a:rPr>
              <a:t>iran_df</a:t>
            </a:r>
            <a:r>
              <a:rPr lang="en-US" b="1" dirty="0">
                <a:solidFill>
                  <a:srgbClr val="3D3838"/>
                </a:solidFill>
                <a:latin typeface="Aptos Narrow" panose="020B0004020202020204" pitchFamily="34" charset="0"/>
                <a:ea typeface="Source Sans 3 Bold" pitchFamily="34" charset="-122"/>
                <a:cs typeface="Source Sans 3 Bold" pitchFamily="34" charset="-120"/>
              </a:rPr>
              <a:t>): </a:t>
            </a:r>
            <a:r>
              <a:rPr lang="en-US" dirty="0">
                <a:solidFill>
                  <a:srgbClr val="3D3838"/>
                </a:solidFill>
                <a:latin typeface="Aptos Narrow" panose="020B0004020202020204" pitchFamily="34" charset="0"/>
                <a:ea typeface="Source Sans 3 Bold" pitchFamily="34" charset="-122"/>
                <a:cs typeface="Source Sans 3 Bold" pitchFamily="34" charset="-120"/>
              </a:rPr>
              <a:t>„Iran" </a:t>
            </a:r>
            <a:r>
              <a:rPr lang="en-US" dirty="0" err="1">
                <a:solidFill>
                  <a:srgbClr val="3D3838"/>
                </a:solidFill>
                <a:latin typeface="Aptos Narrow" panose="020B0004020202020204" pitchFamily="34" charset="0"/>
                <a:ea typeface="Source Sans 3 Bold" pitchFamily="34" charset="-122"/>
                <a:cs typeface="Source Sans 3 Bold" pitchFamily="34" charset="-120"/>
              </a:rPr>
              <a:t>als</a:t>
            </a:r>
            <a:r>
              <a:rPr lang="en-US" dirty="0">
                <a:solidFill>
                  <a:srgbClr val="3D3838"/>
                </a:solidFill>
                <a:latin typeface="Aptos Narrow" panose="020B0004020202020204" pitchFamily="34" charset="0"/>
                <a:ea typeface="Source Sans 3 Bold" pitchFamily="34" charset="-122"/>
                <a:cs typeface="Source Sans 3 Bold" pitchFamily="34" charset="-120"/>
              </a:rPr>
              <a:t> </a:t>
            </a:r>
            <a:r>
              <a:rPr lang="en-US" dirty="0" err="1">
                <a:solidFill>
                  <a:srgbClr val="3D3838"/>
                </a:solidFill>
                <a:latin typeface="Aptos Narrow" panose="020B0004020202020204" pitchFamily="34" charset="0"/>
                <a:ea typeface="Source Sans 3 Bold" pitchFamily="34" charset="-122"/>
                <a:cs typeface="Source Sans 3 Bold" pitchFamily="34" charset="-120"/>
              </a:rPr>
              <a:t>Kulturraum</a:t>
            </a:r>
            <a:r>
              <a:rPr lang="en-US" dirty="0">
                <a:solidFill>
                  <a:srgbClr val="3D3838"/>
                </a:solidFill>
                <a:latin typeface="Aptos Narrow" panose="020B0004020202020204" pitchFamily="34" charset="0"/>
                <a:ea typeface="Source Sans 3 Bold" pitchFamily="34" charset="-122"/>
                <a:cs typeface="Source Sans 3 Bold" pitchFamily="34" charset="-120"/>
              </a:rPr>
              <a:t> </a:t>
            </a:r>
            <a:r>
              <a:rPr lang="en-US" dirty="0" err="1">
                <a:solidFill>
                  <a:srgbClr val="3D3838"/>
                </a:solidFill>
                <a:latin typeface="Aptos Narrow" panose="020B0004020202020204" pitchFamily="34" charset="0"/>
                <a:ea typeface="Source Sans 3 Bold" pitchFamily="34" charset="-122"/>
                <a:cs typeface="Source Sans 3 Bold" pitchFamily="34" charset="-120"/>
              </a:rPr>
              <a:t>verstanden</a:t>
            </a:r>
            <a:r>
              <a:rPr lang="en-US" dirty="0">
                <a:solidFill>
                  <a:srgbClr val="3D3838"/>
                </a:solidFill>
                <a:latin typeface="Aptos Narrow" panose="020B0004020202020204" pitchFamily="34" charset="0"/>
                <a:ea typeface="Source Sans 3 Bold" pitchFamily="34" charset="-122"/>
                <a:cs typeface="Source Sans 3 Bold" pitchFamily="34" charset="-120"/>
              </a:rPr>
              <a:t>, nicht </a:t>
            </a:r>
            <a:r>
              <a:rPr lang="en-US" dirty="0" err="1">
                <a:solidFill>
                  <a:srgbClr val="3D3838"/>
                </a:solidFill>
                <a:latin typeface="Aptos Narrow" panose="020B0004020202020204" pitchFamily="34" charset="0"/>
                <a:ea typeface="Source Sans 3 Bold" pitchFamily="34" charset="-122"/>
                <a:cs typeface="Source Sans 3 Bold" pitchFamily="34" charset="-120"/>
              </a:rPr>
              <a:t>nur</a:t>
            </a:r>
            <a:r>
              <a:rPr lang="en-US" dirty="0">
                <a:solidFill>
                  <a:srgbClr val="3D3838"/>
                </a:solidFill>
                <a:latin typeface="Aptos Narrow" panose="020B0004020202020204" pitchFamily="34" charset="0"/>
                <a:ea typeface="Source Sans 3 Bold" pitchFamily="34" charset="-122"/>
                <a:cs typeface="Source Sans 3 Bold" pitchFamily="34" charset="-120"/>
              </a:rPr>
              <a:t> </a:t>
            </a:r>
            <a:r>
              <a:rPr lang="en-US" dirty="0" err="1">
                <a:solidFill>
                  <a:srgbClr val="3D3838"/>
                </a:solidFill>
                <a:latin typeface="Aptos Narrow" panose="020B0004020202020204" pitchFamily="34" charset="0"/>
                <a:ea typeface="Source Sans 3 Bold" pitchFamily="34" charset="-122"/>
                <a:cs typeface="Source Sans 3 Bold" pitchFamily="34" charset="-120"/>
              </a:rPr>
              <a:t>als</a:t>
            </a:r>
            <a:r>
              <a:rPr lang="en-US" dirty="0">
                <a:solidFill>
                  <a:srgbClr val="3D3838"/>
                </a:solidFill>
                <a:latin typeface="Aptos Narrow" panose="020B0004020202020204" pitchFamily="34" charset="0"/>
                <a:ea typeface="Source Sans 3 Bold" pitchFamily="34" charset="-122"/>
                <a:cs typeface="Source Sans 3 Bold" pitchFamily="34" charset="-120"/>
              </a:rPr>
              <a:t> Staat – </a:t>
            </a:r>
            <a:r>
              <a:rPr lang="en-US" dirty="0" err="1">
                <a:solidFill>
                  <a:srgbClr val="3D3838"/>
                </a:solidFill>
                <a:latin typeface="Aptos Narrow" panose="020B0004020202020204" pitchFamily="34" charset="0"/>
                <a:ea typeface="Source Sans 3 Bold" pitchFamily="34" charset="-122"/>
                <a:cs typeface="Source Sans 3 Bold" pitchFamily="34" charset="-120"/>
              </a:rPr>
              <a:t>Kombination</a:t>
            </a:r>
            <a:r>
              <a:rPr lang="en-US" dirty="0">
                <a:solidFill>
                  <a:srgbClr val="3D3838"/>
                </a:solidFill>
                <a:latin typeface="Aptos Narrow" panose="020B0004020202020204" pitchFamily="34" charset="0"/>
                <a:ea typeface="Source Sans 3 Bold" pitchFamily="34" charset="-122"/>
                <a:cs typeface="Source Sans 3 Bold" pitchFamily="34" charset="-120"/>
              </a:rPr>
              <a:t> </a:t>
            </a:r>
            <a:r>
              <a:rPr lang="en-US" dirty="0" err="1">
                <a:solidFill>
                  <a:srgbClr val="3D3838"/>
                </a:solidFill>
                <a:latin typeface="Aptos Narrow" panose="020B0004020202020204" pitchFamily="34" charset="0"/>
                <a:ea typeface="Source Sans 3 Bold" pitchFamily="34" charset="-122"/>
                <a:cs typeface="Source Sans 3 Bold" pitchFamily="34" charset="-120"/>
              </a:rPr>
              <a:t>aus</a:t>
            </a:r>
            <a:r>
              <a:rPr lang="en-US" dirty="0">
                <a:solidFill>
                  <a:srgbClr val="3D3838"/>
                </a:solidFill>
                <a:latin typeface="Aptos Narrow" panose="020B0004020202020204" pitchFamily="34" charset="0"/>
                <a:ea typeface="Source Sans 3 Bold" pitchFamily="34" charset="-122"/>
                <a:cs typeface="Source Sans 3 Bold" pitchFamily="34" charset="-120"/>
              </a:rPr>
              <a:t> </a:t>
            </a:r>
            <a:r>
              <a:rPr lang="en-US" dirty="0" err="1">
                <a:solidFill>
                  <a:srgbClr val="3D3838"/>
                </a:solidFill>
                <a:latin typeface="Aptos Narrow" panose="020B0004020202020204" pitchFamily="34" charset="0"/>
                <a:ea typeface="Source Sans 3 Bold" pitchFamily="34" charset="-122"/>
                <a:cs typeface="Source Sans 3 Bold" pitchFamily="34" charset="-120"/>
              </a:rPr>
              <a:t>country_clean</a:t>
            </a:r>
            <a:r>
              <a:rPr lang="en-US" dirty="0">
                <a:solidFill>
                  <a:srgbClr val="3D3838"/>
                </a:solidFill>
                <a:latin typeface="Aptos Narrow" panose="020B0004020202020204" pitchFamily="34" charset="0"/>
                <a:ea typeface="Source Sans 3 Bold" pitchFamily="34" charset="-122"/>
                <a:cs typeface="Source Sans 3 Bold" pitchFamily="34" charset="-120"/>
              </a:rPr>
              <a:t>, region und </a:t>
            </a:r>
            <a:r>
              <a:rPr lang="en-US" dirty="0" err="1">
                <a:solidFill>
                  <a:srgbClr val="3D3838"/>
                </a:solidFill>
                <a:latin typeface="Aptos Narrow" panose="020B0004020202020204" pitchFamily="34" charset="0"/>
                <a:ea typeface="Source Sans 3 Bold" pitchFamily="34" charset="-122"/>
                <a:cs typeface="Source Sans 3 Bold" pitchFamily="34" charset="-120"/>
              </a:rPr>
              <a:t>kuratierter</a:t>
            </a:r>
            <a:r>
              <a:rPr lang="en-US" dirty="0">
                <a:solidFill>
                  <a:srgbClr val="3D3838"/>
                </a:solidFill>
                <a:latin typeface="Aptos Narrow" panose="020B0004020202020204" pitchFamily="34" charset="0"/>
                <a:ea typeface="Source Sans 3 Bold" pitchFamily="34" charset="-122"/>
                <a:cs typeface="Source Sans 3 Bold" pitchFamily="34" charset="-120"/>
              </a:rPr>
              <a:t> </a:t>
            </a:r>
            <a:r>
              <a:rPr lang="en-US" dirty="0" err="1">
                <a:solidFill>
                  <a:srgbClr val="3D3838"/>
                </a:solidFill>
                <a:latin typeface="Aptos Narrow" panose="020B0004020202020204" pitchFamily="34" charset="0"/>
                <a:ea typeface="Source Sans 3 Bold" pitchFamily="34" charset="-122"/>
                <a:cs typeface="Source Sans 3 Bold" pitchFamily="34" charset="-120"/>
              </a:rPr>
              <a:t>Kulturliste</a:t>
            </a:r>
            <a:r>
              <a:rPr lang="en-US" dirty="0">
                <a:solidFill>
                  <a:srgbClr val="3D3838"/>
                </a:solidFill>
                <a:latin typeface="Aptos Narrow" panose="020B0004020202020204" pitchFamily="34" charset="0"/>
                <a:ea typeface="Source Sans 3 Bold" pitchFamily="34" charset="-122"/>
                <a:cs typeface="Source Sans 3 Bold" pitchFamily="34" charset="-120"/>
              </a:rPr>
              <a:t> (u. a. Achaemenid, Sasanian, Qajar)</a:t>
            </a:r>
          </a:p>
          <a:p>
            <a:pPr marL="284480" indent="-284480" algn="l">
              <a:lnSpc>
                <a:spcPct val="114000"/>
              </a:lnSpc>
              <a:buSzPct val="100000"/>
              <a:buChar char="•"/>
            </a:pPr>
            <a:r>
              <a:rPr lang="en-US" b="1" dirty="0" err="1">
                <a:solidFill>
                  <a:srgbClr val="3D3838"/>
                </a:solidFill>
                <a:latin typeface="Aptos Narrow" panose="020B0004020202020204" pitchFamily="34" charset="0"/>
                <a:ea typeface="Source Sans 3 Bold" pitchFamily="34" charset="-122"/>
                <a:cs typeface="Source Sans 3 Bold" pitchFamily="34" charset="-120"/>
              </a:rPr>
              <a:t>iran_period</a:t>
            </a:r>
            <a:r>
              <a:rPr lang="en-US" b="1" dirty="0">
                <a:solidFill>
                  <a:srgbClr val="3D3838"/>
                </a:solidFill>
                <a:latin typeface="Aptos Narrow" panose="020B0004020202020204" pitchFamily="34" charset="0"/>
                <a:ea typeface="Source Sans 3 Bold" pitchFamily="34" charset="-122"/>
                <a:cs typeface="Source Sans 3 Bold" pitchFamily="34" charset="-120"/>
              </a:rPr>
              <a:t> </a:t>
            </a:r>
            <a:r>
              <a:rPr lang="en-US" dirty="0" err="1">
                <a:solidFill>
                  <a:srgbClr val="3D3838"/>
                </a:solidFill>
                <a:latin typeface="Aptos Narrow" panose="020B0004020202020204" pitchFamily="34" charset="0"/>
                <a:ea typeface="Source Sans 3 Bold" pitchFamily="34" charset="-122"/>
                <a:cs typeface="Source Sans 3 Bold" pitchFamily="34" charset="-120"/>
              </a:rPr>
              <a:t>mit</a:t>
            </a:r>
            <a:r>
              <a:rPr lang="en-US" dirty="0">
                <a:solidFill>
                  <a:srgbClr val="3D3838"/>
                </a:solidFill>
                <a:latin typeface="Aptos Narrow" panose="020B0004020202020204" pitchFamily="34" charset="0"/>
                <a:ea typeface="Source Sans 3 Bold" pitchFamily="34" charset="-122"/>
                <a:cs typeface="Source Sans 3 Bold" pitchFamily="34" charset="-120"/>
              </a:rPr>
              <a:t> 14 </a:t>
            </a:r>
            <a:r>
              <a:rPr lang="en-US" dirty="0" err="1">
                <a:solidFill>
                  <a:srgbClr val="3D3838"/>
                </a:solidFill>
                <a:latin typeface="Aptos Narrow" panose="020B0004020202020204" pitchFamily="34" charset="0"/>
                <a:ea typeface="Source Sans 3 Bold" pitchFamily="34" charset="-122"/>
                <a:cs typeface="Source Sans 3 Bold" pitchFamily="34" charset="-120"/>
              </a:rPr>
              <a:t>historischen</a:t>
            </a:r>
            <a:r>
              <a:rPr lang="en-US" dirty="0">
                <a:solidFill>
                  <a:srgbClr val="3D3838"/>
                </a:solidFill>
                <a:latin typeface="Aptos Narrow" panose="020B0004020202020204" pitchFamily="34" charset="0"/>
                <a:ea typeface="Source Sans 3 Bold" pitchFamily="34" charset="-122"/>
                <a:cs typeface="Source Sans 3 Bold" pitchFamily="34" charset="-120"/>
              </a:rPr>
              <a:t> </a:t>
            </a:r>
            <a:r>
              <a:rPr lang="en-US" dirty="0" err="1">
                <a:solidFill>
                  <a:srgbClr val="3D3838"/>
                </a:solidFill>
                <a:latin typeface="Aptos Narrow" panose="020B0004020202020204" pitchFamily="34" charset="0"/>
                <a:ea typeface="Source Sans 3 Bold" pitchFamily="34" charset="-122"/>
                <a:cs typeface="Source Sans 3 Bold" pitchFamily="34" charset="-120"/>
              </a:rPr>
              <a:t>Epochen</a:t>
            </a:r>
            <a:r>
              <a:rPr lang="en-US" dirty="0">
                <a:solidFill>
                  <a:srgbClr val="3D3838"/>
                </a:solidFill>
                <a:latin typeface="Aptos Narrow" panose="020B0004020202020204" pitchFamily="34" charset="0"/>
                <a:ea typeface="Source Sans 3 Bold" pitchFamily="34" charset="-122"/>
                <a:cs typeface="Source Sans 3 Bold" pitchFamily="34" charset="-120"/>
              </a:rPr>
              <a:t> (von Prehistoric bis </a:t>
            </a:r>
            <a:r>
              <a:rPr lang="en-US" dirty="0" err="1">
                <a:solidFill>
                  <a:srgbClr val="3D3838"/>
                </a:solidFill>
                <a:latin typeface="Aptos Narrow" panose="020B0004020202020204" pitchFamily="34" charset="0"/>
                <a:ea typeface="Source Sans 3 Bold" pitchFamily="34" charset="-122"/>
                <a:cs typeface="Source Sans 3 Bold" pitchFamily="34" charset="-120"/>
              </a:rPr>
              <a:t>zur</a:t>
            </a:r>
            <a:r>
              <a:rPr lang="en-US" dirty="0">
                <a:solidFill>
                  <a:srgbClr val="3D3838"/>
                </a:solidFill>
                <a:latin typeface="Aptos Narrow" panose="020B0004020202020204" pitchFamily="34" charset="0"/>
                <a:ea typeface="Source Sans 3 Bold" pitchFamily="34" charset="-122"/>
                <a:cs typeface="Source Sans 3 Bold" pitchFamily="34" charset="-120"/>
              </a:rPr>
              <a:t> Islamic Republic </a:t>
            </a:r>
            <a:r>
              <a:rPr lang="en-US" dirty="0" err="1">
                <a:solidFill>
                  <a:srgbClr val="3D3838"/>
                </a:solidFill>
                <a:latin typeface="Aptos Narrow" panose="020B0004020202020204" pitchFamily="34" charset="0"/>
                <a:ea typeface="Source Sans 3 Bold" pitchFamily="34" charset="-122"/>
                <a:cs typeface="Source Sans 3 Bold" pitchFamily="34" charset="-120"/>
              </a:rPr>
              <a:t>seit</a:t>
            </a:r>
            <a:r>
              <a:rPr lang="en-US" dirty="0">
                <a:solidFill>
                  <a:srgbClr val="3D3838"/>
                </a:solidFill>
                <a:latin typeface="Aptos Narrow" panose="020B0004020202020204" pitchFamily="34" charset="0"/>
                <a:ea typeface="Source Sans 3 Bold" pitchFamily="34" charset="-122"/>
                <a:cs typeface="Source Sans 3 Bold" pitchFamily="34" charset="-120"/>
              </a:rPr>
              <a:t> 1979)</a:t>
            </a:r>
          </a:p>
        </p:txBody>
      </p:sp>
      <p:sp>
        <p:nvSpPr>
          <p:cNvPr id="5" name="Shape 2"/>
          <p:cNvSpPr/>
          <p:nvPr/>
        </p:nvSpPr>
        <p:spPr>
          <a:xfrm>
            <a:off x="5202603" y="5224903"/>
            <a:ext cx="6275528" cy="762830"/>
          </a:xfrm>
          <a:prstGeom prst="roundRect">
            <a:avLst>
              <a:gd name="adj" fmla="val 2831"/>
            </a:avLst>
          </a:prstGeom>
          <a:solidFill>
            <a:srgbClr val="FDECEA"/>
          </a:solidFill>
          <a:ln/>
        </p:spPr>
        <p:txBody>
          <a:bodyPr/>
          <a:lstStyle/>
          <a:p>
            <a:endParaRPr lang="de-DE"/>
          </a:p>
        </p:txBody>
      </p:sp>
      <p:pic>
        <p:nvPicPr>
          <p:cNvPr id="6" name="Image 1" descr="preencoded.png"/>
          <p:cNvPicPr>
            <a:picLocks noChangeAspect="1"/>
          </p:cNvPicPr>
          <p:nvPr/>
        </p:nvPicPr>
        <p:blipFill>
          <a:blip r:embed="rId4"/>
          <a:stretch>
            <a:fillRect/>
          </a:stretch>
        </p:blipFill>
        <p:spPr>
          <a:xfrm>
            <a:off x="5382483" y="5516375"/>
            <a:ext cx="224923" cy="179884"/>
          </a:xfrm>
          <a:prstGeom prst="rect">
            <a:avLst/>
          </a:prstGeom>
        </p:spPr>
      </p:pic>
      <p:sp>
        <p:nvSpPr>
          <p:cNvPr id="7" name="Text 3"/>
          <p:cNvSpPr/>
          <p:nvPr/>
        </p:nvSpPr>
        <p:spPr>
          <a:xfrm>
            <a:off x="5787285" y="5313066"/>
            <a:ext cx="5690846" cy="586503"/>
          </a:xfrm>
          <a:prstGeom prst="rect">
            <a:avLst/>
          </a:prstGeom>
          <a:noFill/>
          <a:ln/>
        </p:spPr>
        <p:txBody>
          <a:bodyPr wrap="square" lIns="0" tIns="0" rIns="0" bIns="0" rtlCol="0" anchor="t">
            <a:normAutofit/>
          </a:bodyPr>
          <a:lstStyle/>
          <a:p>
            <a:pPr marL="0" indent="0" algn="l">
              <a:lnSpc>
                <a:spcPct val="114000"/>
              </a:lnSpc>
              <a:buNone/>
            </a:pPr>
            <a:r>
              <a:rPr lang="de-DE" sz="1600" dirty="0">
                <a:solidFill>
                  <a:srgbClr val="000000"/>
                </a:solidFill>
                <a:latin typeface="Aptos Narrow" panose="020B0004020202020204" pitchFamily="34" charset="0"/>
                <a:ea typeface="Source Sans 3" pitchFamily="34" charset="-122"/>
                <a:cs typeface="Source Sans 3" pitchFamily="34" charset="-120"/>
              </a:rPr>
              <a:t>Feature Engineering ist der essenzielle Wegbereiter für die folgenden tiefergehenden Auswertungen.</a:t>
            </a:r>
            <a:endParaRPr lang="en-US" sz="1600" dirty="0"/>
          </a:p>
        </p:txBody>
      </p:sp>
      <p:sp>
        <p:nvSpPr>
          <p:cNvPr id="9" name="Textfeld 8">
            <a:extLst>
              <a:ext uri="{FF2B5EF4-FFF2-40B4-BE49-F238E27FC236}">
                <a16:creationId xmlns:a16="http://schemas.microsoft.com/office/drawing/2014/main" id="{DE56952C-37F6-DE3E-8B83-EECA7498A6CB}"/>
              </a:ext>
            </a:extLst>
          </p:cNvPr>
          <p:cNvSpPr txBox="1"/>
          <p:nvPr/>
        </p:nvSpPr>
        <p:spPr>
          <a:xfrm>
            <a:off x="11764652" y="6454588"/>
            <a:ext cx="490101" cy="338554"/>
          </a:xfrm>
          <a:prstGeom prst="rect">
            <a:avLst/>
          </a:prstGeom>
          <a:noFill/>
        </p:spPr>
        <p:txBody>
          <a:bodyPr wrap="square" rtlCol="0">
            <a:spAutoFit/>
          </a:bodyPr>
          <a:lstStyle/>
          <a:p>
            <a:r>
              <a:rPr lang="de-DE" sz="1600" dirty="0">
                <a:solidFill>
                  <a:srgbClr val="3D3838"/>
                </a:solidFill>
                <a:latin typeface="Aptos Narrow" panose="020B0004020202020204" pitchFamily="34" charset="0"/>
              </a:rPr>
              <a:t>6</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594541-D7D8-40E1-7C8D-3259A204EEC8}"/>
            </a:ext>
          </a:extLst>
        </p:cNvPr>
        <p:cNvGrpSpPr/>
        <p:nvPr/>
      </p:nvGrpSpPr>
      <p:grpSpPr>
        <a:xfrm>
          <a:off x="0" y="0"/>
          <a:ext cx="0" cy="0"/>
          <a:chOff x="0" y="0"/>
          <a:chExt cx="0" cy="0"/>
        </a:xfrm>
      </p:grpSpPr>
      <p:pic>
        <p:nvPicPr>
          <p:cNvPr id="6" name="Grafik 5">
            <a:extLst>
              <a:ext uri="{FF2B5EF4-FFF2-40B4-BE49-F238E27FC236}">
                <a16:creationId xmlns:a16="http://schemas.microsoft.com/office/drawing/2014/main" id="{916D657E-C984-29DB-EF4A-CF59CF318C41}"/>
              </a:ext>
            </a:extLst>
          </p:cNvPr>
          <p:cNvPicPr>
            <a:picLocks noChangeAspect="1"/>
          </p:cNvPicPr>
          <p:nvPr/>
        </p:nvPicPr>
        <p:blipFill>
          <a:blip r:embed="rId3"/>
          <a:stretch>
            <a:fillRect/>
          </a:stretch>
        </p:blipFill>
        <p:spPr>
          <a:xfrm>
            <a:off x="7381152" y="0"/>
            <a:ext cx="4853412" cy="6858000"/>
          </a:xfrm>
          <a:prstGeom prst="rect">
            <a:avLst/>
          </a:prstGeom>
          <a:ln w="38100">
            <a:noFill/>
          </a:ln>
        </p:spPr>
      </p:pic>
      <p:sp>
        <p:nvSpPr>
          <p:cNvPr id="2" name="Text 0">
            <a:extLst>
              <a:ext uri="{FF2B5EF4-FFF2-40B4-BE49-F238E27FC236}">
                <a16:creationId xmlns:a16="http://schemas.microsoft.com/office/drawing/2014/main" id="{7BC502E1-C157-2F54-17D8-570E9BE3FF38}"/>
              </a:ext>
            </a:extLst>
          </p:cNvPr>
          <p:cNvSpPr/>
          <p:nvPr/>
        </p:nvSpPr>
        <p:spPr>
          <a:xfrm>
            <a:off x="719966" y="508497"/>
            <a:ext cx="10752067" cy="511274"/>
          </a:xfrm>
          <a:prstGeom prst="rect">
            <a:avLst/>
          </a:prstGeom>
          <a:noFill/>
          <a:ln/>
        </p:spPr>
        <p:txBody>
          <a:bodyPr wrap="none" lIns="0" tIns="0" rIns="0" bIns="0" rtlCol="0" anchor="t"/>
          <a:lstStyle/>
          <a:p>
            <a:pPr marL="0" indent="0" algn="l">
              <a:lnSpc>
                <a:spcPct val="104000"/>
              </a:lnSpc>
              <a:buNone/>
            </a:pPr>
            <a:r>
              <a:rPr lang="en-US" sz="3600" b="1" kern="0" spc="-32" dirty="0">
                <a:solidFill>
                  <a:srgbClr val="000000"/>
                </a:solidFill>
                <a:latin typeface="Aptos Narrow" panose="020B0004020202020204" pitchFamily="34" charset="0"/>
                <a:ea typeface="Montserrat Bold" pitchFamily="34" charset="-122"/>
                <a:cs typeface="Montserrat Bold" pitchFamily="34" charset="-120"/>
              </a:rPr>
              <a:t>Feature Engineering: Dashboard</a:t>
            </a:r>
            <a:endParaRPr lang="en-US" sz="3600" dirty="0"/>
          </a:p>
        </p:txBody>
      </p:sp>
      <p:sp>
        <p:nvSpPr>
          <p:cNvPr id="4" name="Text 1">
            <a:extLst>
              <a:ext uri="{FF2B5EF4-FFF2-40B4-BE49-F238E27FC236}">
                <a16:creationId xmlns:a16="http://schemas.microsoft.com/office/drawing/2014/main" id="{3C41DB55-6A03-75B7-9F39-F74BDF412162}"/>
              </a:ext>
            </a:extLst>
          </p:cNvPr>
          <p:cNvSpPr/>
          <p:nvPr/>
        </p:nvSpPr>
        <p:spPr>
          <a:xfrm>
            <a:off x="716504" y="1911274"/>
            <a:ext cx="5829806" cy="3189579"/>
          </a:xfrm>
          <a:prstGeom prst="rect">
            <a:avLst/>
          </a:prstGeom>
          <a:noFill/>
          <a:ln/>
        </p:spPr>
        <p:txBody>
          <a:bodyPr wrap="square" lIns="0" tIns="0" rIns="0" bIns="0" rtlCol="0" anchor="t">
            <a:normAutofit/>
          </a:bodyPr>
          <a:lstStyle/>
          <a:p>
            <a:pPr marL="284480" indent="-284480" algn="l">
              <a:lnSpc>
                <a:spcPct val="114000"/>
              </a:lnSpc>
              <a:buSzPct val="100000"/>
              <a:buChar char="•"/>
            </a:pPr>
            <a:r>
              <a:rPr lang="en-US" b="1" dirty="0" err="1">
                <a:solidFill>
                  <a:srgbClr val="3D3838"/>
                </a:solidFill>
                <a:latin typeface="Aptos Narrow" panose="020B0004020202020204" pitchFamily="34" charset="0"/>
                <a:ea typeface="Source Sans 3 Bold" pitchFamily="34" charset="-122"/>
                <a:cs typeface="Source Sans 3 Bold" pitchFamily="34" charset="-120"/>
              </a:rPr>
              <a:t>Visualisierung</a:t>
            </a:r>
            <a:r>
              <a:rPr lang="en-US" dirty="0">
                <a:solidFill>
                  <a:srgbClr val="3D3838"/>
                </a:solidFill>
                <a:latin typeface="Aptos Narrow" panose="020B0004020202020204" pitchFamily="34" charset="0"/>
                <a:ea typeface="Source Sans 3 Bold" pitchFamily="34" charset="-122"/>
                <a:cs typeface="Source Sans 3 Bold" pitchFamily="34" charset="-120"/>
              </a:rPr>
              <a:t> der </a:t>
            </a:r>
            <a:r>
              <a:rPr lang="en-US" dirty="0" err="1">
                <a:solidFill>
                  <a:srgbClr val="3D3838"/>
                </a:solidFill>
                <a:latin typeface="Aptos Narrow" panose="020B0004020202020204" pitchFamily="34" charset="0"/>
                <a:ea typeface="Source Sans 3 Bold" pitchFamily="34" charset="-122"/>
                <a:cs typeface="Source Sans 3 Bold" pitchFamily="34" charset="-120"/>
              </a:rPr>
              <a:t>Analyseergebnisse</a:t>
            </a:r>
            <a:r>
              <a:rPr lang="en-US" dirty="0">
                <a:solidFill>
                  <a:srgbClr val="3D3838"/>
                </a:solidFill>
                <a:latin typeface="Aptos Narrow" panose="020B0004020202020204" pitchFamily="34" charset="0"/>
                <a:ea typeface="Source Sans 3 Bold" pitchFamily="34" charset="-122"/>
                <a:cs typeface="Source Sans 3 Bold" pitchFamily="34" charset="-120"/>
              </a:rPr>
              <a:t> in vier </a:t>
            </a:r>
            <a:r>
              <a:rPr lang="en-US" dirty="0" err="1">
                <a:solidFill>
                  <a:srgbClr val="3D3838"/>
                </a:solidFill>
                <a:latin typeface="Aptos Narrow" panose="020B0004020202020204" pitchFamily="34" charset="0"/>
                <a:ea typeface="Source Sans 3 Bold" pitchFamily="34" charset="-122"/>
                <a:cs typeface="Source Sans 3 Bold" pitchFamily="34" charset="-120"/>
              </a:rPr>
              <a:t>interaktiven</a:t>
            </a:r>
            <a:r>
              <a:rPr lang="en-US" dirty="0">
                <a:solidFill>
                  <a:srgbClr val="3D3838"/>
                </a:solidFill>
                <a:latin typeface="Aptos Narrow" panose="020B0004020202020204" pitchFamily="34" charset="0"/>
                <a:ea typeface="Source Sans 3 Bold" pitchFamily="34" charset="-122"/>
                <a:cs typeface="Source Sans 3 Bold" pitchFamily="34" charset="-120"/>
              </a:rPr>
              <a:t> Seiten (Overall Collection, Iranian-Persian Holdings, Focus Areas, Object Explorer) </a:t>
            </a:r>
          </a:p>
          <a:p>
            <a:pPr marL="284480" indent="-284480" algn="l">
              <a:lnSpc>
                <a:spcPct val="114000"/>
              </a:lnSpc>
              <a:buSzPct val="100000"/>
              <a:buChar char="•"/>
            </a:pPr>
            <a:r>
              <a:rPr lang="de-DE" b="1" dirty="0" err="1">
                <a:solidFill>
                  <a:srgbClr val="3D3838"/>
                </a:solidFill>
                <a:latin typeface="Aptos Narrow" panose="020B0004020202020204" pitchFamily="34" charset="0"/>
                <a:ea typeface="Source Sans 3 Bold" pitchFamily="34" charset="-122"/>
                <a:cs typeface="Source Sans 3 Bold" pitchFamily="34" charset="-120"/>
              </a:rPr>
              <a:t>Object</a:t>
            </a:r>
            <a:r>
              <a:rPr lang="de-DE" b="1" dirty="0">
                <a:solidFill>
                  <a:srgbClr val="3D3838"/>
                </a:solidFill>
                <a:latin typeface="Aptos Narrow" panose="020B0004020202020204" pitchFamily="34" charset="0"/>
                <a:ea typeface="Source Sans 3 Bold" pitchFamily="34" charset="-122"/>
                <a:cs typeface="Source Sans 3 Bold" pitchFamily="34" charset="-120"/>
              </a:rPr>
              <a:t> Explorer: </a:t>
            </a:r>
            <a:r>
              <a:rPr lang="de-DE" dirty="0">
                <a:solidFill>
                  <a:srgbClr val="3D3838"/>
                </a:solidFill>
                <a:latin typeface="Aptos Narrow" panose="020B0004020202020204" pitchFamily="34" charset="0"/>
                <a:ea typeface="Source Sans 3 Bold" pitchFamily="34" charset="-122"/>
                <a:cs typeface="Source Sans 3 Bold" pitchFamily="34" charset="-120"/>
              </a:rPr>
              <a:t>Freie filterbare Objektsuche </a:t>
            </a:r>
          </a:p>
          <a:p>
            <a:pPr marL="284480" indent="-284480" algn="l">
              <a:lnSpc>
                <a:spcPct val="114000"/>
              </a:lnSpc>
              <a:buSzPct val="100000"/>
              <a:buChar char="•"/>
            </a:pPr>
            <a:r>
              <a:rPr lang="en-US" b="1" dirty="0">
                <a:solidFill>
                  <a:srgbClr val="3D3838"/>
                </a:solidFill>
                <a:latin typeface="Aptos Narrow" panose="020B0004020202020204" pitchFamily="34" charset="0"/>
                <a:ea typeface="Source Sans 3 Bold" pitchFamily="34" charset="-122"/>
                <a:cs typeface="Source Sans 3 Bold" pitchFamily="34" charset="-120"/>
              </a:rPr>
              <a:t>API-Anreicherung: </a:t>
            </a:r>
            <a:r>
              <a:rPr lang="de-DE" dirty="0">
                <a:solidFill>
                  <a:srgbClr val="3D3838"/>
                </a:solidFill>
                <a:latin typeface="Aptos Narrow" panose="020B0004020202020204" pitchFamily="34" charset="0"/>
                <a:ea typeface="Source Sans 3 Bold" pitchFamily="34" charset="-122"/>
                <a:cs typeface="Source Sans 3 Bold" pitchFamily="34" charset="-120"/>
              </a:rPr>
              <a:t>MET Collection API (Bild, Link, </a:t>
            </a:r>
            <a:r>
              <a:rPr lang="de-DE" dirty="0" err="1">
                <a:solidFill>
                  <a:srgbClr val="3D3838"/>
                </a:solidFill>
                <a:latin typeface="Aptos Narrow" panose="020B0004020202020204" pitchFamily="34" charset="0"/>
                <a:ea typeface="Source Sans 3 Bold" pitchFamily="34" charset="-122"/>
                <a:cs typeface="Source Sans 3 Bold" pitchFamily="34" charset="-120"/>
              </a:rPr>
              <a:t>Object</a:t>
            </a:r>
            <a:r>
              <a:rPr lang="de-DE" dirty="0">
                <a:solidFill>
                  <a:srgbClr val="3D3838"/>
                </a:solidFill>
                <a:latin typeface="Aptos Narrow" panose="020B0004020202020204" pitchFamily="34" charset="0"/>
                <a:ea typeface="Source Sans 3 Bold" pitchFamily="34" charset="-122"/>
                <a:cs typeface="Source Sans 3 Bold" pitchFamily="34" charset="-120"/>
              </a:rPr>
              <a:t> Number) und </a:t>
            </a:r>
            <a:r>
              <a:rPr lang="de-DE" dirty="0" err="1">
                <a:solidFill>
                  <a:srgbClr val="3D3838"/>
                </a:solidFill>
                <a:latin typeface="Aptos Narrow" panose="020B0004020202020204" pitchFamily="34" charset="0"/>
                <a:ea typeface="Source Sans 3 Bold" pitchFamily="34" charset="-122"/>
                <a:cs typeface="Source Sans 3 Bold" pitchFamily="34" charset="-120"/>
              </a:rPr>
              <a:t>Wikidata</a:t>
            </a:r>
            <a:r>
              <a:rPr lang="de-DE" dirty="0">
                <a:solidFill>
                  <a:srgbClr val="3D3838"/>
                </a:solidFill>
                <a:latin typeface="Aptos Narrow" panose="020B0004020202020204" pitchFamily="34" charset="0"/>
                <a:ea typeface="Source Sans 3 Bold" pitchFamily="34" charset="-122"/>
                <a:cs typeface="Source Sans 3 Bold" pitchFamily="34" charset="-120"/>
              </a:rPr>
              <a:t>-API (Geocoding der Herkunftsstädte und iranischer UNESCO-Weltkulturerbestätten) für eine gemeinsame Karte</a:t>
            </a:r>
            <a:endParaRPr lang="en-US" dirty="0">
              <a:solidFill>
                <a:srgbClr val="3D3838"/>
              </a:solidFill>
              <a:latin typeface="Aptos Narrow" panose="020B0004020202020204" pitchFamily="34" charset="0"/>
              <a:ea typeface="Source Sans 3 Bold" pitchFamily="34" charset="-122"/>
              <a:cs typeface="Source Sans 3 Bold" pitchFamily="34" charset="-120"/>
            </a:endParaRPr>
          </a:p>
        </p:txBody>
      </p:sp>
      <p:sp>
        <p:nvSpPr>
          <p:cNvPr id="7" name="Text 3">
            <a:extLst>
              <a:ext uri="{FF2B5EF4-FFF2-40B4-BE49-F238E27FC236}">
                <a16:creationId xmlns:a16="http://schemas.microsoft.com/office/drawing/2014/main" id="{39E1F793-9E23-C2A3-0583-928A6FC34EBF}"/>
              </a:ext>
            </a:extLst>
          </p:cNvPr>
          <p:cNvSpPr/>
          <p:nvPr/>
        </p:nvSpPr>
        <p:spPr>
          <a:xfrm>
            <a:off x="5787285" y="5817606"/>
            <a:ext cx="5690846" cy="586503"/>
          </a:xfrm>
          <a:prstGeom prst="rect">
            <a:avLst/>
          </a:prstGeom>
          <a:noFill/>
          <a:ln/>
        </p:spPr>
        <p:txBody>
          <a:bodyPr wrap="square" lIns="0" tIns="0" rIns="0" bIns="0" rtlCol="0" anchor="t">
            <a:normAutofit/>
          </a:bodyPr>
          <a:lstStyle/>
          <a:p>
            <a:pPr marL="0" indent="0" algn="l">
              <a:lnSpc>
                <a:spcPct val="114000"/>
              </a:lnSpc>
              <a:buNone/>
            </a:pPr>
            <a:endParaRPr lang="en-US" sz="1600" dirty="0"/>
          </a:p>
        </p:txBody>
      </p:sp>
      <p:sp>
        <p:nvSpPr>
          <p:cNvPr id="9" name="Textfeld 8">
            <a:extLst>
              <a:ext uri="{FF2B5EF4-FFF2-40B4-BE49-F238E27FC236}">
                <a16:creationId xmlns:a16="http://schemas.microsoft.com/office/drawing/2014/main" id="{9B287EFC-1D6D-F4A3-2096-3D5313E83B66}"/>
              </a:ext>
            </a:extLst>
          </p:cNvPr>
          <p:cNvSpPr txBox="1"/>
          <p:nvPr/>
        </p:nvSpPr>
        <p:spPr>
          <a:xfrm>
            <a:off x="11764652" y="6454588"/>
            <a:ext cx="490101" cy="338554"/>
          </a:xfrm>
          <a:prstGeom prst="rect">
            <a:avLst/>
          </a:prstGeom>
          <a:noFill/>
        </p:spPr>
        <p:txBody>
          <a:bodyPr wrap="square" rtlCol="0">
            <a:spAutoFit/>
          </a:bodyPr>
          <a:lstStyle/>
          <a:p>
            <a:r>
              <a:rPr lang="de-DE" sz="1600" dirty="0">
                <a:solidFill>
                  <a:srgbClr val="3D3838"/>
                </a:solidFill>
                <a:latin typeface="Aptos Narrow" panose="020B0004020202020204" pitchFamily="34" charset="0"/>
              </a:rPr>
              <a:t>7</a:t>
            </a:r>
          </a:p>
        </p:txBody>
      </p:sp>
      <p:sp>
        <p:nvSpPr>
          <p:cNvPr id="10" name="Shape 7">
            <a:extLst>
              <a:ext uri="{FF2B5EF4-FFF2-40B4-BE49-F238E27FC236}">
                <a16:creationId xmlns:a16="http://schemas.microsoft.com/office/drawing/2014/main" id="{ADF4D96B-B939-FD40-F786-385956D4A19A}"/>
              </a:ext>
            </a:extLst>
          </p:cNvPr>
          <p:cNvSpPr/>
          <p:nvPr/>
        </p:nvSpPr>
        <p:spPr>
          <a:xfrm>
            <a:off x="713869" y="5055791"/>
            <a:ext cx="5918435" cy="893762"/>
          </a:xfrm>
          <a:prstGeom prst="roundRect">
            <a:avLst>
              <a:gd name="adj" fmla="val 2870"/>
            </a:avLst>
          </a:prstGeom>
          <a:solidFill>
            <a:srgbClr val="FDECEA"/>
          </a:solidFill>
          <a:ln/>
        </p:spPr>
        <p:txBody>
          <a:bodyPr/>
          <a:lstStyle/>
          <a:p>
            <a:endParaRPr lang="de-DE"/>
          </a:p>
        </p:txBody>
      </p:sp>
      <p:pic>
        <p:nvPicPr>
          <p:cNvPr id="12" name="Image 4" descr="preencoded.png">
            <a:extLst>
              <a:ext uri="{FF2B5EF4-FFF2-40B4-BE49-F238E27FC236}">
                <a16:creationId xmlns:a16="http://schemas.microsoft.com/office/drawing/2014/main" id="{786CC05F-6E9D-80DF-7AD0-EC613730BFC1}"/>
              </a:ext>
            </a:extLst>
          </p:cNvPr>
          <p:cNvPicPr>
            <a:picLocks noChangeAspect="1"/>
          </p:cNvPicPr>
          <p:nvPr/>
        </p:nvPicPr>
        <p:blipFill>
          <a:blip r:embed="rId4"/>
          <a:stretch>
            <a:fillRect/>
          </a:stretch>
        </p:blipFill>
        <p:spPr>
          <a:xfrm>
            <a:off x="941462" y="5374484"/>
            <a:ext cx="210284" cy="170954"/>
          </a:xfrm>
          <a:prstGeom prst="rect">
            <a:avLst/>
          </a:prstGeom>
        </p:spPr>
      </p:pic>
      <p:sp>
        <p:nvSpPr>
          <p:cNvPr id="14" name="Text 8">
            <a:extLst>
              <a:ext uri="{FF2B5EF4-FFF2-40B4-BE49-F238E27FC236}">
                <a16:creationId xmlns:a16="http://schemas.microsoft.com/office/drawing/2014/main" id="{53D41654-B310-D817-E8F8-E56F54E80780}"/>
              </a:ext>
            </a:extLst>
          </p:cNvPr>
          <p:cNvSpPr/>
          <p:nvPr/>
        </p:nvSpPr>
        <p:spPr>
          <a:xfrm>
            <a:off x="1326124" y="5213041"/>
            <a:ext cx="5268249" cy="808230"/>
          </a:xfrm>
          <a:prstGeom prst="rect">
            <a:avLst/>
          </a:prstGeom>
          <a:noFill/>
          <a:ln/>
        </p:spPr>
        <p:txBody>
          <a:bodyPr wrap="square" lIns="0" tIns="0" rIns="0" bIns="0" rtlCol="0" anchor="t">
            <a:normAutofit/>
          </a:bodyPr>
          <a:lstStyle/>
          <a:p>
            <a:pPr marL="0" indent="0" algn="l">
              <a:lnSpc>
                <a:spcPct val="114000"/>
              </a:lnSpc>
              <a:buNone/>
            </a:pPr>
            <a:r>
              <a:rPr lang="de-DE" sz="1600" dirty="0">
                <a:solidFill>
                  <a:srgbClr val="000000"/>
                </a:solidFill>
                <a:latin typeface="Aptos Narrow" panose="020B0004020202020204" pitchFamily="34" charset="0"/>
                <a:ea typeface="Source Sans 3" pitchFamily="34" charset="-122"/>
                <a:cs typeface="Source Sans 3" pitchFamily="34" charset="-120"/>
              </a:rPr>
              <a:t>Das Dashboard macht die Analyseergebnisse und die Objekte interaktiv zugänglich und erlebbar.</a:t>
            </a:r>
            <a:endParaRPr lang="en-US" sz="1600" dirty="0"/>
          </a:p>
        </p:txBody>
      </p:sp>
    </p:spTree>
    <p:extLst>
      <p:ext uri="{BB962C8B-B14F-4D97-AF65-F5344CB8AC3E}">
        <p14:creationId xmlns:p14="http://schemas.microsoft.com/office/powerpoint/2010/main" val="27853088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19814" y="554584"/>
            <a:ext cx="10752067" cy="511274"/>
          </a:xfrm>
          <a:prstGeom prst="rect">
            <a:avLst/>
          </a:prstGeom>
          <a:noFill/>
          <a:ln/>
        </p:spPr>
        <p:txBody>
          <a:bodyPr wrap="none" lIns="0" tIns="0" rIns="0" bIns="0" rtlCol="0" anchor="t"/>
          <a:lstStyle/>
          <a:p>
            <a:pPr marL="0" indent="0" algn="l">
              <a:lnSpc>
                <a:spcPct val="104000"/>
              </a:lnSpc>
              <a:buNone/>
            </a:pPr>
            <a:r>
              <a:rPr lang="en-US" sz="3600" b="1" kern="0" spc="-32" dirty="0" err="1">
                <a:solidFill>
                  <a:srgbClr val="000000"/>
                </a:solidFill>
                <a:latin typeface="Aptos Narrow" panose="020B0004020202020204" pitchFamily="34" charset="0"/>
                <a:ea typeface="Montserrat Bold" pitchFamily="34" charset="-122"/>
                <a:cs typeface="Montserrat Bold" pitchFamily="34" charset="-120"/>
              </a:rPr>
              <a:t>Gesamtsammlung</a:t>
            </a:r>
            <a:r>
              <a:rPr lang="en-US" sz="3600" b="1" kern="0" spc="-32" dirty="0">
                <a:solidFill>
                  <a:srgbClr val="000000"/>
                </a:solidFill>
                <a:latin typeface="Aptos Narrow" panose="020B0004020202020204" pitchFamily="34" charset="0"/>
                <a:ea typeface="Montserrat Bold" pitchFamily="34" charset="-122"/>
                <a:cs typeface="Montserrat Bold" pitchFamily="34" charset="-120"/>
              </a:rPr>
              <a:t>: 448.201 </a:t>
            </a:r>
            <a:r>
              <a:rPr lang="en-US" sz="3600" b="1" kern="0" spc="-32" dirty="0" err="1">
                <a:solidFill>
                  <a:srgbClr val="000000"/>
                </a:solidFill>
                <a:latin typeface="Aptos Narrow" panose="020B0004020202020204" pitchFamily="34" charset="0"/>
                <a:ea typeface="Montserrat Bold" pitchFamily="34" charset="-122"/>
                <a:cs typeface="Montserrat Bold" pitchFamily="34" charset="-120"/>
              </a:rPr>
              <a:t>Objekte</a:t>
            </a:r>
            <a:endParaRPr lang="en-US" sz="3600" dirty="0"/>
          </a:p>
        </p:txBody>
      </p:sp>
      <p:sp>
        <p:nvSpPr>
          <p:cNvPr id="3" name="Text 1"/>
          <p:cNvSpPr/>
          <p:nvPr/>
        </p:nvSpPr>
        <p:spPr>
          <a:xfrm>
            <a:off x="719814" y="1547911"/>
            <a:ext cx="5263522" cy="593923"/>
          </a:xfrm>
          <a:prstGeom prst="rect">
            <a:avLst/>
          </a:prstGeom>
          <a:noFill/>
          <a:ln/>
        </p:spPr>
        <p:txBody>
          <a:bodyPr wrap="none" lIns="0" tIns="0" rIns="0" bIns="0" rtlCol="0" anchor="t"/>
          <a:lstStyle/>
          <a:p>
            <a:pPr marL="0" indent="0" algn="ctr">
              <a:lnSpc>
                <a:spcPct val="83000"/>
              </a:lnSpc>
              <a:buNone/>
            </a:pPr>
            <a:r>
              <a:rPr lang="en-US" sz="4650" b="1" kern="0" spc="-47" dirty="0">
                <a:solidFill>
                  <a:srgbClr val="3D3838"/>
                </a:solidFill>
                <a:latin typeface="Aptos Narrow" panose="020B0004020202020204" pitchFamily="34" charset="0"/>
                <a:ea typeface="Montserrat Bold" pitchFamily="34" charset="-122"/>
                <a:cs typeface="Montserrat Bold" pitchFamily="34" charset="-120"/>
              </a:rPr>
              <a:t>58,39 %</a:t>
            </a:r>
            <a:endParaRPr lang="en-US" sz="4650" dirty="0"/>
          </a:p>
        </p:txBody>
      </p:sp>
      <p:sp>
        <p:nvSpPr>
          <p:cNvPr id="4" name="Text 2"/>
          <p:cNvSpPr/>
          <p:nvPr/>
        </p:nvSpPr>
        <p:spPr>
          <a:xfrm>
            <a:off x="719814" y="2249785"/>
            <a:ext cx="5263522" cy="255587"/>
          </a:xfrm>
          <a:prstGeom prst="rect">
            <a:avLst/>
          </a:prstGeom>
          <a:noFill/>
          <a:ln/>
        </p:spPr>
        <p:txBody>
          <a:bodyPr wrap="none" lIns="0" tIns="0" rIns="0" bIns="0" rtlCol="0" anchor="t"/>
          <a:lstStyle/>
          <a:p>
            <a:pPr marL="0" indent="0" algn="ctr">
              <a:lnSpc>
                <a:spcPct val="104000"/>
              </a:lnSpc>
              <a:buNone/>
            </a:pPr>
            <a:r>
              <a:rPr lang="en-US" b="1" kern="0" spc="-16" dirty="0">
                <a:solidFill>
                  <a:srgbClr val="3D3838"/>
                </a:solidFill>
                <a:latin typeface="Aptos Narrow" panose="020B0004020202020204" pitchFamily="34" charset="0"/>
                <a:ea typeface="Montserrat Bold" pitchFamily="34" charset="-122"/>
                <a:cs typeface="Montserrat Bold" pitchFamily="34" charset="-120"/>
              </a:rPr>
              <a:t>Ohne Kulturangabe</a:t>
            </a:r>
            <a:endParaRPr lang="en-US" dirty="0"/>
          </a:p>
        </p:txBody>
      </p:sp>
      <p:sp>
        <p:nvSpPr>
          <p:cNvPr id="5" name="Text 3"/>
          <p:cNvSpPr/>
          <p:nvPr/>
        </p:nvSpPr>
        <p:spPr>
          <a:xfrm>
            <a:off x="719814" y="2613323"/>
            <a:ext cx="5263522" cy="269974"/>
          </a:xfrm>
          <a:prstGeom prst="rect">
            <a:avLst/>
          </a:prstGeom>
          <a:noFill/>
          <a:ln/>
        </p:spPr>
        <p:txBody>
          <a:bodyPr wrap="none" lIns="0" tIns="0" rIns="0" bIns="0" rtlCol="0" anchor="t"/>
          <a:lstStyle/>
          <a:p>
            <a:pPr marL="0" indent="0" algn="ctr">
              <a:lnSpc>
                <a:spcPct val="125000"/>
              </a:lnSpc>
              <a:buNone/>
            </a:pPr>
            <a:r>
              <a:rPr lang="en-US" sz="1600" dirty="0">
                <a:solidFill>
                  <a:srgbClr val="3D3838"/>
                </a:solidFill>
                <a:latin typeface="Aptos Narrow" panose="020B0004020202020204" pitchFamily="34" charset="0"/>
                <a:ea typeface="Source Sans 3" pitchFamily="34" charset="-122"/>
                <a:cs typeface="Source Sans 3" pitchFamily="34" charset="-120"/>
              </a:rPr>
              <a:t>Bei </a:t>
            </a:r>
            <a:r>
              <a:rPr lang="en-US" sz="1600" dirty="0" err="1">
                <a:solidFill>
                  <a:srgbClr val="3D3838"/>
                </a:solidFill>
                <a:latin typeface="Aptos Narrow" panose="020B0004020202020204" pitchFamily="34" charset="0"/>
                <a:ea typeface="Source Sans 3" pitchFamily="34" charset="-122"/>
                <a:cs typeface="Source Sans 3" pitchFamily="34" charset="-120"/>
              </a:rPr>
              <a:t>mehr</a:t>
            </a:r>
            <a:r>
              <a:rPr lang="en-US" sz="1600" dirty="0">
                <a:solidFill>
                  <a:srgbClr val="3D3838"/>
                </a:solidFill>
                <a:latin typeface="Aptos Narrow" panose="020B0004020202020204" pitchFamily="34" charset="0"/>
                <a:ea typeface="Source Sans 3" pitchFamily="34" charset="-122"/>
                <a:cs typeface="Source Sans 3" pitchFamily="34" charset="-120"/>
              </a:rPr>
              <a:t> </a:t>
            </a:r>
            <a:r>
              <a:rPr lang="en-US" sz="1600" dirty="0" err="1">
                <a:solidFill>
                  <a:srgbClr val="3D3838"/>
                </a:solidFill>
                <a:latin typeface="Aptos Narrow" panose="020B0004020202020204" pitchFamily="34" charset="0"/>
                <a:ea typeface="Source Sans 3" pitchFamily="34" charset="-122"/>
                <a:cs typeface="Source Sans 3" pitchFamily="34" charset="-120"/>
              </a:rPr>
              <a:t>als</a:t>
            </a:r>
            <a:r>
              <a:rPr lang="en-US" sz="1600" dirty="0">
                <a:solidFill>
                  <a:srgbClr val="3D3838"/>
                </a:solidFill>
                <a:latin typeface="Aptos Narrow" panose="020B0004020202020204" pitchFamily="34" charset="0"/>
                <a:ea typeface="Source Sans 3" pitchFamily="34" charset="-122"/>
                <a:cs typeface="Source Sans 3" pitchFamily="34" charset="-120"/>
              </a:rPr>
              <a:t> der </a:t>
            </a:r>
            <a:r>
              <a:rPr lang="en-US" sz="1600" dirty="0" err="1">
                <a:solidFill>
                  <a:srgbClr val="3D3838"/>
                </a:solidFill>
                <a:latin typeface="Aptos Narrow" panose="020B0004020202020204" pitchFamily="34" charset="0"/>
                <a:ea typeface="Source Sans 3" pitchFamily="34" charset="-122"/>
                <a:cs typeface="Source Sans 3" pitchFamily="34" charset="-120"/>
              </a:rPr>
              <a:t>Hälfte</a:t>
            </a:r>
            <a:r>
              <a:rPr lang="en-US" sz="1600" dirty="0">
                <a:solidFill>
                  <a:srgbClr val="3D3838"/>
                </a:solidFill>
                <a:latin typeface="Aptos Narrow" panose="020B0004020202020204" pitchFamily="34" charset="0"/>
                <a:ea typeface="Source Sans 3" pitchFamily="34" charset="-122"/>
                <a:cs typeface="Source Sans 3" pitchFamily="34" charset="-120"/>
              </a:rPr>
              <a:t> der </a:t>
            </a:r>
            <a:r>
              <a:rPr lang="en-US" sz="1600" dirty="0" err="1">
                <a:solidFill>
                  <a:srgbClr val="3D3838"/>
                </a:solidFill>
                <a:latin typeface="Aptos Narrow" panose="020B0004020202020204" pitchFamily="34" charset="0"/>
                <a:ea typeface="Source Sans 3" pitchFamily="34" charset="-122"/>
                <a:cs typeface="Source Sans 3" pitchFamily="34" charset="-120"/>
              </a:rPr>
              <a:t>Objekte</a:t>
            </a:r>
            <a:r>
              <a:rPr lang="en-US" sz="1600" dirty="0">
                <a:solidFill>
                  <a:srgbClr val="3D3838"/>
                </a:solidFill>
                <a:latin typeface="Aptos Narrow" panose="020B0004020202020204" pitchFamily="34" charset="0"/>
                <a:ea typeface="Source Sans 3" pitchFamily="34" charset="-122"/>
                <a:cs typeface="Source Sans 3" pitchFamily="34" charset="-120"/>
              </a:rPr>
              <a:t> nicht dokumentiert</a:t>
            </a:r>
            <a:endParaRPr lang="en-US" sz="1600" dirty="0"/>
          </a:p>
        </p:txBody>
      </p:sp>
      <p:sp>
        <p:nvSpPr>
          <p:cNvPr id="6" name="Text 4"/>
          <p:cNvSpPr/>
          <p:nvPr/>
        </p:nvSpPr>
        <p:spPr>
          <a:xfrm>
            <a:off x="6208260" y="1544192"/>
            <a:ext cx="5263621" cy="593923"/>
          </a:xfrm>
          <a:prstGeom prst="rect">
            <a:avLst/>
          </a:prstGeom>
          <a:noFill/>
          <a:ln/>
        </p:spPr>
        <p:txBody>
          <a:bodyPr wrap="none" lIns="0" tIns="0" rIns="0" bIns="0" rtlCol="0" anchor="t"/>
          <a:lstStyle/>
          <a:p>
            <a:pPr marL="0" indent="0" algn="ctr">
              <a:lnSpc>
                <a:spcPct val="83000"/>
              </a:lnSpc>
              <a:buNone/>
            </a:pPr>
            <a:r>
              <a:rPr lang="en-US" sz="4650" b="1" kern="0" spc="-47" dirty="0">
                <a:solidFill>
                  <a:srgbClr val="3D3838"/>
                </a:solidFill>
                <a:latin typeface="Aptos Narrow" panose="020B0004020202020204" pitchFamily="34" charset="0"/>
                <a:ea typeface="Montserrat Bold" pitchFamily="34" charset="-122"/>
                <a:cs typeface="Montserrat Bold" pitchFamily="34" charset="-120"/>
              </a:rPr>
              <a:t>83,39 %</a:t>
            </a:r>
            <a:endParaRPr lang="en-US" sz="4650" dirty="0"/>
          </a:p>
        </p:txBody>
      </p:sp>
      <p:sp>
        <p:nvSpPr>
          <p:cNvPr id="7" name="Text 5"/>
          <p:cNvSpPr/>
          <p:nvPr/>
        </p:nvSpPr>
        <p:spPr>
          <a:xfrm>
            <a:off x="6208260" y="2249785"/>
            <a:ext cx="5263621" cy="255587"/>
          </a:xfrm>
          <a:prstGeom prst="rect">
            <a:avLst/>
          </a:prstGeom>
          <a:noFill/>
          <a:ln/>
        </p:spPr>
        <p:txBody>
          <a:bodyPr wrap="none" lIns="0" tIns="0" rIns="0" bIns="0" rtlCol="0" anchor="t"/>
          <a:lstStyle/>
          <a:p>
            <a:pPr marL="0" indent="0" algn="ctr">
              <a:lnSpc>
                <a:spcPct val="104000"/>
              </a:lnSpc>
              <a:buNone/>
            </a:pPr>
            <a:r>
              <a:rPr lang="en-US" b="1" kern="0" spc="-16" dirty="0">
                <a:solidFill>
                  <a:srgbClr val="3D3838"/>
                </a:solidFill>
                <a:latin typeface="Aptos Narrow" panose="020B0004020202020204" pitchFamily="34" charset="0"/>
                <a:ea typeface="Montserrat Bold" pitchFamily="34" charset="-122"/>
                <a:cs typeface="Montserrat Bold" pitchFamily="34" charset="-120"/>
              </a:rPr>
              <a:t>Ohne Herkunftsland</a:t>
            </a:r>
            <a:endParaRPr lang="en-US" dirty="0"/>
          </a:p>
        </p:txBody>
      </p:sp>
      <p:sp>
        <p:nvSpPr>
          <p:cNvPr id="8" name="Text 6"/>
          <p:cNvSpPr/>
          <p:nvPr/>
        </p:nvSpPr>
        <p:spPr>
          <a:xfrm>
            <a:off x="6208260" y="2613323"/>
            <a:ext cx="5263621" cy="269974"/>
          </a:xfrm>
          <a:prstGeom prst="rect">
            <a:avLst/>
          </a:prstGeom>
          <a:noFill/>
          <a:ln/>
        </p:spPr>
        <p:txBody>
          <a:bodyPr wrap="none" lIns="0" tIns="0" rIns="0" bIns="0" rtlCol="0" anchor="t"/>
          <a:lstStyle/>
          <a:p>
            <a:pPr marL="0" indent="0" algn="ctr">
              <a:lnSpc>
                <a:spcPct val="125000"/>
              </a:lnSpc>
              <a:buNone/>
            </a:pPr>
            <a:r>
              <a:rPr lang="en-US" sz="1600" dirty="0" err="1">
                <a:solidFill>
                  <a:srgbClr val="3D3838"/>
                </a:solidFill>
                <a:latin typeface="Aptos Narrow" panose="020B0004020202020204" pitchFamily="34" charset="0"/>
                <a:ea typeface="Source Sans 3" pitchFamily="34" charset="-122"/>
                <a:cs typeface="Source Sans 3" pitchFamily="34" charset="-120"/>
              </a:rPr>
              <a:t>Großteil</a:t>
            </a:r>
            <a:r>
              <a:rPr lang="en-US" sz="1600" dirty="0">
                <a:solidFill>
                  <a:srgbClr val="3D3838"/>
                </a:solidFill>
                <a:latin typeface="Aptos Narrow" panose="020B0004020202020204" pitchFamily="34" charset="0"/>
                <a:ea typeface="Source Sans 3" pitchFamily="34" charset="-122"/>
                <a:cs typeface="Source Sans 3" pitchFamily="34" charset="-120"/>
              </a:rPr>
              <a:t> der </a:t>
            </a:r>
            <a:r>
              <a:rPr lang="en-US" sz="1600" dirty="0" err="1">
                <a:solidFill>
                  <a:srgbClr val="3D3838"/>
                </a:solidFill>
                <a:latin typeface="Aptos Narrow" panose="020B0004020202020204" pitchFamily="34" charset="0"/>
                <a:ea typeface="Source Sans 3" pitchFamily="34" charset="-122"/>
                <a:cs typeface="Source Sans 3" pitchFamily="34" charset="-120"/>
              </a:rPr>
              <a:t>Objekte</a:t>
            </a:r>
            <a:r>
              <a:rPr lang="en-US" sz="1600" dirty="0">
                <a:solidFill>
                  <a:srgbClr val="3D3838"/>
                </a:solidFill>
                <a:latin typeface="Aptos Narrow" panose="020B0004020202020204" pitchFamily="34" charset="0"/>
                <a:ea typeface="Source Sans 3" pitchFamily="34" charset="-122"/>
                <a:cs typeface="Source Sans 3" pitchFamily="34" charset="-120"/>
              </a:rPr>
              <a:t> geografisch nicht erfasst</a:t>
            </a:r>
            <a:endParaRPr lang="en-US" sz="1600" dirty="0"/>
          </a:p>
        </p:txBody>
      </p:sp>
      <p:sp>
        <p:nvSpPr>
          <p:cNvPr id="9" name="Text 7"/>
          <p:cNvSpPr/>
          <p:nvPr/>
        </p:nvSpPr>
        <p:spPr>
          <a:xfrm>
            <a:off x="719814" y="3495874"/>
            <a:ext cx="5263522" cy="593923"/>
          </a:xfrm>
          <a:prstGeom prst="rect">
            <a:avLst/>
          </a:prstGeom>
          <a:noFill/>
          <a:ln/>
        </p:spPr>
        <p:txBody>
          <a:bodyPr wrap="none" lIns="0" tIns="0" rIns="0" bIns="0" rtlCol="0" anchor="t"/>
          <a:lstStyle/>
          <a:p>
            <a:pPr marL="0" indent="0" algn="ctr">
              <a:lnSpc>
                <a:spcPct val="83000"/>
              </a:lnSpc>
              <a:buNone/>
            </a:pPr>
            <a:r>
              <a:rPr lang="en-US" sz="4650" b="1" kern="0" spc="-47" dirty="0">
                <a:solidFill>
                  <a:srgbClr val="3D3838"/>
                </a:solidFill>
                <a:latin typeface="Aptos Narrow" panose="020B0004020202020204" pitchFamily="34" charset="0"/>
                <a:ea typeface="Montserrat Bold" pitchFamily="34" charset="-122"/>
                <a:cs typeface="Montserrat Bold" pitchFamily="34" charset="-120"/>
              </a:rPr>
              <a:t>4,95 %</a:t>
            </a:r>
            <a:endParaRPr lang="en-US" sz="4650" dirty="0"/>
          </a:p>
        </p:txBody>
      </p:sp>
      <p:sp>
        <p:nvSpPr>
          <p:cNvPr id="10" name="Text 8"/>
          <p:cNvSpPr/>
          <p:nvPr/>
        </p:nvSpPr>
        <p:spPr>
          <a:xfrm>
            <a:off x="719814" y="4151809"/>
            <a:ext cx="5263522" cy="255587"/>
          </a:xfrm>
          <a:prstGeom prst="rect">
            <a:avLst/>
          </a:prstGeom>
          <a:noFill/>
          <a:ln/>
        </p:spPr>
        <p:txBody>
          <a:bodyPr wrap="none" lIns="0" tIns="0" rIns="0" bIns="0" rtlCol="0" anchor="t"/>
          <a:lstStyle/>
          <a:p>
            <a:pPr marL="0" indent="0" algn="ctr">
              <a:lnSpc>
                <a:spcPct val="104000"/>
              </a:lnSpc>
              <a:buNone/>
            </a:pPr>
            <a:r>
              <a:rPr lang="en-US" b="1" kern="0" spc="-16" dirty="0">
                <a:solidFill>
                  <a:srgbClr val="3D3838"/>
                </a:solidFill>
                <a:latin typeface="Aptos Narrow" panose="020B0004020202020204" pitchFamily="34" charset="0"/>
                <a:ea typeface="Montserrat Bold" pitchFamily="34" charset="-122"/>
                <a:cs typeface="Montserrat Bold" pitchFamily="34" charset="-120"/>
              </a:rPr>
              <a:t>American</a:t>
            </a:r>
            <a:endParaRPr lang="en-US" dirty="0"/>
          </a:p>
        </p:txBody>
      </p:sp>
      <p:sp>
        <p:nvSpPr>
          <p:cNvPr id="11" name="Text 9"/>
          <p:cNvSpPr/>
          <p:nvPr/>
        </p:nvSpPr>
        <p:spPr>
          <a:xfrm>
            <a:off x="719814" y="4515346"/>
            <a:ext cx="5263522" cy="269974"/>
          </a:xfrm>
          <a:prstGeom prst="rect">
            <a:avLst/>
          </a:prstGeom>
          <a:noFill/>
          <a:ln/>
        </p:spPr>
        <p:txBody>
          <a:bodyPr wrap="none" lIns="0" tIns="0" rIns="0" bIns="0" rtlCol="0" anchor="t"/>
          <a:lstStyle/>
          <a:p>
            <a:pPr marL="0" indent="0" algn="ctr">
              <a:lnSpc>
                <a:spcPct val="125000"/>
              </a:lnSpc>
              <a:buNone/>
            </a:pPr>
            <a:r>
              <a:rPr lang="en-US" sz="1600" dirty="0">
                <a:solidFill>
                  <a:srgbClr val="3D3838"/>
                </a:solidFill>
                <a:latin typeface="Aptos Narrow" panose="020B0004020202020204" pitchFamily="34" charset="0"/>
                <a:ea typeface="Source Sans 3" pitchFamily="34" charset="-122"/>
                <a:cs typeface="Source Sans 3" pitchFamily="34" charset="-120"/>
              </a:rPr>
              <a:t>Häufigste dokumentierte Kulturzuordnung</a:t>
            </a:r>
            <a:endParaRPr lang="en-US" sz="1600" dirty="0"/>
          </a:p>
        </p:txBody>
      </p:sp>
      <p:sp>
        <p:nvSpPr>
          <p:cNvPr id="12" name="Text 10"/>
          <p:cNvSpPr/>
          <p:nvPr/>
        </p:nvSpPr>
        <p:spPr>
          <a:xfrm>
            <a:off x="6208260" y="3499286"/>
            <a:ext cx="5263621" cy="593923"/>
          </a:xfrm>
          <a:prstGeom prst="rect">
            <a:avLst/>
          </a:prstGeom>
          <a:noFill/>
          <a:ln/>
        </p:spPr>
        <p:txBody>
          <a:bodyPr wrap="none" lIns="0" tIns="0" rIns="0" bIns="0" rtlCol="0" anchor="t"/>
          <a:lstStyle/>
          <a:p>
            <a:pPr marL="0" indent="0" algn="ctr">
              <a:lnSpc>
                <a:spcPct val="83000"/>
              </a:lnSpc>
              <a:buNone/>
            </a:pPr>
            <a:r>
              <a:rPr lang="en-US" sz="4650" b="1" kern="0" spc="-47" dirty="0">
                <a:solidFill>
                  <a:srgbClr val="3D3838"/>
                </a:solidFill>
                <a:latin typeface="Aptos Narrow" panose="020B0004020202020204" pitchFamily="34" charset="0"/>
                <a:ea typeface="Montserrat Bold" pitchFamily="34" charset="-122"/>
                <a:cs typeface="Montserrat Bold" pitchFamily="34" charset="-120"/>
              </a:rPr>
              <a:t>49,01 %</a:t>
            </a:r>
            <a:endParaRPr lang="en-US" sz="4650" dirty="0"/>
          </a:p>
        </p:txBody>
      </p:sp>
      <p:sp>
        <p:nvSpPr>
          <p:cNvPr id="13" name="Text 11"/>
          <p:cNvSpPr/>
          <p:nvPr/>
        </p:nvSpPr>
        <p:spPr>
          <a:xfrm>
            <a:off x="6208260" y="4151809"/>
            <a:ext cx="5263621" cy="255587"/>
          </a:xfrm>
          <a:prstGeom prst="rect">
            <a:avLst/>
          </a:prstGeom>
          <a:noFill/>
          <a:ln/>
        </p:spPr>
        <p:txBody>
          <a:bodyPr wrap="none" lIns="0" tIns="0" rIns="0" bIns="0" rtlCol="0" anchor="t"/>
          <a:lstStyle/>
          <a:p>
            <a:pPr marL="0" indent="0" algn="ctr">
              <a:lnSpc>
                <a:spcPct val="104000"/>
              </a:lnSpc>
              <a:buNone/>
            </a:pPr>
            <a:r>
              <a:rPr lang="en-US" b="1" kern="0" spc="-16" dirty="0">
                <a:solidFill>
                  <a:srgbClr val="3D3838"/>
                </a:solidFill>
                <a:latin typeface="Aptos Narrow" panose="020B0004020202020204" pitchFamily="34" charset="0"/>
                <a:ea typeface="Montserrat Bold" pitchFamily="34" charset="-122"/>
                <a:cs typeface="Montserrat Bold" pitchFamily="34" charset="-120"/>
              </a:rPr>
              <a:t>Schenkungen</a:t>
            </a:r>
            <a:endParaRPr lang="en-US" dirty="0"/>
          </a:p>
        </p:txBody>
      </p:sp>
      <p:sp>
        <p:nvSpPr>
          <p:cNvPr id="14" name="Text 12"/>
          <p:cNvSpPr/>
          <p:nvPr/>
        </p:nvSpPr>
        <p:spPr>
          <a:xfrm>
            <a:off x="6208260" y="4515346"/>
            <a:ext cx="5263621" cy="269974"/>
          </a:xfrm>
          <a:prstGeom prst="rect">
            <a:avLst/>
          </a:prstGeom>
          <a:noFill/>
          <a:ln/>
        </p:spPr>
        <p:txBody>
          <a:bodyPr wrap="none" lIns="0" tIns="0" rIns="0" bIns="0" rtlCol="0" anchor="t"/>
          <a:lstStyle/>
          <a:p>
            <a:pPr marL="0" indent="0" algn="ctr">
              <a:lnSpc>
                <a:spcPct val="125000"/>
              </a:lnSpc>
              <a:buNone/>
            </a:pPr>
            <a:r>
              <a:rPr lang="en-US" sz="1600" dirty="0">
                <a:solidFill>
                  <a:srgbClr val="3D3838"/>
                </a:solidFill>
                <a:latin typeface="Aptos Narrow" panose="020B0004020202020204" pitchFamily="34" charset="0"/>
                <a:ea typeface="Source Sans 3" pitchFamily="34" charset="-122"/>
                <a:cs typeface="Source Sans 3" pitchFamily="34" charset="-120"/>
              </a:rPr>
              <a:t>Fast jedes </a:t>
            </a:r>
            <a:r>
              <a:rPr lang="en-US" sz="1600" dirty="0" err="1">
                <a:solidFill>
                  <a:srgbClr val="3D3838"/>
                </a:solidFill>
                <a:latin typeface="Aptos Narrow" panose="020B0004020202020204" pitchFamily="34" charset="0"/>
                <a:ea typeface="Source Sans 3" pitchFamily="34" charset="-122"/>
                <a:cs typeface="Source Sans 3" pitchFamily="34" charset="-120"/>
              </a:rPr>
              <a:t>zweite</a:t>
            </a:r>
            <a:r>
              <a:rPr lang="en-US" sz="1600" dirty="0">
                <a:solidFill>
                  <a:srgbClr val="3D3838"/>
                </a:solidFill>
                <a:latin typeface="Aptos Narrow" panose="020B0004020202020204" pitchFamily="34" charset="0"/>
                <a:ea typeface="Source Sans 3" pitchFamily="34" charset="-122"/>
                <a:cs typeface="Source Sans 3" pitchFamily="34" charset="-120"/>
              </a:rPr>
              <a:t> </a:t>
            </a:r>
            <a:r>
              <a:rPr lang="en-US" sz="1600" dirty="0" err="1">
                <a:solidFill>
                  <a:srgbClr val="3D3838"/>
                </a:solidFill>
                <a:latin typeface="Aptos Narrow" panose="020B0004020202020204" pitchFamily="34" charset="0"/>
                <a:ea typeface="Source Sans 3" pitchFamily="34" charset="-122"/>
                <a:cs typeface="Source Sans 3" pitchFamily="34" charset="-120"/>
              </a:rPr>
              <a:t>Objekt</a:t>
            </a:r>
            <a:r>
              <a:rPr lang="en-US" sz="1600" dirty="0">
                <a:solidFill>
                  <a:srgbClr val="3D3838"/>
                </a:solidFill>
                <a:latin typeface="Aptos Narrow" panose="020B0004020202020204" pitchFamily="34" charset="0"/>
                <a:ea typeface="Source Sans 3" pitchFamily="34" charset="-122"/>
                <a:cs typeface="Source Sans 3" pitchFamily="34" charset="-120"/>
              </a:rPr>
              <a:t> </a:t>
            </a:r>
            <a:r>
              <a:rPr lang="en-US" sz="1600" dirty="0" err="1">
                <a:solidFill>
                  <a:srgbClr val="3D3838"/>
                </a:solidFill>
                <a:latin typeface="Aptos Narrow" panose="020B0004020202020204" pitchFamily="34" charset="0"/>
                <a:ea typeface="Source Sans 3" pitchFamily="34" charset="-122"/>
                <a:cs typeface="Source Sans 3" pitchFamily="34" charset="-120"/>
              </a:rPr>
              <a:t>stammt</a:t>
            </a:r>
            <a:r>
              <a:rPr lang="en-US" sz="1600" dirty="0">
                <a:solidFill>
                  <a:srgbClr val="3D3838"/>
                </a:solidFill>
                <a:latin typeface="Aptos Narrow" panose="020B0004020202020204" pitchFamily="34" charset="0"/>
                <a:ea typeface="Source Sans 3" pitchFamily="34" charset="-122"/>
                <a:cs typeface="Source Sans 3" pitchFamily="34" charset="-120"/>
              </a:rPr>
              <a:t> </a:t>
            </a:r>
            <a:r>
              <a:rPr lang="en-US" sz="1600" dirty="0" err="1">
                <a:solidFill>
                  <a:srgbClr val="3D3838"/>
                </a:solidFill>
                <a:latin typeface="Aptos Narrow" panose="020B0004020202020204" pitchFamily="34" charset="0"/>
                <a:ea typeface="Source Sans 3" pitchFamily="34" charset="-122"/>
                <a:cs typeface="Source Sans 3" pitchFamily="34" charset="-120"/>
              </a:rPr>
              <a:t>aus</a:t>
            </a:r>
            <a:r>
              <a:rPr lang="en-US" sz="1600" dirty="0">
                <a:solidFill>
                  <a:srgbClr val="3D3838"/>
                </a:solidFill>
                <a:latin typeface="Aptos Narrow" panose="020B0004020202020204" pitchFamily="34" charset="0"/>
                <a:ea typeface="Source Sans 3" pitchFamily="34" charset="-122"/>
                <a:cs typeface="Source Sans 3" pitchFamily="34" charset="-120"/>
              </a:rPr>
              <a:t> </a:t>
            </a:r>
            <a:r>
              <a:rPr lang="en-US" sz="1600" dirty="0" err="1">
                <a:solidFill>
                  <a:srgbClr val="3D3838"/>
                </a:solidFill>
                <a:latin typeface="Aptos Narrow" panose="020B0004020202020204" pitchFamily="34" charset="0"/>
                <a:ea typeface="Source Sans 3" pitchFamily="34" charset="-122"/>
                <a:cs typeface="Source Sans 3" pitchFamily="34" charset="-120"/>
              </a:rPr>
              <a:t>einer</a:t>
            </a:r>
            <a:r>
              <a:rPr lang="en-US" sz="1600" dirty="0">
                <a:solidFill>
                  <a:srgbClr val="3D3838"/>
                </a:solidFill>
                <a:latin typeface="Aptos Narrow" panose="020B0004020202020204" pitchFamily="34" charset="0"/>
                <a:ea typeface="Source Sans 3" pitchFamily="34" charset="-122"/>
                <a:cs typeface="Source Sans 3" pitchFamily="34" charset="-120"/>
              </a:rPr>
              <a:t> </a:t>
            </a:r>
            <a:r>
              <a:rPr lang="en-US" sz="1600" dirty="0" err="1">
                <a:solidFill>
                  <a:srgbClr val="3D3838"/>
                </a:solidFill>
                <a:latin typeface="Aptos Narrow" panose="020B0004020202020204" pitchFamily="34" charset="0"/>
                <a:ea typeface="Source Sans 3" pitchFamily="34" charset="-122"/>
                <a:cs typeface="Source Sans 3" pitchFamily="34" charset="-120"/>
              </a:rPr>
              <a:t>Schenkung</a:t>
            </a:r>
            <a:r>
              <a:rPr lang="en-US" sz="1600" dirty="0">
                <a:solidFill>
                  <a:srgbClr val="3D3838"/>
                </a:solidFill>
                <a:latin typeface="Aptos Narrow" panose="020B0004020202020204" pitchFamily="34" charset="0"/>
                <a:ea typeface="Source Sans 3" pitchFamily="34" charset="-122"/>
                <a:cs typeface="Source Sans 3" pitchFamily="34" charset="-120"/>
              </a:rPr>
              <a:t> </a:t>
            </a:r>
            <a:endParaRPr lang="en-US" sz="1600" dirty="0"/>
          </a:p>
        </p:txBody>
      </p:sp>
      <p:sp>
        <p:nvSpPr>
          <p:cNvPr id="15" name="Shape 13"/>
          <p:cNvSpPr/>
          <p:nvPr/>
        </p:nvSpPr>
        <p:spPr>
          <a:xfrm>
            <a:off x="719814" y="5229224"/>
            <a:ext cx="10752067" cy="969965"/>
          </a:xfrm>
          <a:prstGeom prst="roundRect">
            <a:avLst>
              <a:gd name="adj" fmla="val 2382"/>
            </a:avLst>
          </a:prstGeom>
          <a:solidFill>
            <a:srgbClr val="FDECEA"/>
          </a:solidFill>
          <a:ln/>
        </p:spPr>
        <p:txBody>
          <a:bodyPr/>
          <a:lstStyle/>
          <a:p>
            <a:endParaRPr lang="de-DE"/>
          </a:p>
        </p:txBody>
      </p:sp>
      <p:pic>
        <p:nvPicPr>
          <p:cNvPr id="16" name="Image 0" descr="preencoded.png"/>
          <p:cNvPicPr>
            <a:picLocks noChangeAspect="1"/>
          </p:cNvPicPr>
          <p:nvPr/>
        </p:nvPicPr>
        <p:blipFill>
          <a:blip r:embed="rId3"/>
          <a:stretch>
            <a:fillRect/>
          </a:stretch>
        </p:blipFill>
        <p:spPr>
          <a:xfrm>
            <a:off x="899693" y="5635975"/>
            <a:ext cx="224923" cy="179884"/>
          </a:xfrm>
          <a:prstGeom prst="rect">
            <a:avLst/>
          </a:prstGeom>
        </p:spPr>
      </p:pic>
      <p:sp>
        <p:nvSpPr>
          <p:cNvPr id="17" name="Text 14"/>
          <p:cNvSpPr/>
          <p:nvPr/>
        </p:nvSpPr>
        <p:spPr>
          <a:xfrm>
            <a:off x="1304495" y="5321737"/>
            <a:ext cx="9987506" cy="818852"/>
          </a:xfrm>
          <a:prstGeom prst="rect">
            <a:avLst/>
          </a:prstGeom>
          <a:noFill/>
          <a:ln/>
        </p:spPr>
        <p:txBody>
          <a:bodyPr wrap="square" lIns="0" tIns="0" rIns="0" bIns="0" rtlCol="0" anchor="t"/>
          <a:lstStyle/>
          <a:p>
            <a:pPr>
              <a:lnSpc>
                <a:spcPct val="114000"/>
              </a:lnSpc>
              <a:spcAft>
                <a:spcPts val="1250"/>
              </a:spcAft>
            </a:pPr>
            <a:r>
              <a:rPr lang="en-US" sz="1600" dirty="0" err="1">
                <a:solidFill>
                  <a:srgbClr val="000000"/>
                </a:solidFill>
                <a:latin typeface="Aptos Narrow" panose="020B0004020202020204" pitchFamily="34" charset="0"/>
                <a:ea typeface="Source Sans 3" pitchFamily="34" charset="-122"/>
                <a:cs typeface="Source Sans 3" pitchFamily="34" charset="-120"/>
              </a:rPr>
              <a:t>Ägypten</a:t>
            </a:r>
            <a:r>
              <a:rPr lang="en-US" sz="1600" dirty="0">
                <a:solidFill>
                  <a:srgbClr val="000000"/>
                </a:solidFill>
                <a:latin typeface="Aptos Narrow" panose="020B0004020202020204" pitchFamily="34" charset="0"/>
                <a:ea typeface="Source Sans 3" pitchFamily="34" charset="-122"/>
                <a:cs typeface="Source Sans 3" pitchFamily="34" charset="-120"/>
              </a:rPr>
              <a:t> </a:t>
            </a:r>
            <a:r>
              <a:rPr lang="en-US" sz="1600" dirty="0" err="1">
                <a:solidFill>
                  <a:srgbClr val="000000"/>
                </a:solidFill>
                <a:latin typeface="Aptos Narrow" panose="020B0004020202020204" pitchFamily="34" charset="0"/>
                <a:ea typeface="Source Sans 3" pitchFamily="34" charset="-122"/>
                <a:cs typeface="Source Sans 3" pitchFamily="34" charset="-120"/>
              </a:rPr>
              <a:t>häufigstes</a:t>
            </a:r>
            <a:r>
              <a:rPr lang="en-US" sz="1600" dirty="0">
                <a:solidFill>
                  <a:srgbClr val="000000"/>
                </a:solidFill>
                <a:latin typeface="Aptos Narrow" panose="020B0004020202020204" pitchFamily="34" charset="0"/>
                <a:ea typeface="Source Sans 3" pitchFamily="34" charset="-122"/>
                <a:cs typeface="Source Sans 3" pitchFamily="34" charset="-120"/>
              </a:rPr>
              <a:t> </a:t>
            </a:r>
            <a:r>
              <a:rPr lang="en-US" sz="1600" dirty="0" err="1">
                <a:solidFill>
                  <a:srgbClr val="000000"/>
                </a:solidFill>
                <a:latin typeface="Aptos Narrow" panose="020B0004020202020204" pitchFamily="34" charset="0"/>
                <a:ea typeface="Source Sans 3" pitchFamily="34" charset="-122"/>
                <a:cs typeface="Source Sans 3" pitchFamily="34" charset="-120"/>
              </a:rPr>
              <a:t>dokumentiertes</a:t>
            </a:r>
            <a:r>
              <a:rPr lang="en-US" sz="1600" dirty="0">
                <a:solidFill>
                  <a:srgbClr val="000000"/>
                </a:solidFill>
                <a:latin typeface="Aptos Narrow" panose="020B0004020202020204" pitchFamily="34" charset="0"/>
                <a:ea typeface="Source Sans 3" pitchFamily="34" charset="-122"/>
                <a:cs typeface="Source Sans 3" pitchFamily="34" charset="-120"/>
              </a:rPr>
              <a:t> </a:t>
            </a:r>
            <a:r>
              <a:rPr lang="en-US" sz="1600" dirty="0" err="1">
                <a:solidFill>
                  <a:srgbClr val="000000"/>
                </a:solidFill>
                <a:latin typeface="Aptos Narrow" panose="020B0004020202020204" pitchFamily="34" charset="0"/>
                <a:ea typeface="Source Sans 3" pitchFamily="34" charset="-122"/>
                <a:cs typeface="Source Sans 3" pitchFamily="34" charset="-120"/>
              </a:rPr>
              <a:t>Herkunftsland</a:t>
            </a:r>
            <a:r>
              <a:rPr lang="en-US" sz="1600" dirty="0">
                <a:solidFill>
                  <a:srgbClr val="000000"/>
                </a:solidFill>
                <a:latin typeface="Aptos Narrow" panose="020B0004020202020204" pitchFamily="34" charset="0"/>
                <a:ea typeface="Source Sans 3" pitchFamily="34" charset="-122"/>
                <a:cs typeface="Source Sans 3" pitchFamily="34" charset="-120"/>
              </a:rPr>
              <a:t> (</a:t>
            </a:r>
            <a:r>
              <a:rPr lang="en-US" sz="1600" b="1" dirty="0">
                <a:solidFill>
                  <a:srgbClr val="000000"/>
                </a:solidFill>
                <a:latin typeface="Aptos Narrow" panose="020B0004020202020204" pitchFamily="34" charset="0"/>
                <a:ea typeface="Source Sans 3" pitchFamily="34" charset="-122"/>
                <a:cs typeface="Source Sans 3" pitchFamily="34" charset="-120"/>
              </a:rPr>
              <a:t>32.749 </a:t>
            </a:r>
            <a:r>
              <a:rPr lang="en-US" sz="1600" b="1" dirty="0" err="1">
                <a:solidFill>
                  <a:srgbClr val="000000"/>
                </a:solidFill>
                <a:latin typeface="Aptos Narrow" panose="020B0004020202020204" pitchFamily="34" charset="0"/>
                <a:ea typeface="Source Sans 3" pitchFamily="34" charset="-122"/>
                <a:cs typeface="Source Sans 3" pitchFamily="34" charset="-120"/>
              </a:rPr>
              <a:t>Objekte</a:t>
            </a:r>
            <a:r>
              <a:rPr lang="en-US" sz="1600" b="1" dirty="0">
                <a:solidFill>
                  <a:srgbClr val="000000"/>
                </a:solidFill>
                <a:latin typeface="Aptos Narrow" panose="020B0004020202020204" pitchFamily="34" charset="0"/>
                <a:ea typeface="Source Sans 3" pitchFamily="34" charset="-122"/>
                <a:cs typeface="Source Sans 3" pitchFamily="34" charset="-120"/>
              </a:rPr>
              <a:t> </a:t>
            </a:r>
            <a:r>
              <a:rPr lang="en-US" sz="1600" dirty="0">
                <a:solidFill>
                  <a:srgbClr val="000000"/>
                </a:solidFill>
                <a:latin typeface="Aptos Narrow" panose="020B0004020202020204" pitchFamily="34" charset="0"/>
                <a:ea typeface="Source Sans 3" pitchFamily="34" charset="-122"/>
                <a:cs typeface="Source Sans 3" pitchFamily="34" charset="-120"/>
              </a:rPr>
              <a:t>, 7,31 % der </a:t>
            </a:r>
            <a:r>
              <a:rPr lang="en-US" sz="1600" dirty="0" err="1">
                <a:solidFill>
                  <a:srgbClr val="000000"/>
                </a:solidFill>
                <a:latin typeface="Aptos Narrow" panose="020B0004020202020204" pitchFamily="34" charset="0"/>
                <a:ea typeface="Source Sans 3" pitchFamily="34" charset="-122"/>
                <a:cs typeface="Source Sans 3" pitchFamily="34" charset="-120"/>
              </a:rPr>
              <a:t>Gesamtsammlung</a:t>
            </a:r>
            <a:r>
              <a:rPr lang="en-US" sz="1600" dirty="0">
                <a:solidFill>
                  <a:srgbClr val="000000"/>
                </a:solidFill>
                <a:latin typeface="Aptos Narrow" panose="020B0004020202020204" pitchFamily="34" charset="0"/>
                <a:ea typeface="Source Sans 3" pitchFamily="34" charset="-122"/>
                <a:cs typeface="Source Sans 3" pitchFamily="34" charset="-120"/>
              </a:rPr>
              <a:t>).</a:t>
            </a:r>
            <a:r>
              <a:rPr lang="en-US" sz="1600" dirty="0">
                <a:latin typeface="Aptos Narrow" panose="020B0004020202020204" pitchFamily="34" charset="0"/>
              </a:rPr>
              <a:t> </a:t>
            </a:r>
          </a:p>
          <a:p>
            <a:pPr>
              <a:lnSpc>
                <a:spcPct val="114000"/>
              </a:lnSpc>
              <a:spcAft>
                <a:spcPts val="1250"/>
              </a:spcAft>
            </a:pPr>
            <a:r>
              <a:rPr lang="en-US" sz="1600" dirty="0">
                <a:solidFill>
                  <a:srgbClr val="000000"/>
                </a:solidFill>
                <a:latin typeface="Aptos Narrow" panose="020B0004020202020204" pitchFamily="34" charset="0"/>
                <a:ea typeface="Source Sans 3" pitchFamily="34" charset="-122"/>
                <a:cs typeface="Source Sans 3" pitchFamily="34" charset="-120"/>
              </a:rPr>
              <a:t>Die </a:t>
            </a:r>
            <a:r>
              <a:rPr lang="en-US" sz="1600" dirty="0" err="1">
                <a:solidFill>
                  <a:srgbClr val="000000"/>
                </a:solidFill>
                <a:latin typeface="Aptos Narrow" panose="020B0004020202020204" pitchFamily="34" charset="0"/>
                <a:ea typeface="Source Sans 3" pitchFamily="34" charset="-122"/>
                <a:cs typeface="Source Sans 3" pitchFamily="34" charset="-120"/>
              </a:rPr>
              <a:t>Sammlung</a:t>
            </a:r>
            <a:r>
              <a:rPr lang="en-US" sz="1600" dirty="0">
                <a:solidFill>
                  <a:srgbClr val="000000"/>
                </a:solidFill>
                <a:latin typeface="Aptos Narrow" panose="020B0004020202020204" pitchFamily="34" charset="0"/>
                <a:ea typeface="Source Sans 3" pitchFamily="34" charset="-122"/>
                <a:cs typeface="Source Sans 3" pitchFamily="34" charset="-120"/>
              </a:rPr>
              <a:t> des MET </a:t>
            </a:r>
            <a:r>
              <a:rPr lang="en-US" sz="1600" dirty="0" err="1">
                <a:solidFill>
                  <a:srgbClr val="000000"/>
                </a:solidFill>
                <a:latin typeface="Aptos Narrow" panose="020B0004020202020204" pitchFamily="34" charset="0"/>
                <a:ea typeface="Source Sans 3" pitchFamily="34" charset="-122"/>
                <a:cs typeface="Source Sans 3" pitchFamily="34" charset="-120"/>
              </a:rPr>
              <a:t>ist</a:t>
            </a:r>
            <a:r>
              <a:rPr lang="en-US" sz="1600" dirty="0">
                <a:solidFill>
                  <a:srgbClr val="000000"/>
                </a:solidFill>
                <a:latin typeface="Aptos Narrow" panose="020B0004020202020204" pitchFamily="34" charset="0"/>
                <a:ea typeface="Source Sans 3" pitchFamily="34" charset="-122"/>
                <a:cs typeface="Source Sans 3" pitchFamily="34" charset="-120"/>
              </a:rPr>
              <a:t> </a:t>
            </a:r>
            <a:r>
              <a:rPr lang="en-US" sz="1600" dirty="0" err="1">
                <a:solidFill>
                  <a:srgbClr val="000000"/>
                </a:solidFill>
                <a:latin typeface="Aptos Narrow" panose="020B0004020202020204" pitchFamily="34" charset="0"/>
                <a:ea typeface="Source Sans 3" pitchFamily="34" charset="-122"/>
                <a:cs typeface="Source Sans 3" pitchFamily="34" charset="-120"/>
              </a:rPr>
              <a:t>vielfältig</a:t>
            </a:r>
            <a:r>
              <a:rPr lang="en-US" sz="1600" dirty="0">
                <a:solidFill>
                  <a:srgbClr val="000000"/>
                </a:solidFill>
                <a:latin typeface="Aptos Narrow" panose="020B0004020202020204" pitchFamily="34" charset="0"/>
                <a:ea typeface="Source Sans 3" pitchFamily="34" charset="-122"/>
                <a:cs typeface="Source Sans 3" pitchFamily="34" charset="-120"/>
              </a:rPr>
              <a:t> </a:t>
            </a:r>
            <a:r>
              <a:rPr lang="en-US" sz="1600" dirty="0" err="1">
                <a:solidFill>
                  <a:srgbClr val="000000"/>
                </a:solidFill>
                <a:latin typeface="Aptos Narrow" panose="020B0004020202020204" pitchFamily="34" charset="0"/>
                <a:ea typeface="Source Sans 3" pitchFamily="34" charset="-122"/>
                <a:cs typeface="Source Sans 3" pitchFamily="34" charset="-120"/>
              </a:rPr>
              <a:t>mit</a:t>
            </a:r>
            <a:r>
              <a:rPr lang="en-US" sz="1600" dirty="0">
                <a:solidFill>
                  <a:srgbClr val="000000"/>
                </a:solidFill>
                <a:latin typeface="Aptos Narrow" panose="020B0004020202020204" pitchFamily="34" charset="0"/>
                <a:ea typeface="Source Sans 3" pitchFamily="34" charset="-122"/>
                <a:cs typeface="Source Sans 3" pitchFamily="34" charset="-120"/>
              </a:rPr>
              <a:t> z</a:t>
            </a:r>
            <a:r>
              <a:rPr lang="de-DE" sz="1600" dirty="0" err="1">
                <a:solidFill>
                  <a:srgbClr val="000000"/>
                </a:solidFill>
                <a:latin typeface="Aptos Narrow" panose="020B0004020202020204" pitchFamily="34" charset="0"/>
                <a:ea typeface="Source Sans 3" pitchFamily="34" charset="-122"/>
                <a:cs typeface="Source Sans 3" pitchFamily="34" charset="-120"/>
              </a:rPr>
              <a:t>eitlichem</a:t>
            </a:r>
            <a:r>
              <a:rPr lang="de-DE" sz="1600" dirty="0">
                <a:solidFill>
                  <a:srgbClr val="000000"/>
                </a:solidFill>
                <a:latin typeface="Aptos Narrow" panose="020B0004020202020204" pitchFamily="34" charset="0"/>
                <a:ea typeface="Source Sans 3" pitchFamily="34" charset="-122"/>
                <a:cs typeface="Source Sans 3" pitchFamily="34" charset="-120"/>
              </a:rPr>
              <a:t> Schwerpunkt </a:t>
            </a:r>
            <a:r>
              <a:rPr lang="de-DE" sz="1600" b="1" dirty="0">
                <a:solidFill>
                  <a:srgbClr val="000000"/>
                </a:solidFill>
                <a:latin typeface="Aptos Narrow" panose="020B0004020202020204" pitchFamily="34" charset="0"/>
                <a:ea typeface="Source Sans 3" pitchFamily="34" charset="-122"/>
                <a:cs typeface="Source Sans 3" pitchFamily="34" charset="-120"/>
              </a:rPr>
              <a:t>18. bis frühes 20. Jh.</a:t>
            </a:r>
            <a:r>
              <a:rPr lang="en-US" sz="1600" dirty="0">
                <a:solidFill>
                  <a:srgbClr val="000000"/>
                </a:solidFill>
                <a:latin typeface="Aptos Narrow" panose="020B0004020202020204" pitchFamily="34" charset="0"/>
                <a:ea typeface="Source Sans 3" pitchFamily="34" charset="-122"/>
                <a:cs typeface="Source Sans 3" pitchFamily="34" charset="-120"/>
              </a:rPr>
              <a:t>, aber </a:t>
            </a:r>
            <a:r>
              <a:rPr lang="en-US" sz="1600" dirty="0" err="1">
                <a:solidFill>
                  <a:srgbClr val="000000"/>
                </a:solidFill>
                <a:latin typeface="Aptos Narrow" panose="020B0004020202020204" pitchFamily="34" charset="0"/>
                <a:ea typeface="Source Sans 3" pitchFamily="34" charset="-122"/>
                <a:cs typeface="Source Sans 3" pitchFamily="34" charset="-120"/>
              </a:rPr>
              <a:t>lückenhaft</a:t>
            </a:r>
            <a:r>
              <a:rPr lang="en-US" sz="1600" dirty="0">
                <a:solidFill>
                  <a:srgbClr val="000000"/>
                </a:solidFill>
                <a:latin typeface="Aptos Narrow" panose="020B0004020202020204" pitchFamily="34" charset="0"/>
                <a:ea typeface="Source Sans 3" pitchFamily="34" charset="-122"/>
                <a:cs typeface="Source Sans 3" pitchFamily="34" charset="-120"/>
              </a:rPr>
              <a:t> </a:t>
            </a:r>
            <a:r>
              <a:rPr lang="en-US" sz="1600" dirty="0" err="1">
                <a:solidFill>
                  <a:srgbClr val="000000"/>
                </a:solidFill>
                <a:latin typeface="Aptos Narrow" panose="020B0004020202020204" pitchFamily="34" charset="0"/>
                <a:ea typeface="Source Sans 3" pitchFamily="34" charset="-122"/>
                <a:cs typeface="Source Sans 3" pitchFamily="34" charset="-120"/>
              </a:rPr>
              <a:t>dokumentiert</a:t>
            </a:r>
            <a:r>
              <a:rPr lang="en-US" sz="1600" dirty="0">
                <a:solidFill>
                  <a:srgbClr val="000000"/>
                </a:solidFill>
                <a:latin typeface="Aptos Narrow" panose="020B0004020202020204" pitchFamily="34" charset="0"/>
                <a:ea typeface="Source Sans 3" pitchFamily="34" charset="-122"/>
                <a:cs typeface="Source Sans 3" pitchFamily="34" charset="-120"/>
              </a:rPr>
              <a:t>.</a:t>
            </a:r>
            <a:endParaRPr lang="en-US" sz="1600" dirty="0">
              <a:latin typeface="Aptos Narrow" panose="020B0004020202020204" pitchFamily="34" charset="0"/>
            </a:endParaRPr>
          </a:p>
        </p:txBody>
      </p:sp>
      <p:sp>
        <p:nvSpPr>
          <p:cNvPr id="19" name="Textfeld 18">
            <a:extLst>
              <a:ext uri="{FF2B5EF4-FFF2-40B4-BE49-F238E27FC236}">
                <a16:creationId xmlns:a16="http://schemas.microsoft.com/office/drawing/2014/main" id="{1DC7CCB3-C750-2E47-BFF0-F3212082C0E9}"/>
              </a:ext>
            </a:extLst>
          </p:cNvPr>
          <p:cNvSpPr txBox="1"/>
          <p:nvPr/>
        </p:nvSpPr>
        <p:spPr>
          <a:xfrm>
            <a:off x="11764652" y="6454588"/>
            <a:ext cx="490101" cy="338554"/>
          </a:xfrm>
          <a:prstGeom prst="rect">
            <a:avLst/>
          </a:prstGeom>
          <a:noFill/>
        </p:spPr>
        <p:txBody>
          <a:bodyPr wrap="square" rtlCol="0">
            <a:spAutoFit/>
          </a:bodyPr>
          <a:lstStyle/>
          <a:p>
            <a:r>
              <a:rPr lang="de-DE" sz="1600" dirty="0">
                <a:solidFill>
                  <a:srgbClr val="3D3838"/>
                </a:solidFill>
                <a:latin typeface="Aptos Narrow" panose="020B0004020202020204" pitchFamily="34" charset="0"/>
              </a:rPr>
              <a:t>8</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619809" y="0"/>
            <a:ext cx="4571886" cy="6858000"/>
          </a:xfrm>
          <a:prstGeom prst="rect">
            <a:avLst/>
          </a:prstGeom>
        </p:spPr>
      </p:pic>
      <p:sp>
        <p:nvSpPr>
          <p:cNvPr id="3" name="Text 0"/>
          <p:cNvSpPr/>
          <p:nvPr/>
        </p:nvSpPr>
        <p:spPr>
          <a:xfrm>
            <a:off x="719814" y="530381"/>
            <a:ext cx="6180181" cy="485775"/>
          </a:xfrm>
          <a:prstGeom prst="rect">
            <a:avLst/>
          </a:prstGeom>
          <a:noFill/>
          <a:ln/>
        </p:spPr>
        <p:txBody>
          <a:bodyPr wrap="none" lIns="0" tIns="0" rIns="0" bIns="0" rtlCol="0" anchor="t"/>
          <a:lstStyle/>
          <a:p>
            <a:pPr marL="0" indent="0" algn="l">
              <a:lnSpc>
                <a:spcPct val="104000"/>
              </a:lnSpc>
              <a:buNone/>
            </a:pPr>
            <a:r>
              <a:rPr lang="en-US" sz="3600" b="1" kern="0" spc="-31" dirty="0">
                <a:solidFill>
                  <a:srgbClr val="000000"/>
                </a:solidFill>
                <a:latin typeface="Aptos Narrow" panose="020B0004020202020204" pitchFamily="34" charset="0"/>
                <a:ea typeface="Montserrat Bold" pitchFamily="34" charset="-122"/>
                <a:cs typeface="Montserrat Bold" pitchFamily="34" charset="-120"/>
              </a:rPr>
              <a:t>Iran im Kontext der Sammlung</a:t>
            </a:r>
            <a:endParaRPr lang="en-US" sz="3600" dirty="0"/>
          </a:p>
        </p:txBody>
      </p:sp>
      <p:pic>
        <p:nvPicPr>
          <p:cNvPr id="4"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19814" y="1333962"/>
            <a:ext cx="6180181" cy="1197366"/>
          </a:xfrm>
          <a:prstGeom prst="rect">
            <a:avLst/>
          </a:prstGeom>
        </p:spPr>
      </p:pic>
      <p:sp>
        <p:nvSpPr>
          <p:cNvPr id="5" name="Text 1"/>
          <p:cNvSpPr/>
          <p:nvPr/>
        </p:nvSpPr>
        <p:spPr>
          <a:xfrm>
            <a:off x="986010" y="1455601"/>
            <a:ext cx="5723985" cy="309715"/>
          </a:xfrm>
          <a:prstGeom prst="rect">
            <a:avLst/>
          </a:prstGeom>
          <a:noFill/>
          <a:ln/>
        </p:spPr>
        <p:txBody>
          <a:bodyPr wrap="none" lIns="0" tIns="0" rIns="0" bIns="0" rtlCol="0" anchor="t"/>
          <a:lstStyle/>
          <a:p>
            <a:pPr marL="0" indent="0" algn="l">
              <a:lnSpc>
                <a:spcPct val="104000"/>
              </a:lnSpc>
              <a:buNone/>
            </a:pPr>
            <a:r>
              <a:rPr lang="en-US" b="1" kern="0" spc="-15" dirty="0">
                <a:solidFill>
                  <a:srgbClr val="3D3838"/>
                </a:solidFill>
                <a:latin typeface="Aptos Narrow" panose="020B0004020202020204" pitchFamily="34" charset="0"/>
                <a:ea typeface="Montserrat Bold" pitchFamily="34" charset="-122"/>
                <a:cs typeface="Montserrat Bold" pitchFamily="34" charset="-120"/>
              </a:rPr>
              <a:t>9093 Objekte</a:t>
            </a:r>
            <a:endParaRPr lang="en-US" dirty="0"/>
          </a:p>
        </p:txBody>
      </p:sp>
      <p:sp>
        <p:nvSpPr>
          <p:cNvPr id="6" name="Text 2"/>
          <p:cNvSpPr/>
          <p:nvPr/>
        </p:nvSpPr>
        <p:spPr>
          <a:xfrm>
            <a:off x="986011" y="1862749"/>
            <a:ext cx="5723985" cy="533747"/>
          </a:xfrm>
          <a:prstGeom prst="rect">
            <a:avLst/>
          </a:prstGeom>
          <a:noFill/>
          <a:ln/>
        </p:spPr>
        <p:txBody>
          <a:bodyPr wrap="none" lIns="0" tIns="0" rIns="0" bIns="0" rtlCol="0" anchor="t"/>
          <a:lstStyle/>
          <a:p>
            <a:pPr marL="0" indent="0" algn="l">
              <a:lnSpc>
                <a:spcPct val="114000"/>
              </a:lnSpc>
              <a:buNone/>
            </a:pPr>
            <a:r>
              <a:rPr lang="en-US" sz="1600" b="1" dirty="0">
                <a:solidFill>
                  <a:srgbClr val="3D3838"/>
                </a:solidFill>
                <a:latin typeface="Aptos Narrow" panose="020B0004020202020204" pitchFamily="34" charset="0"/>
                <a:ea typeface="Source Sans 3 Bold" pitchFamily="34" charset="-122"/>
                <a:cs typeface="Source Sans 3 Bold" pitchFamily="34" charset="-120"/>
              </a:rPr>
              <a:t>2,03 %</a:t>
            </a:r>
            <a:r>
              <a:rPr lang="en-US" sz="1600" dirty="0">
                <a:solidFill>
                  <a:srgbClr val="3D3838"/>
                </a:solidFill>
                <a:latin typeface="Aptos Narrow" panose="020B0004020202020204" pitchFamily="34" charset="0"/>
                <a:ea typeface="Source Sans 3" pitchFamily="34" charset="-122"/>
                <a:cs typeface="Source Sans 3" pitchFamily="34" charset="-120"/>
              </a:rPr>
              <a:t> der Gesamtsammlung – ein kleiner, aber historisch </a:t>
            </a:r>
            <a:r>
              <a:rPr lang="en-US" sz="1600" dirty="0" err="1">
                <a:solidFill>
                  <a:srgbClr val="3D3838"/>
                </a:solidFill>
                <a:latin typeface="Aptos Narrow" panose="020B0004020202020204" pitchFamily="34" charset="0"/>
                <a:ea typeface="Source Sans 3" pitchFamily="34" charset="-122"/>
                <a:cs typeface="Source Sans 3" pitchFamily="34" charset="-120"/>
              </a:rPr>
              <a:t>tiefer</a:t>
            </a:r>
            <a:r>
              <a:rPr lang="en-US" sz="1600" dirty="0">
                <a:solidFill>
                  <a:srgbClr val="3D3838"/>
                </a:solidFill>
                <a:latin typeface="Aptos Narrow" panose="020B0004020202020204" pitchFamily="34" charset="0"/>
                <a:ea typeface="Source Sans 3" pitchFamily="34" charset="-122"/>
                <a:cs typeface="Source Sans 3" pitchFamily="34" charset="-120"/>
              </a:rPr>
              <a:t> </a:t>
            </a:r>
          </a:p>
          <a:p>
            <a:pPr marL="0" indent="0" algn="l">
              <a:lnSpc>
                <a:spcPct val="114000"/>
              </a:lnSpc>
              <a:buNone/>
            </a:pPr>
            <a:r>
              <a:rPr lang="en-US" sz="1600" dirty="0" err="1">
                <a:solidFill>
                  <a:srgbClr val="3D3838"/>
                </a:solidFill>
                <a:latin typeface="Aptos Narrow" panose="020B0004020202020204" pitchFamily="34" charset="0"/>
                <a:ea typeface="Source Sans 3" pitchFamily="34" charset="-122"/>
                <a:cs typeface="Source Sans 3" pitchFamily="34" charset="-120"/>
              </a:rPr>
              <a:t>Teilbestand</a:t>
            </a:r>
            <a:endParaRPr lang="en-US" sz="1600" dirty="0"/>
          </a:p>
        </p:txBody>
      </p:sp>
      <p:pic>
        <p:nvPicPr>
          <p:cNvPr id="7"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19814" y="2622659"/>
            <a:ext cx="6180181" cy="1182876"/>
          </a:xfrm>
          <a:prstGeom prst="rect">
            <a:avLst/>
          </a:prstGeom>
        </p:spPr>
      </p:pic>
      <p:sp>
        <p:nvSpPr>
          <p:cNvPr id="8" name="Text 3"/>
          <p:cNvSpPr/>
          <p:nvPr/>
        </p:nvSpPr>
        <p:spPr>
          <a:xfrm>
            <a:off x="986011" y="2750244"/>
            <a:ext cx="5723985" cy="242788"/>
          </a:xfrm>
          <a:prstGeom prst="rect">
            <a:avLst/>
          </a:prstGeom>
          <a:noFill/>
          <a:ln/>
        </p:spPr>
        <p:txBody>
          <a:bodyPr wrap="none" lIns="0" tIns="0" rIns="0" bIns="0" rtlCol="0" anchor="t"/>
          <a:lstStyle/>
          <a:p>
            <a:pPr marL="0" indent="0" algn="l">
              <a:lnSpc>
                <a:spcPct val="104000"/>
              </a:lnSpc>
              <a:buNone/>
            </a:pPr>
            <a:r>
              <a:rPr lang="en-US" b="1" kern="0" spc="-15" dirty="0">
                <a:solidFill>
                  <a:srgbClr val="3D3838"/>
                </a:solidFill>
                <a:latin typeface="Aptos Narrow" panose="020B0004020202020204" pitchFamily="34" charset="0"/>
                <a:ea typeface="Montserrat Bold" pitchFamily="34" charset="-122"/>
                <a:cs typeface="Montserrat Bold" pitchFamily="34" charset="-120"/>
              </a:rPr>
              <a:t>Historische Tiefe</a:t>
            </a:r>
            <a:endParaRPr lang="en-US" dirty="0"/>
          </a:p>
        </p:txBody>
      </p:sp>
      <p:sp>
        <p:nvSpPr>
          <p:cNvPr id="9" name="Text 4"/>
          <p:cNvSpPr/>
          <p:nvPr/>
        </p:nvSpPr>
        <p:spPr>
          <a:xfrm>
            <a:off x="997620" y="3090465"/>
            <a:ext cx="5731426" cy="668579"/>
          </a:xfrm>
          <a:prstGeom prst="rect">
            <a:avLst/>
          </a:prstGeom>
          <a:noFill/>
          <a:ln/>
        </p:spPr>
        <p:txBody>
          <a:bodyPr wrap="none" lIns="0" tIns="0" rIns="0" bIns="0" rtlCol="0" anchor="t"/>
          <a:lstStyle/>
          <a:p>
            <a:pPr marL="0" indent="0" algn="l">
              <a:lnSpc>
                <a:spcPct val="122000"/>
              </a:lnSpc>
              <a:buNone/>
            </a:pPr>
            <a:r>
              <a:rPr lang="de-DE" sz="1600" dirty="0">
                <a:solidFill>
                  <a:srgbClr val="3D3838"/>
                </a:solidFill>
                <a:latin typeface="Aptos Narrow" panose="020B0004020202020204" pitchFamily="34" charset="0"/>
                <a:ea typeface="Source Sans 3" pitchFamily="34" charset="-122"/>
                <a:cs typeface="Source Sans 3" pitchFamily="34" charset="-120"/>
              </a:rPr>
              <a:t>Das älteste Objekt weist einen Datierungsbeginn von 6000 v. Chr. auf </a:t>
            </a:r>
            <a:r>
              <a:rPr lang="en-US" sz="1600" dirty="0">
                <a:solidFill>
                  <a:srgbClr val="3D3838"/>
                </a:solidFill>
                <a:latin typeface="Aptos Narrow" panose="020B0004020202020204" pitchFamily="34" charset="0"/>
                <a:ea typeface="Source Sans 3" pitchFamily="34" charset="-122"/>
                <a:cs typeface="Source Sans 3" pitchFamily="34" charset="-120"/>
              </a:rPr>
              <a:t>– </a:t>
            </a:r>
          </a:p>
          <a:p>
            <a:pPr marL="0" indent="0" algn="l">
              <a:lnSpc>
                <a:spcPct val="122000"/>
              </a:lnSpc>
              <a:buNone/>
            </a:pPr>
            <a:r>
              <a:rPr lang="en-US" sz="1600" b="1" dirty="0">
                <a:solidFill>
                  <a:srgbClr val="3D3838"/>
                </a:solidFill>
                <a:latin typeface="Aptos Narrow" panose="020B0004020202020204" pitchFamily="34" charset="0"/>
                <a:ea typeface="Source Sans 3" pitchFamily="34" charset="-122"/>
                <a:cs typeface="Source Sans 3" pitchFamily="34" charset="-120"/>
              </a:rPr>
              <a:t>96,76</a:t>
            </a:r>
            <a:r>
              <a:rPr lang="en-US" sz="1600" b="1" dirty="0">
                <a:solidFill>
                  <a:srgbClr val="3D3838"/>
                </a:solidFill>
                <a:latin typeface="Aptos Narrow" panose="020B0004020202020204" pitchFamily="34" charset="0"/>
                <a:ea typeface="Source Sans 3 Bold" pitchFamily="34" charset="-122"/>
                <a:cs typeface="Source Sans 3 Bold" pitchFamily="34" charset="-120"/>
              </a:rPr>
              <a:t> %</a:t>
            </a:r>
            <a:r>
              <a:rPr lang="en-US" sz="1600" dirty="0">
                <a:solidFill>
                  <a:srgbClr val="3D3838"/>
                </a:solidFill>
                <a:latin typeface="Aptos Narrow" panose="020B0004020202020204" pitchFamily="34" charset="0"/>
                <a:ea typeface="Source Sans 3" pitchFamily="34" charset="-122"/>
                <a:cs typeface="Source Sans 3" pitchFamily="34" charset="-120"/>
              </a:rPr>
              <a:t> </a:t>
            </a:r>
            <a:r>
              <a:rPr lang="en-US" sz="1600" dirty="0" err="1">
                <a:solidFill>
                  <a:srgbClr val="3D3838"/>
                </a:solidFill>
                <a:latin typeface="Aptos Narrow" panose="020B0004020202020204" pitchFamily="34" charset="0"/>
                <a:ea typeface="Source Sans 3" pitchFamily="34" charset="-122"/>
                <a:cs typeface="Source Sans 3" pitchFamily="34" charset="-120"/>
              </a:rPr>
              <a:t>stammen</a:t>
            </a:r>
            <a:r>
              <a:rPr lang="en-US" sz="1600" dirty="0">
                <a:solidFill>
                  <a:srgbClr val="3D3838"/>
                </a:solidFill>
                <a:latin typeface="Aptos Narrow" panose="020B0004020202020204" pitchFamily="34" charset="0"/>
                <a:ea typeface="Source Sans 3" pitchFamily="34" charset="-122"/>
                <a:cs typeface="Source Sans 3" pitchFamily="34" charset="-120"/>
              </a:rPr>
              <a:t> </a:t>
            </a:r>
            <a:r>
              <a:rPr lang="en-US" sz="1600" dirty="0" err="1">
                <a:solidFill>
                  <a:srgbClr val="3D3838"/>
                </a:solidFill>
                <a:latin typeface="Aptos Narrow" panose="020B0004020202020204" pitchFamily="34" charset="0"/>
                <a:ea typeface="Source Sans 3" pitchFamily="34" charset="-122"/>
                <a:cs typeface="Source Sans 3" pitchFamily="34" charset="-120"/>
              </a:rPr>
              <a:t>aus</a:t>
            </a:r>
            <a:r>
              <a:rPr lang="en-US" sz="1600" dirty="0">
                <a:solidFill>
                  <a:srgbClr val="3D3838"/>
                </a:solidFill>
                <a:latin typeface="Aptos Narrow" panose="020B0004020202020204" pitchFamily="34" charset="0"/>
                <a:ea typeface="Source Sans 3" pitchFamily="34" charset="-122"/>
                <a:cs typeface="Source Sans 3" pitchFamily="34" charset="-120"/>
              </a:rPr>
              <a:t> der Zeit </a:t>
            </a:r>
            <a:r>
              <a:rPr lang="en-US" sz="1600" dirty="0" err="1">
                <a:solidFill>
                  <a:srgbClr val="3D3838"/>
                </a:solidFill>
                <a:latin typeface="Aptos Narrow" panose="020B0004020202020204" pitchFamily="34" charset="0"/>
                <a:ea typeface="Source Sans 3" pitchFamily="34" charset="-122"/>
                <a:cs typeface="Source Sans 3" pitchFamily="34" charset="-120"/>
              </a:rPr>
              <a:t>nach</a:t>
            </a:r>
            <a:r>
              <a:rPr lang="en-US" sz="1600" dirty="0">
                <a:solidFill>
                  <a:srgbClr val="3D3838"/>
                </a:solidFill>
                <a:latin typeface="Aptos Narrow" panose="020B0004020202020204" pitchFamily="34" charset="0"/>
                <a:ea typeface="Source Sans 3" pitchFamily="34" charset="-122"/>
                <a:cs typeface="Source Sans 3" pitchFamily="34" charset="-120"/>
              </a:rPr>
              <a:t> 1000 v. Chr.</a:t>
            </a:r>
            <a:endParaRPr lang="en-US" sz="1600" dirty="0"/>
          </a:p>
        </p:txBody>
      </p:sp>
      <p:pic>
        <p:nvPicPr>
          <p:cNvPr id="10" name="Image 3"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19814" y="3902968"/>
            <a:ext cx="6180181" cy="970161"/>
          </a:xfrm>
          <a:prstGeom prst="rect">
            <a:avLst/>
          </a:prstGeom>
        </p:spPr>
      </p:pic>
      <p:sp>
        <p:nvSpPr>
          <p:cNvPr id="11" name="Text 5"/>
          <p:cNvSpPr/>
          <p:nvPr/>
        </p:nvSpPr>
        <p:spPr>
          <a:xfrm>
            <a:off x="986011" y="4024651"/>
            <a:ext cx="5723985" cy="242788"/>
          </a:xfrm>
          <a:prstGeom prst="rect">
            <a:avLst/>
          </a:prstGeom>
          <a:noFill/>
          <a:ln/>
        </p:spPr>
        <p:txBody>
          <a:bodyPr wrap="none" lIns="0" tIns="0" rIns="0" bIns="0" rtlCol="0" anchor="t"/>
          <a:lstStyle/>
          <a:p>
            <a:pPr marL="0" indent="0" algn="l">
              <a:lnSpc>
                <a:spcPct val="104000"/>
              </a:lnSpc>
              <a:buNone/>
            </a:pPr>
            <a:r>
              <a:rPr lang="en-US" b="1" kern="0" spc="-15" dirty="0">
                <a:solidFill>
                  <a:srgbClr val="3D3838"/>
                </a:solidFill>
                <a:latin typeface="Aptos Narrow" panose="020B0004020202020204" pitchFamily="34" charset="0"/>
                <a:ea typeface="Montserrat Bold" pitchFamily="34" charset="-122"/>
                <a:cs typeface="Montserrat Bold" pitchFamily="34" charset="-120"/>
              </a:rPr>
              <a:t>Nishapur</a:t>
            </a:r>
            <a:endParaRPr lang="en-US" dirty="0"/>
          </a:p>
        </p:txBody>
      </p:sp>
      <p:sp>
        <p:nvSpPr>
          <p:cNvPr id="12" name="Text 6"/>
          <p:cNvSpPr/>
          <p:nvPr/>
        </p:nvSpPr>
        <p:spPr>
          <a:xfrm>
            <a:off x="986011" y="4364872"/>
            <a:ext cx="5723985" cy="249932"/>
          </a:xfrm>
          <a:prstGeom prst="rect">
            <a:avLst/>
          </a:prstGeom>
          <a:noFill/>
          <a:ln/>
        </p:spPr>
        <p:txBody>
          <a:bodyPr wrap="none" lIns="0" tIns="0" rIns="0" bIns="0" rtlCol="0" anchor="t"/>
          <a:lstStyle/>
          <a:p>
            <a:pPr marL="0" indent="0" algn="l">
              <a:lnSpc>
                <a:spcPct val="122000"/>
              </a:lnSpc>
              <a:buNone/>
            </a:pPr>
            <a:r>
              <a:rPr lang="en-US" sz="1600" dirty="0">
                <a:solidFill>
                  <a:srgbClr val="3D3838"/>
                </a:solidFill>
                <a:latin typeface="Aptos Narrow" panose="020B0004020202020204" pitchFamily="34" charset="0"/>
                <a:ea typeface="Source Sans 3" pitchFamily="34" charset="-122"/>
                <a:cs typeface="Source Sans 3" pitchFamily="34" charset="-120"/>
              </a:rPr>
              <a:t>Mit </a:t>
            </a:r>
            <a:r>
              <a:rPr lang="en-US" sz="1600" b="1" dirty="0">
                <a:solidFill>
                  <a:srgbClr val="3D3838"/>
                </a:solidFill>
                <a:latin typeface="Aptos Narrow" panose="020B0004020202020204" pitchFamily="34" charset="0"/>
                <a:ea typeface="Source Sans 3 Bold" pitchFamily="34" charset="-122"/>
                <a:cs typeface="Source Sans 3 Bold" pitchFamily="34" charset="-120"/>
              </a:rPr>
              <a:t>3822 Objekten</a:t>
            </a:r>
            <a:r>
              <a:rPr lang="en-US" sz="1600" dirty="0">
                <a:solidFill>
                  <a:srgbClr val="3D3838"/>
                </a:solidFill>
                <a:latin typeface="Aptos Narrow" panose="020B0004020202020204" pitchFamily="34" charset="0"/>
                <a:ea typeface="Source Sans 3" pitchFamily="34" charset="-122"/>
                <a:cs typeface="Source Sans 3" pitchFamily="34" charset="-120"/>
              </a:rPr>
              <a:t> das geografisch dominante </a:t>
            </a:r>
            <a:r>
              <a:rPr lang="en-US" sz="1600" dirty="0" err="1">
                <a:solidFill>
                  <a:srgbClr val="3D3838"/>
                </a:solidFill>
                <a:latin typeface="Aptos Narrow" panose="020B0004020202020204" pitchFamily="34" charset="0"/>
                <a:ea typeface="Source Sans 3" pitchFamily="34" charset="-122"/>
                <a:cs typeface="Source Sans 3" pitchFamily="34" charset="-120"/>
              </a:rPr>
              <a:t>historische</a:t>
            </a:r>
            <a:r>
              <a:rPr lang="en-US" sz="1600" dirty="0">
                <a:solidFill>
                  <a:srgbClr val="3D3838"/>
                </a:solidFill>
                <a:latin typeface="Aptos Narrow" panose="020B0004020202020204" pitchFamily="34" charset="0"/>
                <a:ea typeface="Source Sans 3" pitchFamily="34" charset="-122"/>
                <a:cs typeface="Source Sans 3" pitchFamily="34" charset="-120"/>
              </a:rPr>
              <a:t> Zentrum</a:t>
            </a:r>
            <a:endParaRPr lang="en-US" sz="1600" dirty="0"/>
          </a:p>
        </p:txBody>
      </p:sp>
      <p:sp>
        <p:nvSpPr>
          <p:cNvPr id="13" name="Shape 7"/>
          <p:cNvSpPr/>
          <p:nvPr/>
        </p:nvSpPr>
        <p:spPr>
          <a:xfrm>
            <a:off x="719814" y="5055791"/>
            <a:ext cx="6180181" cy="893762"/>
          </a:xfrm>
          <a:prstGeom prst="roundRect">
            <a:avLst>
              <a:gd name="adj" fmla="val 2870"/>
            </a:avLst>
          </a:prstGeom>
          <a:solidFill>
            <a:srgbClr val="FDECEA"/>
          </a:solidFill>
          <a:ln/>
        </p:spPr>
        <p:txBody>
          <a:bodyPr/>
          <a:lstStyle/>
          <a:p>
            <a:endParaRPr lang="de-DE"/>
          </a:p>
        </p:txBody>
      </p:sp>
      <p:pic>
        <p:nvPicPr>
          <p:cNvPr id="14" name="Image 4" descr="preencoded.png"/>
          <p:cNvPicPr>
            <a:picLocks noChangeAspect="1"/>
          </p:cNvPicPr>
          <p:nvPr/>
        </p:nvPicPr>
        <p:blipFill>
          <a:blip r:embed="rId5"/>
          <a:stretch>
            <a:fillRect/>
          </a:stretch>
        </p:blipFill>
        <p:spPr>
          <a:xfrm>
            <a:off x="890764" y="5374484"/>
            <a:ext cx="213712" cy="170954"/>
          </a:xfrm>
          <a:prstGeom prst="rect">
            <a:avLst/>
          </a:prstGeom>
        </p:spPr>
      </p:pic>
      <p:sp>
        <p:nvSpPr>
          <p:cNvPr id="15" name="Text 8"/>
          <p:cNvSpPr/>
          <p:nvPr/>
        </p:nvSpPr>
        <p:spPr>
          <a:xfrm>
            <a:off x="1275425" y="5213041"/>
            <a:ext cx="5453621" cy="808230"/>
          </a:xfrm>
          <a:prstGeom prst="rect">
            <a:avLst/>
          </a:prstGeom>
          <a:noFill/>
          <a:ln/>
        </p:spPr>
        <p:txBody>
          <a:bodyPr wrap="square" lIns="0" tIns="0" rIns="0" bIns="0" rtlCol="0" anchor="t">
            <a:normAutofit/>
          </a:bodyPr>
          <a:lstStyle/>
          <a:p>
            <a:pPr marL="0" indent="0" algn="l">
              <a:lnSpc>
                <a:spcPct val="114000"/>
              </a:lnSpc>
              <a:buNone/>
            </a:pPr>
            <a:r>
              <a:rPr lang="en-US" sz="1600" dirty="0">
                <a:solidFill>
                  <a:srgbClr val="000000"/>
                </a:solidFill>
                <a:latin typeface="Aptos Narrow" panose="020B0004020202020204" pitchFamily="34" charset="0"/>
                <a:ea typeface="Source Sans 3" pitchFamily="34" charset="-122"/>
                <a:cs typeface="Source Sans 3" pitchFamily="34" charset="-120"/>
              </a:rPr>
              <a:t>Ein kleiner, aber historisch tiefer und besonders aussagekräftiger Teilbestand.</a:t>
            </a:r>
            <a:endParaRPr lang="en-US" sz="1600" dirty="0"/>
          </a:p>
        </p:txBody>
      </p:sp>
      <p:sp>
        <p:nvSpPr>
          <p:cNvPr id="17" name="Textfeld 16">
            <a:extLst>
              <a:ext uri="{FF2B5EF4-FFF2-40B4-BE49-F238E27FC236}">
                <a16:creationId xmlns:a16="http://schemas.microsoft.com/office/drawing/2014/main" id="{FF715197-BFF4-E21D-360E-BB78B0010C73}"/>
              </a:ext>
            </a:extLst>
          </p:cNvPr>
          <p:cNvSpPr txBox="1"/>
          <p:nvPr/>
        </p:nvSpPr>
        <p:spPr>
          <a:xfrm>
            <a:off x="11764652" y="6454588"/>
            <a:ext cx="490101" cy="338554"/>
          </a:xfrm>
          <a:prstGeom prst="rect">
            <a:avLst/>
          </a:prstGeom>
          <a:noFill/>
        </p:spPr>
        <p:txBody>
          <a:bodyPr wrap="square" rtlCol="0">
            <a:spAutoFit/>
          </a:bodyPr>
          <a:lstStyle/>
          <a:p>
            <a:r>
              <a:rPr lang="de-DE" sz="1600" dirty="0">
                <a:solidFill>
                  <a:schemeClr val="bg1"/>
                </a:solidFill>
                <a:latin typeface="Aptos Narrow" panose="020B0004020202020204" pitchFamily="34" charset="0"/>
              </a:rPr>
              <a:t>9</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19814" y="541387"/>
            <a:ext cx="10752067" cy="460077"/>
          </a:xfrm>
          <a:prstGeom prst="rect">
            <a:avLst/>
          </a:prstGeom>
          <a:noFill/>
          <a:ln/>
        </p:spPr>
        <p:txBody>
          <a:bodyPr wrap="none" lIns="0" tIns="0" rIns="0" bIns="0" rtlCol="0" anchor="t"/>
          <a:lstStyle/>
          <a:p>
            <a:pPr marL="0" indent="0" algn="l">
              <a:lnSpc>
                <a:spcPct val="104000"/>
              </a:lnSpc>
              <a:buNone/>
            </a:pPr>
            <a:r>
              <a:rPr lang="en-US" sz="3600" b="1" kern="0" spc="-29" dirty="0" err="1">
                <a:solidFill>
                  <a:srgbClr val="000000"/>
                </a:solidFill>
                <a:latin typeface="Aptos Narrow" panose="020B0004020202020204" pitchFamily="34" charset="0"/>
                <a:ea typeface="Montserrat Bold" pitchFamily="34" charset="-122"/>
                <a:cs typeface="Montserrat Bold" pitchFamily="34" charset="-120"/>
              </a:rPr>
              <a:t>Schwerpunkte</a:t>
            </a:r>
            <a:r>
              <a:rPr lang="en-US" sz="3600" b="1" kern="0" spc="-29" dirty="0">
                <a:solidFill>
                  <a:srgbClr val="000000"/>
                </a:solidFill>
                <a:latin typeface="Aptos Narrow" panose="020B0004020202020204" pitchFamily="34" charset="0"/>
                <a:ea typeface="Montserrat Bold" pitchFamily="34" charset="-122"/>
                <a:cs typeface="Montserrat Bold" pitchFamily="34" charset="-120"/>
              </a:rPr>
              <a:t> der </a:t>
            </a:r>
            <a:r>
              <a:rPr lang="en-US" sz="3600" b="1" kern="0" spc="-29" dirty="0" err="1">
                <a:solidFill>
                  <a:srgbClr val="000000"/>
                </a:solidFill>
                <a:latin typeface="Aptos Narrow" panose="020B0004020202020204" pitchFamily="34" charset="0"/>
                <a:ea typeface="Montserrat Bold" pitchFamily="34" charset="-122"/>
                <a:cs typeface="Montserrat Bold" pitchFamily="34" charset="-120"/>
              </a:rPr>
              <a:t>iranischen</a:t>
            </a:r>
            <a:r>
              <a:rPr lang="en-US" sz="3600" b="1" kern="0" spc="-29" dirty="0">
                <a:solidFill>
                  <a:srgbClr val="000000"/>
                </a:solidFill>
                <a:latin typeface="Aptos Narrow" panose="020B0004020202020204" pitchFamily="34" charset="0"/>
                <a:ea typeface="Montserrat Bold" pitchFamily="34" charset="-122"/>
                <a:cs typeface="Montserrat Bold" pitchFamily="34" charset="-120"/>
              </a:rPr>
              <a:t> </a:t>
            </a:r>
            <a:r>
              <a:rPr lang="en-US" sz="3600" b="1" kern="0" spc="-29" dirty="0" err="1">
                <a:solidFill>
                  <a:srgbClr val="000000"/>
                </a:solidFill>
                <a:latin typeface="Aptos Narrow" panose="020B0004020202020204" pitchFamily="34" charset="0"/>
                <a:ea typeface="Montserrat Bold" pitchFamily="34" charset="-122"/>
                <a:cs typeface="Montserrat Bold" pitchFamily="34" charset="-120"/>
              </a:rPr>
              <a:t>Bestände</a:t>
            </a:r>
            <a:endParaRPr lang="en-US" sz="3600" dirty="0"/>
          </a:p>
        </p:txBody>
      </p:sp>
      <p:pic>
        <p:nvPicPr>
          <p:cNvPr id="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19814" y="1403349"/>
            <a:ext cx="404902" cy="404912"/>
          </a:xfrm>
          <a:prstGeom prst="rect">
            <a:avLst/>
          </a:prstGeom>
        </p:spPr>
      </p:pic>
      <p:sp>
        <p:nvSpPr>
          <p:cNvPr id="4" name="Text 1"/>
          <p:cNvSpPr/>
          <p:nvPr/>
        </p:nvSpPr>
        <p:spPr>
          <a:xfrm>
            <a:off x="1306877" y="1403349"/>
            <a:ext cx="5706126" cy="229989"/>
          </a:xfrm>
          <a:prstGeom prst="rect">
            <a:avLst/>
          </a:prstGeom>
          <a:noFill/>
          <a:ln/>
        </p:spPr>
        <p:txBody>
          <a:bodyPr wrap="none" lIns="0" tIns="0" rIns="0" bIns="0" rtlCol="0" anchor="t"/>
          <a:lstStyle/>
          <a:p>
            <a:pPr marL="0" indent="0" algn="l">
              <a:lnSpc>
                <a:spcPct val="104000"/>
              </a:lnSpc>
              <a:buNone/>
            </a:pPr>
            <a:r>
              <a:rPr lang="en-US" b="1" kern="0" spc="-14" dirty="0">
                <a:solidFill>
                  <a:srgbClr val="3D3838"/>
                </a:solidFill>
                <a:latin typeface="Aptos Narrow" panose="020B0004020202020204" pitchFamily="34" charset="0"/>
                <a:ea typeface="Montserrat Bold" pitchFamily="34" charset="-122"/>
                <a:cs typeface="Montserrat Bold" pitchFamily="34" charset="-120"/>
              </a:rPr>
              <a:t>Zeitlich</a:t>
            </a:r>
            <a:endParaRPr lang="en-US" sz="1400" dirty="0"/>
          </a:p>
        </p:txBody>
      </p:sp>
      <p:sp>
        <p:nvSpPr>
          <p:cNvPr id="5" name="Text 2"/>
          <p:cNvSpPr/>
          <p:nvPr/>
        </p:nvSpPr>
        <p:spPr>
          <a:xfrm>
            <a:off x="1306876" y="1779089"/>
            <a:ext cx="5829029" cy="631279"/>
          </a:xfrm>
          <a:prstGeom prst="rect">
            <a:avLst/>
          </a:prstGeom>
          <a:noFill/>
          <a:ln/>
        </p:spPr>
        <p:txBody>
          <a:bodyPr wrap="none" lIns="0" tIns="0" rIns="0" bIns="0" rtlCol="0" anchor="t"/>
          <a:lstStyle/>
          <a:p>
            <a:pPr marL="0" indent="0" algn="l">
              <a:lnSpc>
                <a:spcPct val="114000"/>
              </a:lnSpc>
              <a:buNone/>
            </a:pPr>
            <a:r>
              <a:rPr lang="en-US" sz="1600" dirty="0">
                <a:solidFill>
                  <a:srgbClr val="3D3838"/>
                </a:solidFill>
                <a:latin typeface="Aptos Narrow" panose="020B0004020202020204" pitchFamily="34" charset="0"/>
                <a:ea typeface="Source Sans 3" pitchFamily="34" charset="-122"/>
                <a:cs typeface="Source Sans 3" pitchFamily="34" charset="-120"/>
              </a:rPr>
              <a:t>Early Islamic Period (651–1054) </a:t>
            </a:r>
            <a:r>
              <a:rPr lang="en-US" sz="1600" dirty="0" err="1">
                <a:solidFill>
                  <a:srgbClr val="3D3838"/>
                </a:solidFill>
                <a:latin typeface="Aptos Narrow" panose="020B0004020202020204" pitchFamily="34" charset="0"/>
                <a:ea typeface="Source Sans 3" pitchFamily="34" charset="-122"/>
                <a:cs typeface="Source Sans 3" pitchFamily="34" charset="-120"/>
              </a:rPr>
              <a:t>dominiert</a:t>
            </a:r>
            <a:r>
              <a:rPr lang="en-US" sz="1600" dirty="0">
                <a:solidFill>
                  <a:srgbClr val="3D3838"/>
                </a:solidFill>
                <a:latin typeface="Aptos Narrow" panose="020B0004020202020204" pitchFamily="34" charset="0"/>
                <a:ea typeface="Source Sans 3" pitchFamily="34" charset="-122"/>
                <a:cs typeface="Source Sans 3" pitchFamily="34" charset="-120"/>
              </a:rPr>
              <a:t> </a:t>
            </a:r>
            <a:r>
              <a:rPr lang="en-US" sz="1600" dirty="0" err="1">
                <a:solidFill>
                  <a:srgbClr val="3D3838"/>
                </a:solidFill>
                <a:latin typeface="Aptos Narrow" panose="020B0004020202020204" pitchFamily="34" charset="0"/>
                <a:ea typeface="Source Sans 3" pitchFamily="34" charset="-122"/>
                <a:cs typeface="Source Sans 3" pitchFamily="34" charset="-120"/>
              </a:rPr>
              <a:t>mit</a:t>
            </a:r>
            <a:r>
              <a:rPr lang="en-US" sz="1600" dirty="0">
                <a:solidFill>
                  <a:srgbClr val="3D3838"/>
                </a:solidFill>
                <a:latin typeface="Aptos Narrow" panose="020B0004020202020204" pitchFamily="34" charset="0"/>
                <a:ea typeface="Source Sans 3" pitchFamily="34" charset="-122"/>
                <a:cs typeface="Source Sans 3" pitchFamily="34" charset="-120"/>
              </a:rPr>
              <a:t> </a:t>
            </a:r>
            <a:r>
              <a:rPr lang="en-US" sz="1600" b="1" dirty="0">
                <a:solidFill>
                  <a:srgbClr val="3D3838"/>
                </a:solidFill>
                <a:latin typeface="Aptos Narrow" panose="020B0004020202020204" pitchFamily="34" charset="0"/>
                <a:ea typeface="Source Sans 3" pitchFamily="34" charset="-122"/>
                <a:cs typeface="Source Sans 3" pitchFamily="34" charset="-120"/>
              </a:rPr>
              <a:t>3836 </a:t>
            </a:r>
            <a:r>
              <a:rPr lang="en-US" sz="1600" b="1" dirty="0" err="1">
                <a:solidFill>
                  <a:srgbClr val="3D3838"/>
                </a:solidFill>
                <a:latin typeface="Aptos Narrow" panose="020B0004020202020204" pitchFamily="34" charset="0"/>
                <a:ea typeface="Source Sans 3" pitchFamily="34" charset="-122"/>
                <a:cs typeface="Source Sans 3" pitchFamily="34" charset="-120"/>
              </a:rPr>
              <a:t>Objekten</a:t>
            </a:r>
            <a:r>
              <a:rPr lang="en-US" sz="1600" b="1" dirty="0">
                <a:solidFill>
                  <a:srgbClr val="3D3838"/>
                </a:solidFill>
                <a:latin typeface="Aptos Narrow" panose="020B0004020202020204" pitchFamily="34" charset="0"/>
                <a:ea typeface="Source Sans 3" pitchFamily="34" charset="-122"/>
                <a:cs typeface="Source Sans 3" pitchFamily="34" charset="-120"/>
              </a:rPr>
              <a:t> (</a:t>
            </a:r>
            <a:r>
              <a:rPr lang="en-US" sz="1600" b="1" dirty="0">
                <a:solidFill>
                  <a:srgbClr val="3D3838"/>
                </a:solidFill>
                <a:latin typeface="Aptos Narrow" panose="020B0004020202020204" pitchFamily="34" charset="0"/>
                <a:ea typeface="Source Sans 3 Bold" pitchFamily="34" charset="-122"/>
                <a:cs typeface="Source Sans 3 Bold" pitchFamily="34" charset="-120"/>
              </a:rPr>
              <a:t>42,19 %)</a:t>
            </a:r>
            <a:r>
              <a:rPr lang="en-US" sz="1600" dirty="0">
                <a:solidFill>
                  <a:srgbClr val="3D3838"/>
                </a:solidFill>
                <a:latin typeface="Aptos Narrow" panose="020B0004020202020204" pitchFamily="34" charset="0"/>
                <a:ea typeface="Source Sans 3 Bold" pitchFamily="34" charset="-122"/>
                <a:cs typeface="Source Sans 3 Bold" pitchFamily="34" charset="-120"/>
              </a:rPr>
              <a:t>, </a:t>
            </a:r>
          </a:p>
          <a:p>
            <a:pPr marL="0" indent="0" algn="l">
              <a:lnSpc>
                <a:spcPct val="114000"/>
              </a:lnSpc>
              <a:buNone/>
            </a:pPr>
            <a:r>
              <a:rPr lang="en-US" sz="1600" dirty="0" err="1">
                <a:solidFill>
                  <a:srgbClr val="3D3838"/>
                </a:solidFill>
                <a:latin typeface="Aptos Narrow" panose="020B0004020202020204" pitchFamily="34" charset="0"/>
                <a:ea typeface="Source Sans 3 Bold" pitchFamily="34" charset="-122"/>
                <a:cs typeface="Source Sans 3 Bold" pitchFamily="34" charset="-120"/>
              </a:rPr>
              <a:t>davon</a:t>
            </a:r>
            <a:r>
              <a:rPr lang="en-US" sz="1600" dirty="0">
                <a:solidFill>
                  <a:srgbClr val="3D3838"/>
                </a:solidFill>
                <a:latin typeface="Aptos Narrow" panose="020B0004020202020204" pitchFamily="34" charset="0"/>
                <a:ea typeface="Source Sans 3 Bold" pitchFamily="34" charset="-122"/>
                <a:cs typeface="Source Sans 3 Bold" pitchFamily="34" charset="-120"/>
              </a:rPr>
              <a:t> </a:t>
            </a:r>
            <a:r>
              <a:rPr lang="en-US" sz="1600" dirty="0" err="1">
                <a:solidFill>
                  <a:srgbClr val="3D3838"/>
                </a:solidFill>
                <a:latin typeface="Aptos Narrow" panose="020B0004020202020204" pitchFamily="34" charset="0"/>
                <a:ea typeface="Source Sans 3 Bold" pitchFamily="34" charset="-122"/>
                <a:cs typeface="Source Sans 3 Bold" pitchFamily="34" charset="-120"/>
              </a:rPr>
              <a:t>mit</a:t>
            </a:r>
            <a:r>
              <a:rPr lang="en-US" sz="1600" dirty="0">
                <a:solidFill>
                  <a:srgbClr val="3D3838"/>
                </a:solidFill>
                <a:latin typeface="Aptos Narrow" panose="020B0004020202020204" pitchFamily="34" charset="0"/>
                <a:ea typeface="Source Sans 3 Bold" pitchFamily="34" charset="-122"/>
                <a:cs typeface="Source Sans 3 Bold" pitchFamily="34" charset="-120"/>
              </a:rPr>
              <a:t> </a:t>
            </a:r>
            <a:r>
              <a:rPr lang="en-US" sz="1600" dirty="0" err="1">
                <a:solidFill>
                  <a:srgbClr val="3D3838"/>
                </a:solidFill>
                <a:latin typeface="Aptos Narrow" panose="020B0004020202020204" pitchFamily="34" charset="0"/>
                <a:ea typeface="Source Sans 3 Bold" pitchFamily="34" charset="-122"/>
                <a:cs typeface="Source Sans 3 Bold" pitchFamily="34" charset="-120"/>
              </a:rPr>
              <a:t>Datierungsbeginn</a:t>
            </a:r>
            <a:r>
              <a:rPr lang="en-US" sz="1600" dirty="0">
                <a:solidFill>
                  <a:srgbClr val="3D3838"/>
                </a:solidFill>
                <a:latin typeface="Aptos Narrow" panose="020B0004020202020204" pitchFamily="34" charset="0"/>
                <a:ea typeface="Source Sans 3 Bold" pitchFamily="34" charset="-122"/>
                <a:cs typeface="Source Sans 3 Bold" pitchFamily="34" charset="-120"/>
              </a:rPr>
              <a:t> </a:t>
            </a:r>
            <a:r>
              <a:rPr lang="en-US" sz="1600" dirty="0">
                <a:solidFill>
                  <a:srgbClr val="3D3838"/>
                </a:solidFill>
                <a:latin typeface="Aptos Narrow" panose="020B0004020202020204" pitchFamily="34" charset="0"/>
              </a:rPr>
              <a:t>800–809: </a:t>
            </a:r>
            <a:r>
              <a:rPr lang="en-US" sz="1600" b="1" dirty="0">
                <a:solidFill>
                  <a:srgbClr val="3D3838"/>
                </a:solidFill>
                <a:latin typeface="Aptos Narrow" panose="020B0004020202020204" pitchFamily="34" charset="0"/>
              </a:rPr>
              <a:t>2525</a:t>
            </a:r>
            <a:endParaRPr lang="en-US" sz="1600" dirty="0"/>
          </a:p>
        </p:txBody>
      </p:sp>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19814" y="2556121"/>
            <a:ext cx="404902" cy="404912"/>
          </a:xfrm>
          <a:prstGeom prst="rect">
            <a:avLst/>
          </a:prstGeom>
        </p:spPr>
      </p:pic>
      <p:sp>
        <p:nvSpPr>
          <p:cNvPr id="7" name="Text 3"/>
          <p:cNvSpPr/>
          <p:nvPr/>
        </p:nvSpPr>
        <p:spPr>
          <a:xfrm>
            <a:off x="1306877" y="2556121"/>
            <a:ext cx="5706126" cy="229989"/>
          </a:xfrm>
          <a:prstGeom prst="rect">
            <a:avLst/>
          </a:prstGeom>
          <a:noFill/>
          <a:ln/>
        </p:spPr>
        <p:txBody>
          <a:bodyPr wrap="none" lIns="0" tIns="0" rIns="0" bIns="0" rtlCol="0" anchor="t"/>
          <a:lstStyle/>
          <a:p>
            <a:pPr marL="0" indent="0" algn="l">
              <a:lnSpc>
                <a:spcPct val="104000"/>
              </a:lnSpc>
              <a:buNone/>
            </a:pPr>
            <a:r>
              <a:rPr lang="en-US" b="1" kern="0" spc="-14" dirty="0" err="1">
                <a:solidFill>
                  <a:srgbClr val="3D3838"/>
                </a:solidFill>
                <a:latin typeface="Aptos Narrow" panose="020B0004020202020204" pitchFamily="34" charset="0"/>
                <a:ea typeface="Montserrat Bold" pitchFamily="34" charset="-122"/>
                <a:cs typeface="Montserrat Bold" pitchFamily="34" charset="-120"/>
              </a:rPr>
              <a:t>Materiell</a:t>
            </a:r>
            <a:r>
              <a:rPr lang="en-US" b="1" kern="0" spc="-14" dirty="0">
                <a:solidFill>
                  <a:srgbClr val="3D3838"/>
                </a:solidFill>
                <a:latin typeface="Aptos Narrow" panose="020B0004020202020204" pitchFamily="34" charset="0"/>
                <a:ea typeface="Montserrat Bold" pitchFamily="34" charset="-122"/>
                <a:cs typeface="Montserrat Bold" pitchFamily="34" charset="-120"/>
              </a:rPr>
              <a:t>: </a:t>
            </a:r>
            <a:r>
              <a:rPr lang="en-US" b="1" kern="0" spc="-14" dirty="0" err="1">
                <a:solidFill>
                  <a:srgbClr val="3D3838"/>
                </a:solidFill>
                <a:latin typeface="Aptos Narrow" panose="020B0004020202020204" pitchFamily="34" charset="0"/>
                <a:ea typeface="Montserrat Bold" pitchFamily="34" charset="-122"/>
                <a:cs typeface="Montserrat Bold" pitchFamily="34" charset="-120"/>
              </a:rPr>
              <a:t>Typen</a:t>
            </a:r>
            <a:r>
              <a:rPr lang="en-US" b="1" kern="0" spc="-14" dirty="0">
                <a:solidFill>
                  <a:srgbClr val="3D3838"/>
                </a:solidFill>
                <a:latin typeface="Aptos Narrow" panose="020B0004020202020204" pitchFamily="34" charset="0"/>
                <a:ea typeface="Montserrat Bold" pitchFamily="34" charset="-122"/>
                <a:cs typeface="Montserrat Bold" pitchFamily="34" charset="-120"/>
              </a:rPr>
              <a:t> und </a:t>
            </a:r>
            <a:r>
              <a:rPr lang="en-US" b="1" kern="0" spc="-14" dirty="0" err="1">
                <a:solidFill>
                  <a:srgbClr val="3D3838"/>
                </a:solidFill>
                <a:latin typeface="Aptos Narrow" panose="020B0004020202020204" pitchFamily="34" charset="0"/>
                <a:ea typeface="Montserrat Bold" pitchFamily="34" charset="-122"/>
                <a:cs typeface="Montserrat Bold" pitchFamily="34" charset="-120"/>
              </a:rPr>
              <a:t>Klassifikation</a:t>
            </a:r>
            <a:endParaRPr lang="en-US" sz="1400" dirty="0"/>
          </a:p>
        </p:txBody>
      </p:sp>
      <p:sp>
        <p:nvSpPr>
          <p:cNvPr id="8" name="Text 4"/>
          <p:cNvSpPr/>
          <p:nvPr/>
        </p:nvSpPr>
        <p:spPr>
          <a:xfrm>
            <a:off x="1306877" y="2931863"/>
            <a:ext cx="5706126" cy="230882"/>
          </a:xfrm>
          <a:prstGeom prst="rect">
            <a:avLst/>
          </a:prstGeom>
          <a:noFill/>
          <a:ln/>
        </p:spPr>
        <p:txBody>
          <a:bodyPr wrap="none" lIns="0" tIns="0" rIns="0" bIns="0" rtlCol="0" anchor="t"/>
          <a:lstStyle/>
          <a:p>
            <a:pPr marL="0" indent="0" algn="l">
              <a:lnSpc>
                <a:spcPct val="119000"/>
              </a:lnSpc>
              <a:buNone/>
            </a:pPr>
            <a:r>
              <a:rPr lang="en-US" sz="1600" dirty="0" err="1">
                <a:solidFill>
                  <a:srgbClr val="3D3838"/>
                </a:solidFill>
                <a:latin typeface="Aptos Narrow" panose="020B0004020202020204" pitchFamily="34" charset="0"/>
                <a:ea typeface="Source Sans 3" pitchFamily="34" charset="-122"/>
                <a:cs typeface="Source Sans 3" pitchFamily="34" charset="-120"/>
              </a:rPr>
              <a:t>Fragmente</a:t>
            </a:r>
            <a:r>
              <a:rPr lang="en-US" sz="1600" dirty="0">
                <a:solidFill>
                  <a:srgbClr val="3D3838"/>
                </a:solidFill>
                <a:latin typeface="Aptos Narrow" panose="020B0004020202020204" pitchFamily="34" charset="0"/>
                <a:ea typeface="Source Sans 3" pitchFamily="34" charset="-122"/>
                <a:cs typeface="Source Sans 3" pitchFamily="34" charset="-120"/>
              </a:rPr>
              <a:t> </a:t>
            </a:r>
            <a:r>
              <a:rPr lang="en-US" sz="1600" dirty="0" err="1">
                <a:solidFill>
                  <a:srgbClr val="3D3838"/>
                </a:solidFill>
                <a:latin typeface="Aptos Narrow" panose="020B0004020202020204" pitchFamily="34" charset="0"/>
                <a:ea typeface="Source Sans 3" pitchFamily="34" charset="-122"/>
                <a:cs typeface="Source Sans 3" pitchFamily="34" charset="-120"/>
              </a:rPr>
              <a:t>mit</a:t>
            </a:r>
            <a:r>
              <a:rPr lang="en-US" sz="1600" dirty="0">
                <a:solidFill>
                  <a:srgbClr val="3D3838"/>
                </a:solidFill>
                <a:latin typeface="Aptos Narrow" panose="020B0004020202020204" pitchFamily="34" charset="0"/>
                <a:ea typeface="Source Sans 3" pitchFamily="34" charset="-122"/>
                <a:cs typeface="Source Sans 3" pitchFamily="34" charset="-120"/>
              </a:rPr>
              <a:t> </a:t>
            </a:r>
            <a:r>
              <a:rPr lang="en-US" sz="1600" b="1" dirty="0">
                <a:solidFill>
                  <a:srgbClr val="3D3838"/>
                </a:solidFill>
                <a:latin typeface="Aptos Narrow" panose="020B0004020202020204" pitchFamily="34" charset="0"/>
                <a:ea typeface="Source Sans 3" pitchFamily="34" charset="-122"/>
                <a:cs typeface="Source Sans 3" pitchFamily="34" charset="-120"/>
              </a:rPr>
              <a:t>2126</a:t>
            </a:r>
            <a:r>
              <a:rPr lang="en-US" sz="1600" dirty="0">
                <a:solidFill>
                  <a:srgbClr val="3D3838"/>
                </a:solidFill>
                <a:latin typeface="Aptos Narrow" panose="020B0004020202020204" pitchFamily="34" charset="0"/>
                <a:ea typeface="Source Sans 3" pitchFamily="34" charset="-122"/>
                <a:cs typeface="Source Sans 3" pitchFamily="34" charset="-120"/>
              </a:rPr>
              <a:t> und Stuck </a:t>
            </a:r>
            <a:r>
              <a:rPr lang="en-US" sz="1600" dirty="0" err="1">
                <a:solidFill>
                  <a:srgbClr val="3D3838"/>
                </a:solidFill>
                <a:latin typeface="Aptos Narrow" panose="020B0004020202020204" pitchFamily="34" charset="0"/>
                <a:ea typeface="Source Sans 3" pitchFamily="34" charset="-122"/>
                <a:cs typeface="Source Sans 3" pitchFamily="34" charset="-120"/>
              </a:rPr>
              <a:t>mit</a:t>
            </a:r>
            <a:r>
              <a:rPr lang="en-US" sz="1600" dirty="0">
                <a:solidFill>
                  <a:srgbClr val="3D3838"/>
                </a:solidFill>
                <a:latin typeface="Aptos Narrow" panose="020B0004020202020204" pitchFamily="34" charset="0"/>
                <a:ea typeface="Source Sans 3" pitchFamily="34" charset="-122"/>
                <a:cs typeface="Source Sans 3" pitchFamily="34" charset="-120"/>
              </a:rPr>
              <a:t> </a:t>
            </a:r>
            <a:r>
              <a:rPr lang="en-US" sz="1600" b="1" dirty="0">
                <a:solidFill>
                  <a:srgbClr val="3D3838"/>
                </a:solidFill>
                <a:latin typeface="Aptos Narrow" panose="020B0004020202020204" pitchFamily="34" charset="0"/>
                <a:ea typeface="Source Sans 3 Bold" pitchFamily="34" charset="-122"/>
                <a:cs typeface="Source Sans 3 Bold" pitchFamily="34" charset="-120"/>
              </a:rPr>
              <a:t>1745 Objekten</a:t>
            </a:r>
            <a:r>
              <a:rPr lang="en-US" sz="1600" dirty="0">
                <a:solidFill>
                  <a:srgbClr val="3D3838"/>
                </a:solidFill>
                <a:latin typeface="Aptos Narrow" panose="020B0004020202020204" pitchFamily="34" charset="0"/>
                <a:ea typeface="Source Sans 3" pitchFamily="34" charset="-122"/>
                <a:cs typeface="Source Sans 3" pitchFamily="34" charset="-120"/>
              </a:rPr>
              <a:t> am </a:t>
            </a:r>
            <a:r>
              <a:rPr lang="en-US" sz="1600" dirty="0" err="1">
                <a:solidFill>
                  <a:srgbClr val="3D3838"/>
                </a:solidFill>
                <a:latin typeface="Aptos Narrow" panose="020B0004020202020204" pitchFamily="34" charset="0"/>
                <a:ea typeface="Source Sans 3" pitchFamily="34" charset="-122"/>
                <a:cs typeface="Source Sans 3" pitchFamily="34" charset="-120"/>
              </a:rPr>
              <a:t>häufigsten</a:t>
            </a:r>
            <a:endParaRPr lang="en-US" sz="1600" dirty="0"/>
          </a:p>
        </p:txBody>
      </p:sp>
      <p:pic>
        <p:nvPicPr>
          <p:cNvPr id="9"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19814" y="3477913"/>
            <a:ext cx="404902" cy="404912"/>
          </a:xfrm>
          <a:prstGeom prst="rect">
            <a:avLst/>
          </a:prstGeom>
        </p:spPr>
      </p:pic>
      <p:sp>
        <p:nvSpPr>
          <p:cNvPr id="10" name="Text 5"/>
          <p:cNvSpPr/>
          <p:nvPr/>
        </p:nvSpPr>
        <p:spPr>
          <a:xfrm>
            <a:off x="1306877" y="3477913"/>
            <a:ext cx="5706126" cy="229989"/>
          </a:xfrm>
          <a:prstGeom prst="rect">
            <a:avLst/>
          </a:prstGeom>
          <a:noFill/>
          <a:ln/>
        </p:spPr>
        <p:txBody>
          <a:bodyPr wrap="none" lIns="0" tIns="0" rIns="0" bIns="0" rtlCol="0" anchor="t"/>
          <a:lstStyle/>
          <a:p>
            <a:pPr marL="0" indent="0" algn="l">
              <a:lnSpc>
                <a:spcPct val="104000"/>
              </a:lnSpc>
              <a:buNone/>
            </a:pPr>
            <a:r>
              <a:rPr lang="en-US" b="1" kern="0" spc="-14" dirty="0" err="1">
                <a:solidFill>
                  <a:srgbClr val="3D3838"/>
                </a:solidFill>
                <a:latin typeface="Aptos Narrow" panose="020B0004020202020204" pitchFamily="34" charset="0"/>
              </a:rPr>
              <a:t>Geografisch</a:t>
            </a:r>
            <a:endParaRPr lang="en-US" dirty="0">
              <a:solidFill>
                <a:srgbClr val="3D3838"/>
              </a:solidFill>
            </a:endParaRPr>
          </a:p>
        </p:txBody>
      </p:sp>
      <p:sp>
        <p:nvSpPr>
          <p:cNvPr id="11" name="Text 6"/>
          <p:cNvSpPr/>
          <p:nvPr/>
        </p:nvSpPr>
        <p:spPr>
          <a:xfrm>
            <a:off x="1306877" y="3853655"/>
            <a:ext cx="5706126" cy="230882"/>
          </a:xfrm>
          <a:prstGeom prst="rect">
            <a:avLst/>
          </a:prstGeom>
          <a:noFill/>
          <a:ln/>
        </p:spPr>
        <p:txBody>
          <a:bodyPr wrap="none" lIns="0" tIns="0" rIns="0" bIns="0" rtlCol="0" anchor="t"/>
          <a:lstStyle/>
          <a:p>
            <a:pPr marL="0" indent="0" algn="l">
              <a:lnSpc>
                <a:spcPct val="119000"/>
              </a:lnSpc>
              <a:buNone/>
            </a:pPr>
            <a:r>
              <a:rPr lang="en-US" sz="1600" b="1" dirty="0">
                <a:solidFill>
                  <a:srgbClr val="3D3838"/>
                </a:solidFill>
                <a:latin typeface="Aptos Narrow" panose="020B0004020202020204" pitchFamily="34" charset="0"/>
                <a:ea typeface="Source Sans 3 Bold" pitchFamily="34" charset="-122"/>
                <a:cs typeface="Source Sans 3 Bold" pitchFamily="34" charset="-120"/>
              </a:rPr>
              <a:t>93,43 %</a:t>
            </a:r>
            <a:r>
              <a:rPr lang="en-US" sz="1600" dirty="0">
                <a:solidFill>
                  <a:srgbClr val="3D3838"/>
                </a:solidFill>
                <a:latin typeface="Aptos Narrow" panose="020B0004020202020204" pitchFamily="34" charset="0"/>
                <a:ea typeface="Source Sans 3" pitchFamily="34" charset="-122"/>
                <a:cs typeface="Source Sans 3" pitchFamily="34" charset="-120"/>
              </a:rPr>
              <a:t> der Early-Islamic-Bestände </a:t>
            </a:r>
            <a:r>
              <a:rPr lang="en-US" sz="1600" dirty="0" err="1">
                <a:solidFill>
                  <a:srgbClr val="3D3838"/>
                </a:solidFill>
                <a:latin typeface="Aptos Narrow" panose="020B0004020202020204" pitchFamily="34" charset="0"/>
                <a:ea typeface="Source Sans 3" pitchFamily="34" charset="-122"/>
                <a:cs typeface="Source Sans 3" pitchFamily="34" charset="-120"/>
              </a:rPr>
              <a:t>aus</a:t>
            </a:r>
            <a:r>
              <a:rPr lang="en-US" sz="1600" dirty="0">
                <a:solidFill>
                  <a:srgbClr val="3D3838"/>
                </a:solidFill>
                <a:latin typeface="Aptos Narrow" panose="020B0004020202020204" pitchFamily="34" charset="0"/>
                <a:ea typeface="Source Sans 3" pitchFamily="34" charset="-122"/>
                <a:cs typeface="Source Sans 3" pitchFamily="34" charset="-120"/>
              </a:rPr>
              <a:t> Nishapur</a:t>
            </a:r>
            <a:endParaRPr lang="en-US" sz="1600" dirty="0"/>
          </a:p>
        </p:txBody>
      </p:sp>
      <p:pic>
        <p:nvPicPr>
          <p:cNvPr id="12"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19814" y="4399705"/>
            <a:ext cx="404902" cy="404912"/>
          </a:xfrm>
          <a:prstGeom prst="rect">
            <a:avLst/>
          </a:prstGeom>
        </p:spPr>
      </p:pic>
      <p:sp>
        <p:nvSpPr>
          <p:cNvPr id="13" name="Text 7"/>
          <p:cNvSpPr/>
          <p:nvPr/>
        </p:nvSpPr>
        <p:spPr>
          <a:xfrm>
            <a:off x="1306877" y="4399705"/>
            <a:ext cx="5706126" cy="229989"/>
          </a:xfrm>
          <a:prstGeom prst="rect">
            <a:avLst/>
          </a:prstGeom>
          <a:noFill/>
          <a:ln/>
        </p:spPr>
        <p:txBody>
          <a:bodyPr wrap="none" lIns="0" tIns="0" rIns="0" bIns="0" rtlCol="0" anchor="t"/>
          <a:lstStyle/>
          <a:p>
            <a:pPr marL="0" indent="0" algn="l">
              <a:lnSpc>
                <a:spcPct val="104000"/>
              </a:lnSpc>
              <a:buNone/>
            </a:pPr>
            <a:r>
              <a:rPr lang="en-US" b="1" kern="0" spc="-14" dirty="0" err="1">
                <a:solidFill>
                  <a:srgbClr val="3D3838"/>
                </a:solidFill>
                <a:latin typeface="Aptos Narrow" panose="020B0004020202020204" pitchFamily="34" charset="0"/>
                <a:ea typeface="Montserrat Bold" pitchFamily="34" charset="-122"/>
                <a:cs typeface="Montserrat Bold" pitchFamily="34" charset="-120"/>
              </a:rPr>
              <a:t>Institutionell</a:t>
            </a:r>
            <a:r>
              <a:rPr lang="en-US" b="1" kern="0" spc="-14" dirty="0">
                <a:solidFill>
                  <a:srgbClr val="3D3838"/>
                </a:solidFill>
                <a:latin typeface="Aptos Narrow" panose="020B0004020202020204" pitchFamily="34" charset="0"/>
                <a:ea typeface="Montserrat Bold" pitchFamily="34" charset="-122"/>
                <a:cs typeface="Montserrat Bold" pitchFamily="34" charset="-120"/>
              </a:rPr>
              <a:t> </a:t>
            </a:r>
            <a:r>
              <a:rPr lang="en-US" b="1" kern="0" spc="-14" dirty="0" err="1">
                <a:solidFill>
                  <a:srgbClr val="3D3838"/>
                </a:solidFill>
                <a:latin typeface="Aptos Narrow" panose="020B0004020202020204" pitchFamily="34" charset="0"/>
                <a:ea typeface="Montserrat Bold" pitchFamily="34" charset="-122"/>
                <a:cs typeface="Montserrat Bold" pitchFamily="34" charset="-120"/>
              </a:rPr>
              <a:t>innerhalb</a:t>
            </a:r>
            <a:r>
              <a:rPr lang="en-US" b="1" kern="0" spc="-14" dirty="0">
                <a:solidFill>
                  <a:srgbClr val="3D3838"/>
                </a:solidFill>
                <a:latin typeface="Aptos Narrow" panose="020B0004020202020204" pitchFamily="34" charset="0"/>
                <a:ea typeface="Montserrat Bold" pitchFamily="34" charset="-122"/>
                <a:cs typeface="Montserrat Bold" pitchFamily="34" charset="-120"/>
              </a:rPr>
              <a:t> des Met</a:t>
            </a:r>
            <a:endParaRPr lang="en-US" dirty="0"/>
          </a:p>
        </p:txBody>
      </p:sp>
      <p:sp>
        <p:nvSpPr>
          <p:cNvPr id="14" name="Text 8"/>
          <p:cNvSpPr/>
          <p:nvPr/>
        </p:nvSpPr>
        <p:spPr>
          <a:xfrm>
            <a:off x="1306877" y="4775446"/>
            <a:ext cx="5706126" cy="631279"/>
          </a:xfrm>
          <a:prstGeom prst="rect">
            <a:avLst/>
          </a:prstGeom>
          <a:noFill/>
          <a:ln/>
        </p:spPr>
        <p:txBody>
          <a:bodyPr wrap="none" lIns="0" tIns="0" rIns="0" bIns="0" rtlCol="0" anchor="t"/>
          <a:lstStyle/>
          <a:p>
            <a:pPr marL="0" indent="0" algn="l">
              <a:lnSpc>
                <a:spcPct val="114000"/>
              </a:lnSpc>
              <a:buNone/>
            </a:pPr>
            <a:r>
              <a:rPr lang="en-US" sz="1600" dirty="0">
                <a:solidFill>
                  <a:srgbClr val="3D3838"/>
                </a:solidFill>
                <a:latin typeface="Aptos Narrow" panose="020B0004020202020204" pitchFamily="34" charset="0"/>
                <a:ea typeface="Source Sans 3" pitchFamily="34" charset="-122"/>
                <a:cs typeface="Source Sans 3" pitchFamily="34" charset="-120"/>
              </a:rPr>
              <a:t>Islamic Art &amp; Ancient Near Eastern Art </a:t>
            </a:r>
            <a:r>
              <a:rPr lang="en-US" sz="1600" dirty="0" err="1">
                <a:solidFill>
                  <a:srgbClr val="3D3838"/>
                </a:solidFill>
                <a:latin typeface="Aptos Narrow" panose="020B0004020202020204" pitchFamily="34" charset="0"/>
                <a:ea typeface="Source Sans 3" pitchFamily="34" charset="-122"/>
                <a:cs typeface="Source Sans 3" pitchFamily="34" charset="-120"/>
              </a:rPr>
              <a:t>vereinen</a:t>
            </a:r>
            <a:r>
              <a:rPr lang="en-US" sz="1600" dirty="0">
                <a:solidFill>
                  <a:srgbClr val="3D3838"/>
                </a:solidFill>
                <a:latin typeface="Aptos Narrow" panose="020B0004020202020204" pitchFamily="34" charset="0"/>
                <a:ea typeface="Source Sans 3" pitchFamily="34" charset="-122"/>
                <a:cs typeface="Source Sans 3" pitchFamily="34" charset="-120"/>
              </a:rPr>
              <a:t> </a:t>
            </a:r>
            <a:r>
              <a:rPr lang="en-US" sz="1600" b="1" dirty="0">
                <a:solidFill>
                  <a:srgbClr val="3D3838"/>
                </a:solidFill>
                <a:latin typeface="Aptos Narrow" panose="020B0004020202020204" pitchFamily="34" charset="0"/>
                <a:ea typeface="Source Sans 3" pitchFamily="34" charset="-122"/>
                <a:cs typeface="Source Sans 3" pitchFamily="34" charset="-120"/>
              </a:rPr>
              <a:t>96,73</a:t>
            </a:r>
            <a:r>
              <a:rPr lang="en-US" sz="1600" b="1" dirty="0">
                <a:solidFill>
                  <a:srgbClr val="3D3838"/>
                </a:solidFill>
                <a:latin typeface="Aptos Narrow" panose="020B0004020202020204" pitchFamily="34" charset="0"/>
                <a:ea typeface="Source Sans 3 Bold" pitchFamily="34" charset="-122"/>
                <a:cs typeface="Source Sans 3 Bold" pitchFamily="34" charset="-120"/>
              </a:rPr>
              <a:t> %</a:t>
            </a:r>
            <a:r>
              <a:rPr lang="en-US" sz="1600" dirty="0">
                <a:solidFill>
                  <a:srgbClr val="3D3838"/>
                </a:solidFill>
                <a:latin typeface="Aptos Narrow" panose="020B0004020202020204" pitchFamily="34" charset="0"/>
                <a:ea typeface="Source Sans 3" pitchFamily="34" charset="-122"/>
                <a:cs typeface="Source Sans 3 Bold" pitchFamily="34" charset="-120"/>
              </a:rPr>
              <a:t>,</a:t>
            </a:r>
            <a:endParaRPr lang="en-US" sz="1600" dirty="0">
              <a:solidFill>
                <a:srgbClr val="3D3838"/>
              </a:solidFill>
              <a:latin typeface="Aptos Narrow" panose="020B0004020202020204" pitchFamily="34" charset="0"/>
              <a:ea typeface="Source Sans 3" pitchFamily="34" charset="-122"/>
              <a:cs typeface="Source Sans 3" pitchFamily="34" charset="-120"/>
            </a:endParaRPr>
          </a:p>
          <a:p>
            <a:pPr marL="0" indent="0" algn="l">
              <a:lnSpc>
                <a:spcPct val="114000"/>
              </a:lnSpc>
              <a:buNone/>
            </a:pPr>
            <a:r>
              <a:rPr lang="de-DE" sz="1600" dirty="0">
                <a:solidFill>
                  <a:srgbClr val="3D3838"/>
                </a:solidFill>
                <a:latin typeface="Aptos Narrow" panose="020B0004020202020204" pitchFamily="34" charset="0"/>
              </a:rPr>
              <a:t>Erwerbung konzentriert sich vor allem auf 1930er und 1940er Jahre</a:t>
            </a:r>
            <a:endParaRPr lang="en-US" sz="1600" dirty="0">
              <a:solidFill>
                <a:srgbClr val="3D3838"/>
              </a:solidFill>
              <a:latin typeface="Aptos Narrow" panose="020B0004020202020204" pitchFamily="34" charset="0"/>
            </a:endParaRPr>
          </a:p>
        </p:txBody>
      </p:sp>
      <p:sp>
        <p:nvSpPr>
          <p:cNvPr id="15" name="Shape 9"/>
          <p:cNvSpPr/>
          <p:nvPr/>
        </p:nvSpPr>
        <p:spPr>
          <a:xfrm>
            <a:off x="719814" y="5529417"/>
            <a:ext cx="6293189" cy="1052358"/>
          </a:xfrm>
          <a:prstGeom prst="roundRect">
            <a:avLst>
              <a:gd name="adj" fmla="val 3018"/>
            </a:avLst>
          </a:prstGeom>
          <a:solidFill>
            <a:srgbClr val="FDECEA"/>
          </a:solidFill>
          <a:ln/>
        </p:spPr>
        <p:txBody>
          <a:bodyPr/>
          <a:lstStyle/>
          <a:p>
            <a:endParaRPr lang="de-DE"/>
          </a:p>
        </p:txBody>
      </p:sp>
      <p:pic>
        <p:nvPicPr>
          <p:cNvPr id="16" name="Image 4" descr="preencoded.png"/>
          <p:cNvPicPr>
            <a:picLocks noChangeAspect="1"/>
          </p:cNvPicPr>
          <p:nvPr/>
        </p:nvPicPr>
        <p:blipFill>
          <a:blip r:embed="rId7"/>
          <a:stretch>
            <a:fillRect/>
          </a:stretch>
        </p:blipFill>
        <p:spPr>
          <a:xfrm>
            <a:off x="881735" y="5850984"/>
            <a:ext cx="202401" cy="161925"/>
          </a:xfrm>
          <a:prstGeom prst="rect">
            <a:avLst/>
          </a:prstGeom>
        </p:spPr>
      </p:pic>
      <p:sp>
        <p:nvSpPr>
          <p:cNvPr id="17" name="Text 10"/>
          <p:cNvSpPr/>
          <p:nvPr/>
        </p:nvSpPr>
        <p:spPr>
          <a:xfrm>
            <a:off x="1246057" y="5615242"/>
            <a:ext cx="5605025" cy="892024"/>
          </a:xfrm>
          <a:prstGeom prst="rect">
            <a:avLst/>
          </a:prstGeom>
          <a:noFill/>
          <a:ln/>
        </p:spPr>
        <p:txBody>
          <a:bodyPr wrap="square" lIns="0" tIns="0" rIns="0" bIns="0" rtlCol="0" anchor="t">
            <a:normAutofit/>
          </a:bodyPr>
          <a:lstStyle/>
          <a:p>
            <a:pPr marL="0" indent="0" algn="l">
              <a:lnSpc>
                <a:spcPct val="119000"/>
              </a:lnSpc>
              <a:buNone/>
            </a:pPr>
            <a:r>
              <a:rPr lang="en-US" sz="1600" dirty="0" err="1">
                <a:solidFill>
                  <a:srgbClr val="000000"/>
                </a:solidFill>
                <a:latin typeface="Aptos Narrow" panose="020B0004020202020204" pitchFamily="34" charset="0"/>
                <a:ea typeface="Source Sans 3" pitchFamily="34" charset="-122"/>
                <a:cs typeface="Source Sans 3" pitchFamily="34" charset="-120"/>
              </a:rPr>
              <a:t>Zeitliche</a:t>
            </a:r>
            <a:r>
              <a:rPr lang="en-US" sz="1600" dirty="0">
                <a:solidFill>
                  <a:srgbClr val="000000"/>
                </a:solidFill>
                <a:latin typeface="Aptos Narrow" panose="020B0004020202020204" pitchFamily="34" charset="0"/>
                <a:ea typeface="Source Sans 3" pitchFamily="34" charset="-122"/>
                <a:cs typeface="Source Sans 3" pitchFamily="34" charset="-120"/>
              </a:rPr>
              <a:t>, </a:t>
            </a:r>
            <a:r>
              <a:rPr lang="en-US" sz="1600" dirty="0" err="1">
                <a:solidFill>
                  <a:srgbClr val="000000"/>
                </a:solidFill>
                <a:latin typeface="Aptos Narrow" panose="020B0004020202020204" pitchFamily="34" charset="0"/>
                <a:ea typeface="Source Sans 3" pitchFamily="34" charset="-122"/>
                <a:cs typeface="Source Sans 3" pitchFamily="34" charset="-120"/>
              </a:rPr>
              <a:t>materielle</a:t>
            </a:r>
            <a:r>
              <a:rPr lang="en-US" sz="1600" dirty="0">
                <a:solidFill>
                  <a:srgbClr val="000000"/>
                </a:solidFill>
                <a:latin typeface="Aptos Narrow" panose="020B0004020202020204" pitchFamily="34" charset="0"/>
                <a:ea typeface="Source Sans 3" pitchFamily="34" charset="-122"/>
                <a:cs typeface="Source Sans 3" pitchFamily="34" charset="-120"/>
              </a:rPr>
              <a:t> und </a:t>
            </a:r>
            <a:r>
              <a:rPr lang="en-US" sz="1600" dirty="0" err="1">
                <a:solidFill>
                  <a:srgbClr val="000000"/>
                </a:solidFill>
                <a:latin typeface="Aptos Narrow" panose="020B0004020202020204" pitchFamily="34" charset="0"/>
                <a:ea typeface="Source Sans 3" pitchFamily="34" charset="-122"/>
                <a:cs typeface="Source Sans 3" pitchFamily="34" charset="-120"/>
              </a:rPr>
              <a:t>räumliche</a:t>
            </a:r>
            <a:r>
              <a:rPr lang="en-US" sz="1600" dirty="0">
                <a:solidFill>
                  <a:srgbClr val="000000"/>
                </a:solidFill>
                <a:latin typeface="Aptos Narrow" panose="020B0004020202020204" pitchFamily="34" charset="0"/>
                <a:ea typeface="Source Sans 3" pitchFamily="34" charset="-122"/>
                <a:cs typeface="Source Sans 3" pitchFamily="34" charset="-120"/>
              </a:rPr>
              <a:t> </a:t>
            </a:r>
            <a:r>
              <a:rPr lang="en-US" sz="1600" dirty="0" err="1">
                <a:solidFill>
                  <a:srgbClr val="000000"/>
                </a:solidFill>
                <a:latin typeface="Aptos Narrow" panose="020B0004020202020204" pitchFamily="34" charset="0"/>
                <a:ea typeface="Source Sans 3" pitchFamily="34" charset="-122"/>
                <a:cs typeface="Source Sans 3" pitchFamily="34" charset="-120"/>
              </a:rPr>
              <a:t>Schwerpunkte</a:t>
            </a:r>
            <a:r>
              <a:rPr lang="en-US" sz="1600" dirty="0">
                <a:solidFill>
                  <a:srgbClr val="000000"/>
                </a:solidFill>
                <a:latin typeface="Aptos Narrow" panose="020B0004020202020204" pitchFamily="34" charset="0"/>
                <a:ea typeface="Source Sans 3" pitchFamily="34" charset="-122"/>
                <a:cs typeface="Source Sans 3" pitchFamily="34" charset="-120"/>
              </a:rPr>
              <a:t> der </a:t>
            </a:r>
            <a:r>
              <a:rPr lang="en-US" sz="1600" dirty="0" err="1">
                <a:solidFill>
                  <a:srgbClr val="000000"/>
                </a:solidFill>
                <a:latin typeface="Aptos Narrow" panose="020B0004020202020204" pitchFamily="34" charset="0"/>
                <a:ea typeface="Source Sans 3" pitchFamily="34" charset="-122"/>
                <a:cs typeface="Source Sans 3" pitchFamily="34" charset="-120"/>
              </a:rPr>
              <a:t>iranisch-persischen</a:t>
            </a:r>
            <a:r>
              <a:rPr lang="en-US" sz="1600" dirty="0">
                <a:solidFill>
                  <a:srgbClr val="000000"/>
                </a:solidFill>
                <a:latin typeface="Aptos Narrow" panose="020B0004020202020204" pitchFamily="34" charset="0"/>
                <a:ea typeface="Source Sans 3" pitchFamily="34" charset="-122"/>
                <a:cs typeface="Source Sans 3" pitchFamily="34" charset="-120"/>
              </a:rPr>
              <a:t> </a:t>
            </a:r>
            <a:r>
              <a:rPr lang="en-US" sz="1600" dirty="0" err="1">
                <a:solidFill>
                  <a:srgbClr val="000000"/>
                </a:solidFill>
                <a:latin typeface="Aptos Narrow" panose="020B0004020202020204" pitchFamily="34" charset="0"/>
                <a:ea typeface="Source Sans 3" pitchFamily="34" charset="-122"/>
                <a:cs typeface="Source Sans 3" pitchFamily="34" charset="-120"/>
              </a:rPr>
              <a:t>Objekte</a:t>
            </a:r>
            <a:r>
              <a:rPr lang="en-US" sz="1600" dirty="0">
                <a:solidFill>
                  <a:srgbClr val="000000"/>
                </a:solidFill>
                <a:latin typeface="Aptos Narrow" panose="020B0004020202020204" pitchFamily="34" charset="0"/>
                <a:ea typeface="Source Sans 3" pitchFamily="34" charset="-122"/>
                <a:cs typeface="Source Sans 3" pitchFamily="34" charset="-120"/>
              </a:rPr>
              <a:t> fallen </a:t>
            </a:r>
            <a:r>
              <a:rPr lang="en-US" sz="1600" dirty="0" err="1">
                <a:solidFill>
                  <a:srgbClr val="000000"/>
                </a:solidFill>
                <a:latin typeface="Aptos Narrow" panose="020B0004020202020204" pitchFamily="34" charset="0"/>
                <a:ea typeface="Source Sans 3" pitchFamily="34" charset="-122"/>
                <a:cs typeface="Source Sans 3" pitchFamily="34" charset="-120"/>
              </a:rPr>
              <a:t>bemerkenswert</a:t>
            </a:r>
            <a:r>
              <a:rPr lang="en-US" sz="1600" dirty="0">
                <a:solidFill>
                  <a:srgbClr val="000000"/>
                </a:solidFill>
                <a:latin typeface="Aptos Narrow" panose="020B0004020202020204" pitchFamily="34" charset="0"/>
                <a:ea typeface="Source Sans 3" pitchFamily="34" charset="-122"/>
                <a:cs typeface="Source Sans 3" pitchFamily="34" charset="-120"/>
              </a:rPr>
              <a:t> </a:t>
            </a:r>
            <a:r>
              <a:rPr lang="en-US" sz="1600" dirty="0" err="1">
                <a:solidFill>
                  <a:srgbClr val="000000"/>
                </a:solidFill>
                <a:latin typeface="Aptos Narrow" panose="020B0004020202020204" pitchFamily="34" charset="0"/>
                <a:ea typeface="Source Sans 3" pitchFamily="34" charset="-122"/>
                <a:cs typeface="Source Sans 3" pitchFamily="34" charset="-120"/>
              </a:rPr>
              <a:t>zusammen</a:t>
            </a:r>
            <a:r>
              <a:rPr lang="en-US" sz="1600" dirty="0">
                <a:solidFill>
                  <a:srgbClr val="000000"/>
                </a:solidFill>
                <a:latin typeface="Aptos Narrow" panose="020B0004020202020204" pitchFamily="34" charset="0"/>
                <a:ea typeface="Source Sans 3" pitchFamily="34" charset="-122"/>
                <a:cs typeface="Source Sans 3" pitchFamily="34" charset="-120"/>
              </a:rPr>
              <a:t> –  </a:t>
            </a:r>
          </a:p>
          <a:p>
            <a:pPr marL="0" indent="0" algn="l">
              <a:lnSpc>
                <a:spcPct val="119000"/>
              </a:lnSpc>
              <a:buNone/>
            </a:pPr>
            <a:r>
              <a:rPr lang="en-US" sz="1600" dirty="0">
                <a:solidFill>
                  <a:srgbClr val="000000"/>
                </a:solidFill>
                <a:latin typeface="Aptos Narrow" panose="020B0004020202020204" pitchFamily="34" charset="0"/>
                <a:ea typeface="Source Sans 3" pitchFamily="34" charset="-122"/>
                <a:cs typeface="Source Sans 3" pitchFamily="34" charset="-120"/>
              </a:rPr>
              <a:t>Grund: </a:t>
            </a:r>
            <a:r>
              <a:rPr lang="de-DE" sz="1600" dirty="0">
                <a:solidFill>
                  <a:srgbClr val="000000"/>
                </a:solidFill>
                <a:latin typeface="Aptos Narrow" panose="020B0004020202020204" pitchFamily="34" charset="0"/>
                <a:ea typeface="Source Sans 3" pitchFamily="34" charset="-122"/>
                <a:cs typeface="Source Sans 3" pitchFamily="34" charset="-120"/>
              </a:rPr>
              <a:t>Eigene Met-Ausgrabungen in </a:t>
            </a:r>
            <a:r>
              <a:rPr lang="de-DE" sz="1600" dirty="0" err="1">
                <a:solidFill>
                  <a:srgbClr val="000000"/>
                </a:solidFill>
                <a:latin typeface="Aptos Narrow" panose="020B0004020202020204" pitchFamily="34" charset="0"/>
                <a:ea typeface="Source Sans 3" pitchFamily="34" charset="-122"/>
                <a:cs typeface="Source Sans 3" pitchFamily="34" charset="-120"/>
              </a:rPr>
              <a:t>Nishapur</a:t>
            </a:r>
            <a:r>
              <a:rPr lang="de-DE" sz="1600" dirty="0">
                <a:solidFill>
                  <a:srgbClr val="000000"/>
                </a:solidFill>
                <a:latin typeface="Aptos Narrow" panose="020B0004020202020204" pitchFamily="34" charset="0"/>
                <a:ea typeface="Source Sans 3" pitchFamily="34" charset="-122"/>
                <a:cs typeface="Source Sans 3" pitchFamily="34" charset="-120"/>
              </a:rPr>
              <a:t> (1935–1940er Jahre).</a:t>
            </a:r>
            <a:endParaRPr lang="en-US" sz="1600" dirty="0"/>
          </a:p>
        </p:txBody>
      </p:sp>
      <p:pic>
        <p:nvPicPr>
          <p:cNvPr id="18" name="Image 5" descr="preencoded.png"/>
          <p:cNvPicPr>
            <a:picLocks noChangeAspect="1"/>
          </p:cNvPicPr>
          <p:nvPr/>
        </p:nvPicPr>
        <p:blipFill>
          <a:blip r:embed="rId8"/>
          <a:stretch>
            <a:fillRect/>
          </a:stretch>
        </p:blipFill>
        <p:spPr>
          <a:xfrm>
            <a:off x="7477185" y="1879201"/>
            <a:ext cx="3657310" cy="3657402"/>
          </a:xfrm>
          <a:prstGeom prst="rect">
            <a:avLst/>
          </a:prstGeom>
        </p:spPr>
      </p:pic>
      <p:sp>
        <p:nvSpPr>
          <p:cNvPr id="20" name="Textfeld 19">
            <a:extLst>
              <a:ext uri="{FF2B5EF4-FFF2-40B4-BE49-F238E27FC236}">
                <a16:creationId xmlns:a16="http://schemas.microsoft.com/office/drawing/2014/main" id="{2DF925DB-33DD-E922-86DA-59119FC78C2A}"/>
              </a:ext>
            </a:extLst>
          </p:cNvPr>
          <p:cNvSpPr txBox="1"/>
          <p:nvPr/>
        </p:nvSpPr>
        <p:spPr>
          <a:xfrm>
            <a:off x="11764652" y="6454588"/>
            <a:ext cx="490101" cy="338554"/>
          </a:xfrm>
          <a:prstGeom prst="rect">
            <a:avLst/>
          </a:prstGeom>
          <a:noFill/>
        </p:spPr>
        <p:txBody>
          <a:bodyPr wrap="square" rtlCol="0">
            <a:spAutoFit/>
          </a:bodyPr>
          <a:lstStyle/>
          <a:p>
            <a:r>
              <a:rPr lang="de-DE" sz="1600" dirty="0">
                <a:solidFill>
                  <a:srgbClr val="3D3838"/>
                </a:solidFill>
                <a:latin typeface="Aptos Narrow" panose="020B0004020202020204" pitchFamily="34" charset="0"/>
              </a:rPr>
              <a:t>10</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4571886" cy="6858000"/>
          </a:xfrm>
          <a:prstGeom prst="rect">
            <a:avLst/>
          </a:prstGeom>
        </p:spPr>
      </p:pic>
      <p:sp>
        <p:nvSpPr>
          <p:cNvPr id="3" name="Text 0"/>
          <p:cNvSpPr/>
          <p:nvPr/>
        </p:nvSpPr>
        <p:spPr>
          <a:xfrm>
            <a:off x="5291700" y="416222"/>
            <a:ext cx="6180181" cy="920155"/>
          </a:xfrm>
          <a:prstGeom prst="rect">
            <a:avLst/>
          </a:prstGeom>
          <a:noFill/>
          <a:ln/>
        </p:spPr>
        <p:txBody>
          <a:bodyPr wrap="square" lIns="0" tIns="0" rIns="0" bIns="0" rtlCol="0" anchor="t">
            <a:normAutofit/>
          </a:bodyPr>
          <a:lstStyle/>
          <a:p>
            <a:pPr marL="0" indent="0" algn="l">
              <a:lnSpc>
                <a:spcPct val="104000"/>
              </a:lnSpc>
              <a:buNone/>
            </a:pPr>
            <a:r>
              <a:rPr lang="en-US" sz="3600" b="1" kern="0" spc="-29" dirty="0" err="1">
                <a:solidFill>
                  <a:srgbClr val="000000"/>
                </a:solidFill>
                <a:latin typeface="Aptos Narrow" panose="020B0004020202020204" pitchFamily="34" charset="0"/>
                <a:ea typeface="Montserrat Bold" pitchFamily="34" charset="-122"/>
                <a:cs typeface="Montserrat Bold" pitchFamily="34" charset="-120"/>
              </a:rPr>
              <a:t>Handlungsempfehlungen</a:t>
            </a:r>
            <a:endParaRPr lang="en-US" sz="3600" dirty="0"/>
          </a:p>
        </p:txBody>
      </p:sp>
      <p:sp>
        <p:nvSpPr>
          <p:cNvPr id="4" name="Text 1"/>
          <p:cNvSpPr/>
          <p:nvPr/>
        </p:nvSpPr>
        <p:spPr>
          <a:xfrm>
            <a:off x="5534580" y="1291331"/>
            <a:ext cx="5966241" cy="1026850"/>
          </a:xfrm>
          <a:prstGeom prst="rect">
            <a:avLst/>
          </a:prstGeom>
          <a:noFill/>
          <a:ln/>
        </p:spPr>
        <p:txBody>
          <a:bodyPr wrap="square" lIns="0" tIns="0" rIns="0" bIns="0" rtlCol="0" anchor="t">
            <a:normAutofit/>
          </a:bodyPr>
          <a:lstStyle/>
          <a:p>
            <a:pPr marL="0" indent="0" algn="l">
              <a:lnSpc>
                <a:spcPct val="114000"/>
              </a:lnSpc>
              <a:buNone/>
            </a:pPr>
            <a:r>
              <a:rPr lang="en-US" dirty="0">
                <a:solidFill>
                  <a:srgbClr val="3D3838"/>
                </a:solidFill>
                <a:latin typeface="Aptos Narrow" panose="020B0004020202020204" pitchFamily="34" charset="0"/>
                <a:ea typeface="Source Sans 3" pitchFamily="34" charset="-122"/>
                <a:cs typeface="Source Sans 3" pitchFamily="34" charset="-120"/>
              </a:rPr>
              <a:t>Die iranisch-persischen Bestände sind klein im Anteil, bilden aber einen historisch, materiell und institutionell klar </a:t>
            </a:r>
            <a:r>
              <a:rPr lang="en-US" dirty="0" err="1">
                <a:solidFill>
                  <a:srgbClr val="3D3838"/>
                </a:solidFill>
                <a:latin typeface="Aptos Narrow" panose="020B0004020202020204" pitchFamily="34" charset="0"/>
                <a:ea typeface="Source Sans 3" pitchFamily="34" charset="-122"/>
                <a:cs typeface="Source Sans 3" pitchFamily="34" charset="-120"/>
              </a:rPr>
              <a:t>strukturierten</a:t>
            </a:r>
            <a:r>
              <a:rPr lang="en-US" dirty="0">
                <a:solidFill>
                  <a:srgbClr val="3D3838"/>
                </a:solidFill>
                <a:latin typeface="Aptos Narrow" panose="020B0004020202020204" pitchFamily="34" charset="0"/>
                <a:ea typeface="Source Sans 3" pitchFamily="34" charset="-122"/>
                <a:cs typeface="Source Sans 3" pitchFamily="34" charset="-120"/>
              </a:rPr>
              <a:t> </a:t>
            </a:r>
            <a:r>
              <a:rPr lang="en-US" dirty="0" err="1">
                <a:solidFill>
                  <a:srgbClr val="3D3838"/>
                </a:solidFill>
                <a:latin typeface="Aptos Narrow" panose="020B0004020202020204" pitchFamily="34" charset="0"/>
                <a:ea typeface="Source Sans 3" pitchFamily="34" charset="-122"/>
                <a:cs typeface="Source Sans 3" pitchFamily="34" charset="-120"/>
              </a:rPr>
              <a:t>Sammlungsschwerpunkt</a:t>
            </a:r>
            <a:r>
              <a:rPr lang="en-US" dirty="0">
                <a:solidFill>
                  <a:srgbClr val="3D3838"/>
                </a:solidFill>
                <a:latin typeface="Aptos Narrow" panose="020B0004020202020204" pitchFamily="34" charset="0"/>
                <a:ea typeface="Source Sans 3" pitchFamily="34" charset="-122"/>
                <a:cs typeface="Source Sans 3" pitchFamily="34" charset="-120"/>
              </a:rPr>
              <a:t> des Met.</a:t>
            </a:r>
            <a:endParaRPr lang="en-US" dirty="0">
              <a:solidFill>
                <a:srgbClr val="3D3838"/>
              </a:solidFill>
            </a:endParaRPr>
          </a:p>
        </p:txBody>
      </p:sp>
      <p:sp>
        <p:nvSpPr>
          <p:cNvPr id="5" name="Shape 2"/>
          <p:cNvSpPr/>
          <p:nvPr/>
        </p:nvSpPr>
        <p:spPr>
          <a:xfrm>
            <a:off x="5291699" y="1245953"/>
            <a:ext cx="45719" cy="1026850"/>
          </a:xfrm>
          <a:prstGeom prst="roundRect">
            <a:avLst>
              <a:gd name="adj" fmla="val 49999"/>
            </a:avLst>
          </a:prstGeom>
          <a:solidFill>
            <a:srgbClr val="2D2E34"/>
          </a:solidFill>
          <a:ln/>
        </p:spPr>
        <p:txBody>
          <a:bodyPr/>
          <a:lstStyle/>
          <a:p>
            <a:endParaRPr lang="de-DE"/>
          </a:p>
        </p:txBody>
      </p:sp>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291700" y="2617688"/>
            <a:ext cx="6326558" cy="1141115"/>
          </a:xfrm>
          <a:prstGeom prst="rect">
            <a:avLst/>
          </a:prstGeom>
        </p:spPr>
      </p:pic>
      <p:sp>
        <p:nvSpPr>
          <p:cNvPr id="7" name="Text 3"/>
          <p:cNvSpPr/>
          <p:nvPr/>
        </p:nvSpPr>
        <p:spPr>
          <a:xfrm>
            <a:off x="5548868" y="2776792"/>
            <a:ext cx="5742042" cy="229989"/>
          </a:xfrm>
          <a:prstGeom prst="rect">
            <a:avLst/>
          </a:prstGeom>
          <a:noFill/>
          <a:ln/>
        </p:spPr>
        <p:txBody>
          <a:bodyPr wrap="none" lIns="0" tIns="0" rIns="0" bIns="0" rtlCol="0" anchor="t"/>
          <a:lstStyle/>
          <a:p>
            <a:pPr marL="0" indent="0" algn="l">
              <a:lnSpc>
                <a:spcPct val="104000"/>
              </a:lnSpc>
              <a:buNone/>
            </a:pPr>
            <a:r>
              <a:rPr lang="en-US" b="1" kern="0" spc="-14" dirty="0" err="1">
                <a:solidFill>
                  <a:srgbClr val="3D3838"/>
                </a:solidFill>
                <a:latin typeface="Aptos Narrow" panose="020B0004020202020204" pitchFamily="34" charset="0"/>
                <a:ea typeface="Montserrat Bold" pitchFamily="34" charset="-122"/>
                <a:cs typeface="Montserrat Bold" pitchFamily="34" charset="-120"/>
              </a:rPr>
              <a:t>Metadatenqualität</a:t>
            </a:r>
            <a:r>
              <a:rPr lang="en-US" b="1" kern="0" spc="-14" dirty="0">
                <a:solidFill>
                  <a:srgbClr val="3D3838"/>
                </a:solidFill>
                <a:latin typeface="Aptos Narrow" panose="020B0004020202020204" pitchFamily="34" charset="0"/>
                <a:ea typeface="Montserrat Bold" pitchFamily="34" charset="-122"/>
                <a:cs typeface="Montserrat Bold" pitchFamily="34" charset="-120"/>
              </a:rPr>
              <a:t> </a:t>
            </a:r>
            <a:r>
              <a:rPr lang="en-US" b="1" kern="0" spc="-14" dirty="0" err="1">
                <a:solidFill>
                  <a:srgbClr val="3D3838"/>
                </a:solidFill>
                <a:latin typeface="Aptos Narrow" panose="020B0004020202020204" pitchFamily="34" charset="0"/>
                <a:ea typeface="Montserrat Bold" pitchFamily="34" charset="-122"/>
                <a:cs typeface="Montserrat Bold" pitchFamily="34" charset="-120"/>
              </a:rPr>
              <a:t>nachhaltig</a:t>
            </a:r>
            <a:r>
              <a:rPr lang="en-US" b="1" kern="0" spc="-14" dirty="0">
                <a:solidFill>
                  <a:srgbClr val="3D3838"/>
                </a:solidFill>
                <a:latin typeface="Aptos Narrow" panose="020B0004020202020204" pitchFamily="34" charset="0"/>
                <a:ea typeface="Montserrat Bold" pitchFamily="34" charset="-122"/>
                <a:cs typeface="Montserrat Bold" pitchFamily="34" charset="-120"/>
              </a:rPr>
              <a:t> </a:t>
            </a:r>
            <a:r>
              <a:rPr lang="en-US" b="1" kern="0" spc="-14" dirty="0" err="1">
                <a:solidFill>
                  <a:srgbClr val="3D3838"/>
                </a:solidFill>
                <a:latin typeface="Aptos Narrow" panose="020B0004020202020204" pitchFamily="34" charset="0"/>
                <a:ea typeface="Montserrat Bold" pitchFamily="34" charset="-122"/>
                <a:cs typeface="Montserrat Bold" pitchFamily="34" charset="-120"/>
              </a:rPr>
              <a:t>verbessern</a:t>
            </a:r>
            <a:endParaRPr lang="en-US" dirty="0"/>
          </a:p>
        </p:txBody>
      </p:sp>
      <p:sp>
        <p:nvSpPr>
          <p:cNvPr id="8" name="Text 4"/>
          <p:cNvSpPr/>
          <p:nvPr/>
        </p:nvSpPr>
        <p:spPr>
          <a:xfrm>
            <a:off x="5548867" y="3094192"/>
            <a:ext cx="6069391" cy="865041"/>
          </a:xfrm>
          <a:prstGeom prst="rect">
            <a:avLst/>
          </a:prstGeom>
          <a:noFill/>
          <a:ln/>
        </p:spPr>
        <p:txBody>
          <a:bodyPr wrap="square" lIns="0" tIns="0" rIns="0" bIns="0" rtlCol="0" anchor="t">
            <a:normAutofit/>
          </a:bodyPr>
          <a:lstStyle/>
          <a:p>
            <a:pPr marL="0" indent="0" algn="l">
              <a:lnSpc>
                <a:spcPct val="114000"/>
              </a:lnSpc>
              <a:buNone/>
            </a:pPr>
            <a:r>
              <a:rPr lang="de-DE" sz="1600" dirty="0">
                <a:solidFill>
                  <a:srgbClr val="3D3838"/>
                </a:solidFill>
                <a:latin typeface="Aptos Narrow" panose="020B0004020202020204" pitchFamily="34" charset="0"/>
                <a:ea typeface="Source Sans 3" pitchFamily="34" charset="-122"/>
                <a:cs typeface="Source Sans 3" pitchFamily="34" charset="-120"/>
              </a:rPr>
              <a:t>Kultur- und Herkunftsangaben systematisch verbessern – nachtragen und verbindliche Erfassungsstandards für künftige Neuzugänge einführen</a:t>
            </a:r>
            <a:r>
              <a:rPr lang="en-US" sz="1600" dirty="0">
                <a:solidFill>
                  <a:srgbClr val="3D3838"/>
                </a:solidFill>
                <a:latin typeface="Aptos Narrow" panose="020B0004020202020204" pitchFamily="34" charset="0"/>
                <a:ea typeface="Source Sans 3" pitchFamily="34" charset="-122"/>
                <a:cs typeface="Source Sans 3" pitchFamily="34" charset="-120"/>
              </a:rPr>
              <a:t>.</a:t>
            </a:r>
            <a:endParaRPr lang="en-US" sz="1600" dirty="0">
              <a:solidFill>
                <a:srgbClr val="3D3838"/>
              </a:solidFill>
            </a:endParaRPr>
          </a:p>
        </p:txBody>
      </p:sp>
      <p:pic>
        <p:nvPicPr>
          <p:cNvPr id="9"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291700" y="3904555"/>
            <a:ext cx="6326558" cy="1141115"/>
          </a:xfrm>
          <a:prstGeom prst="rect">
            <a:avLst/>
          </a:prstGeom>
        </p:spPr>
      </p:pic>
      <p:sp>
        <p:nvSpPr>
          <p:cNvPr id="10" name="Text 5"/>
          <p:cNvSpPr/>
          <p:nvPr/>
        </p:nvSpPr>
        <p:spPr>
          <a:xfrm>
            <a:off x="5548868" y="4046644"/>
            <a:ext cx="5742042" cy="229989"/>
          </a:xfrm>
          <a:prstGeom prst="rect">
            <a:avLst/>
          </a:prstGeom>
          <a:noFill/>
          <a:ln/>
        </p:spPr>
        <p:txBody>
          <a:bodyPr wrap="none" lIns="0" tIns="0" rIns="0" bIns="0" rtlCol="0" anchor="t"/>
          <a:lstStyle/>
          <a:p>
            <a:pPr marL="0" indent="0" algn="l">
              <a:lnSpc>
                <a:spcPct val="104000"/>
              </a:lnSpc>
              <a:buNone/>
            </a:pPr>
            <a:r>
              <a:rPr lang="en-US" b="1" kern="0" spc="-14" dirty="0">
                <a:solidFill>
                  <a:srgbClr val="3D3838"/>
                </a:solidFill>
                <a:latin typeface="Aptos Narrow" panose="020B0004020202020204" pitchFamily="34" charset="0"/>
                <a:ea typeface="Montserrat Bold" pitchFamily="34" charset="-122"/>
                <a:cs typeface="Montserrat Bold" pitchFamily="34" charset="-120"/>
              </a:rPr>
              <a:t>Iranische Bestände erschließen</a:t>
            </a:r>
            <a:endParaRPr lang="en-US" dirty="0"/>
          </a:p>
        </p:txBody>
      </p:sp>
      <p:sp>
        <p:nvSpPr>
          <p:cNvPr id="11" name="Text 6"/>
          <p:cNvSpPr/>
          <p:nvPr/>
        </p:nvSpPr>
        <p:spPr>
          <a:xfrm>
            <a:off x="5548868" y="4364044"/>
            <a:ext cx="6069390" cy="637183"/>
          </a:xfrm>
          <a:prstGeom prst="rect">
            <a:avLst/>
          </a:prstGeom>
          <a:noFill/>
          <a:ln/>
        </p:spPr>
        <p:txBody>
          <a:bodyPr wrap="square" lIns="0" tIns="0" rIns="0" bIns="0" rtlCol="0" anchor="t">
            <a:normAutofit/>
          </a:bodyPr>
          <a:lstStyle/>
          <a:p>
            <a:pPr marL="0" indent="0" algn="l">
              <a:lnSpc>
                <a:spcPct val="114000"/>
              </a:lnSpc>
              <a:buNone/>
            </a:pPr>
            <a:r>
              <a:rPr lang="en-US" sz="1600" dirty="0" err="1">
                <a:solidFill>
                  <a:srgbClr val="3D3838"/>
                </a:solidFill>
                <a:latin typeface="Aptos Narrow" panose="020B0004020202020204" pitchFamily="34" charset="0"/>
                <a:ea typeface="Source Sans 3" pitchFamily="34" charset="-122"/>
                <a:cs typeface="Source Sans 3" pitchFamily="34" charset="-120"/>
              </a:rPr>
              <a:t>Teilbestand</a:t>
            </a:r>
            <a:r>
              <a:rPr lang="en-US" sz="1600" dirty="0">
                <a:solidFill>
                  <a:srgbClr val="3D3838"/>
                </a:solidFill>
                <a:latin typeface="Aptos Narrow" panose="020B0004020202020204" pitchFamily="34" charset="0"/>
                <a:ea typeface="Source Sans 3" pitchFamily="34" charset="-122"/>
                <a:cs typeface="Source Sans 3" pitchFamily="34" charset="-120"/>
              </a:rPr>
              <a:t> eigenständig als </a:t>
            </a:r>
            <a:r>
              <a:rPr lang="en-US" sz="1600" dirty="0" err="1">
                <a:solidFill>
                  <a:srgbClr val="3D3838"/>
                </a:solidFill>
                <a:latin typeface="Aptos Narrow" panose="020B0004020202020204" pitchFamily="34" charset="0"/>
                <a:ea typeface="Source Sans 3" pitchFamily="34" charset="-122"/>
                <a:cs typeface="Source Sans 3" pitchFamily="34" charset="-120"/>
              </a:rPr>
              <a:t>Forschungsschwerpunkt</a:t>
            </a:r>
            <a:r>
              <a:rPr lang="en-US" sz="1600" dirty="0">
                <a:solidFill>
                  <a:srgbClr val="3D3838"/>
                </a:solidFill>
                <a:latin typeface="Aptos Narrow" panose="020B0004020202020204" pitchFamily="34" charset="0"/>
                <a:ea typeface="Source Sans 3" pitchFamily="34" charset="-122"/>
                <a:cs typeface="Source Sans 3" pitchFamily="34" charset="-120"/>
              </a:rPr>
              <a:t> </a:t>
            </a:r>
            <a:r>
              <a:rPr lang="en-US" sz="1600" dirty="0" err="1">
                <a:solidFill>
                  <a:srgbClr val="3D3838"/>
                </a:solidFill>
                <a:latin typeface="Aptos Narrow" panose="020B0004020202020204" pitchFamily="34" charset="0"/>
                <a:ea typeface="Source Sans 3" pitchFamily="34" charset="-122"/>
                <a:cs typeface="Source Sans 3" pitchFamily="34" charset="-120"/>
              </a:rPr>
              <a:t>ausweisen</a:t>
            </a:r>
            <a:r>
              <a:rPr lang="en-US" sz="1600" dirty="0">
                <a:solidFill>
                  <a:srgbClr val="3D3838"/>
                </a:solidFill>
                <a:latin typeface="Aptos Narrow" panose="020B0004020202020204" pitchFamily="34" charset="0"/>
                <a:ea typeface="Source Sans 3" pitchFamily="34" charset="-122"/>
                <a:cs typeface="Source Sans 3" pitchFamily="34" charset="-120"/>
              </a:rPr>
              <a:t>, </a:t>
            </a:r>
            <a:r>
              <a:rPr lang="en-US" sz="1600" dirty="0" err="1">
                <a:solidFill>
                  <a:srgbClr val="3D3838"/>
                </a:solidFill>
                <a:latin typeface="Aptos Narrow" panose="020B0004020202020204" pitchFamily="34" charset="0"/>
                <a:ea typeface="Source Sans 3" pitchFamily="34" charset="-122"/>
                <a:cs typeface="Source Sans 3" pitchFamily="34" charset="-120"/>
              </a:rPr>
              <a:t>provenienzhistorisch</a:t>
            </a:r>
            <a:r>
              <a:rPr lang="en-US" sz="1600" dirty="0">
                <a:solidFill>
                  <a:srgbClr val="3D3838"/>
                </a:solidFill>
                <a:latin typeface="Aptos Narrow" panose="020B0004020202020204" pitchFamily="34" charset="0"/>
                <a:ea typeface="Source Sans 3" pitchFamily="34" charset="-122"/>
                <a:cs typeface="Source Sans 3" pitchFamily="34" charset="-120"/>
              </a:rPr>
              <a:t> </a:t>
            </a:r>
            <a:r>
              <a:rPr lang="en-US" sz="1600" dirty="0" err="1">
                <a:solidFill>
                  <a:srgbClr val="3D3838"/>
                </a:solidFill>
                <a:latin typeface="Aptos Narrow" panose="020B0004020202020204" pitchFamily="34" charset="0"/>
                <a:ea typeface="Source Sans 3" pitchFamily="34" charset="-122"/>
                <a:cs typeface="Source Sans 3" pitchFamily="34" charset="-120"/>
              </a:rPr>
              <a:t>untersuchen</a:t>
            </a:r>
            <a:r>
              <a:rPr lang="en-US" sz="1600" dirty="0">
                <a:solidFill>
                  <a:srgbClr val="3D3838"/>
                </a:solidFill>
                <a:latin typeface="Aptos Narrow" panose="020B0004020202020204" pitchFamily="34" charset="0"/>
                <a:ea typeface="Source Sans 3" pitchFamily="34" charset="-122"/>
                <a:cs typeface="Source Sans 3" pitchFamily="34" charset="-120"/>
              </a:rPr>
              <a:t> und gezielt </a:t>
            </a:r>
            <a:r>
              <a:rPr lang="en-US" sz="1600" dirty="0" err="1">
                <a:solidFill>
                  <a:srgbClr val="3D3838"/>
                </a:solidFill>
                <a:latin typeface="Aptos Narrow" panose="020B0004020202020204" pitchFamily="34" charset="0"/>
                <a:ea typeface="Source Sans 3" pitchFamily="34" charset="-122"/>
                <a:cs typeface="Source Sans 3" pitchFamily="34" charset="-120"/>
              </a:rPr>
              <a:t>zugänglich</a:t>
            </a:r>
            <a:r>
              <a:rPr lang="en-US" sz="1600" dirty="0">
                <a:solidFill>
                  <a:srgbClr val="3D3838"/>
                </a:solidFill>
                <a:latin typeface="Aptos Narrow" panose="020B0004020202020204" pitchFamily="34" charset="0"/>
                <a:ea typeface="Source Sans 3" pitchFamily="34" charset="-122"/>
                <a:cs typeface="Source Sans 3" pitchFamily="34" charset="-120"/>
              </a:rPr>
              <a:t> </a:t>
            </a:r>
            <a:r>
              <a:rPr lang="en-US" sz="1600" dirty="0" err="1">
                <a:solidFill>
                  <a:srgbClr val="3D3838"/>
                </a:solidFill>
                <a:latin typeface="Aptos Narrow" panose="020B0004020202020204" pitchFamily="34" charset="0"/>
                <a:ea typeface="Source Sans 3" pitchFamily="34" charset="-122"/>
                <a:cs typeface="Source Sans 3" pitchFamily="34" charset="-120"/>
              </a:rPr>
              <a:t>machen</a:t>
            </a:r>
            <a:r>
              <a:rPr lang="en-US" sz="1600" dirty="0">
                <a:solidFill>
                  <a:srgbClr val="3D3838"/>
                </a:solidFill>
                <a:latin typeface="Aptos Narrow" panose="020B0004020202020204" pitchFamily="34" charset="0"/>
                <a:ea typeface="Source Sans 3" pitchFamily="34" charset="-122"/>
                <a:cs typeface="Source Sans 3" pitchFamily="34" charset="-120"/>
              </a:rPr>
              <a:t>.</a:t>
            </a:r>
            <a:endParaRPr lang="en-US" sz="1600" dirty="0">
              <a:solidFill>
                <a:srgbClr val="3D3838"/>
              </a:solidFill>
            </a:endParaRPr>
          </a:p>
        </p:txBody>
      </p:sp>
      <p:pic>
        <p:nvPicPr>
          <p:cNvPr id="12" name="Image 3"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291700" y="5191423"/>
            <a:ext cx="6326558" cy="1141115"/>
          </a:xfrm>
          <a:prstGeom prst="rect">
            <a:avLst/>
          </a:prstGeom>
        </p:spPr>
      </p:pic>
      <p:sp>
        <p:nvSpPr>
          <p:cNvPr id="13" name="Text 7"/>
          <p:cNvSpPr/>
          <p:nvPr/>
        </p:nvSpPr>
        <p:spPr>
          <a:xfrm>
            <a:off x="5548868" y="5357149"/>
            <a:ext cx="5742042" cy="229989"/>
          </a:xfrm>
          <a:prstGeom prst="rect">
            <a:avLst/>
          </a:prstGeom>
          <a:noFill/>
          <a:ln/>
        </p:spPr>
        <p:txBody>
          <a:bodyPr wrap="none" lIns="0" tIns="0" rIns="0" bIns="0" rtlCol="0" anchor="t"/>
          <a:lstStyle/>
          <a:p>
            <a:pPr marL="0" indent="0" algn="l">
              <a:lnSpc>
                <a:spcPct val="104000"/>
              </a:lnSpc>
              <a:buNone/>
            </a:pPr>
            <a:r>
              <a:rPr lang="en-US" b="1" kern="0" spc="-14" dirty="0">
                <a:solidFill>
                  <a:srgbClr val="3D3838"/>
                </a:solidFill>
                <a:latin typeface="Aptos Narrow" panose="020B0004020202020204" pitchFamily="34" charset="0"/>
                <a:ea typeface="Montserrat Bold" pitchFamily="34" charset="-122"/>
                <a:cs typeface="Montserrat Bold" pitchFamily="34" charset="-120"/>
              </a:rPr>
              <a:t>Early Islamic Period hervorheben</a:t>
            </a:r>
            <a:endParaRPr lang="en-US" dirty="0"/>
          </a:p>
        </p:txBody>
      </p:sp>
      <p:sp>
        <p:nvSpPr>
          <p:cNvPr id="14" name="Text 8"/>
          <p:cNvSpPr/>
          <p:nvPr/>
        </p:nvSpPr>
        <p:spPr>
          <a:xfrm>
            <a:off x="5548868" y="5674549"/>
            <a:ext cx="6069390" cy="642740"/>
          </a:xfrm>
          <a:prstGeom prst="rect">
            <a:avLst/>
          </a:prstGeom>
          <a:noFill/>
          <a:ln/>
        </p:spPr>
        <p:txBody>
          <a:bodyPr wrap="square" lIns="0" tIns="0" rIns="0" bIns="0" rtlCol="0" anchor="t">
            <a:normAutofit/>
          </a:bodyPr>
          <a:lstStyle/>
          <a:p>
            <a:pPr marL="0" indent="0" algn="l">
              <a:lnSpc>
                <a:spcPct val="114000"/>
              </a:lnSpc>
              <a:buNone/>
            </a:pPr>
            <a:r>
              <a:rPr lang="en-US" sz="1600" dirty="0">
                <a:solidFill>
                  <a:srgbClr val="3D3838"/>
                </a:solidFill>
                <a:latin typeface="Aptos Narrow" panose="020B0004020202020204" pitchFamily="34" charset="0"/>
                <a:ea typeface="Source Sans 3" pitchFamily="34" charset="-122"/>
                <a:cs typeface="Source Sans 3" pitchFamily="34" charset="-120"/>
              </a:rPr>
              <a:t>Frühislamische Stuckobjekte in Forschung, </a:t>
            </a:r>
            <a:r>
              <a:rPr lang="en-US" sz="1600" dirty="0" err="1">
                <a:solidFill>
                  <a:srgbClr val="3D3838"/>
                </a:solidFill>
                <a:latin typeface="Aptos Narrow" panose="020B0004020202020204" pitchFamily="34" charset="0"/>
                <a:ea typeface="Source Sans 3" pitchFamily="34" charset="-122"/>
                <a:cs typeface="Source Sans 3" pitchFamily="34" charset="-120"/>
              </a:rPr>
              <a:t>Digitalisierung</a:t>
            </a:r>
            <a:r>
              <a:rPr lang="en-US" sz="1600" dirty="0">
                <a:solidFill>
                  <a:srgbClr val="3D3838"/>
                </a:solidFill>
                <a:latin typeface="Aptos Narrow" panose="020B0004020202020204" pitchFamily="34" charset="0"/>
                <a:ea typeface="Source Sans 3" pitchFamily="34" charset="-122"/>
                <a:cs typeface="Source Sans 3" pitchFamily="34" charset="-120"/>
              </a:rPr>
              <a:t> und </a:t>
            </a:r>
            <a:r>
              <a:rPr lang="en-US" sz="1600" dirty="0" err="1">
                <a:solidFill>
                  <a:srgbClr val="3D3838"/>
                </a:solidFill>
                <a:latin typeface="Aptos Narrow" panose="020B0004020202020204" pitchFamily="34" charset="0"/>
                <a:ea typeface="Source Sans 3" pitchFamily="34" charset="-122"/>
                <a:cs typeface="Source Sans 3" pitchFamily="34" charset="-120"/>
              </a:rPr>
              <a:t>Vermittlung</a:t>
            </a:r>
            <a:r>
              <a:rPr lang="en-US" sz="1600" dirty="0">
                <a:solidFill>
                  <a:srgbClr val="3D3838"/>
                </a:solidFill>
                <a:latin typeface="Aptos Narrow" panose="020B0004020202020204" pitchFamily="34" charset="0"/>
                <a:ea typeface="Source Sans 3" pitchFamily="34" charset="-122"/>
                <a:cs typeface="Source Sans 3" pitchFamily="34" charset="-120"/>
              </a:rPr>
              <a:t> </a:t>
            </a:r>
            <a:r>
              <a:rPr lang="en-US" sz="1600" dirty="0" err="1">
                <a:solidFill>
                  <a:srgbClr val="3D3838"/>
                </a:solidFill>
                <a:latin typeface="Aptos Narrow" panose="020B0004020202020204" pitchFamily="34" charset="0"/>
                <a:ea typeface="Source Sans 3" pitchFamily="34" charset="-122"/>
                <a:cs typeface="Source Sans 3" pitchFamily="34" charset="-120"/>
              </a:rPr>
              <a:t>als</a:t>
            </a:r>
            <a:r>
              <a:rPr lang="en-US" sz="1600" dirty="0">
                <a:solidFill>
                  <a:srgbClr val="3D3838"/>
                </a:solidFill>
                <a:latin typeface="Aptos Narrow" panose="020B0004020202020204" pitchFamily="34" charset="0"/>
                <a:ea typeface="Source Sans 3" pitchFamily="34" charset="-122"/>
                <a:cs typeface="Source Sans 3" pitchFamily="34" charset="-120"/>
              </a:rPr>
              <a:t> </a:t>
            </a:r>
            <a:r>
              <a:rPr lang="en-US" sz="1600" dirty="0" err="1">
                <a:solidFill>
                  <a:srgbClr val="3D3838"/>
                </a:solidFill>
                <a:latin typeface="Aptos Narrow" panose="020B0004020202020204" pitchFamily="34" charset="0"/>
                <a:ea typeface="Source Sans 3" pitchFamily="34" charset="-122"/>
                <a:cs typeface="Source Sans 3" pitchFamily="34" charset="-120"/>
              </a:rPr>
              <a:t>zentralen</a:t>
            </a:r>
            <a:r>
              <a:rPr lang="en-US" sz="1600" dirty="0">
                <a:solidFill>
                  <a:srgbClr val="3D3838"/>
                </a:solidFill>
                <a:latin typeface="Aptos Narrow" panose="020B0004020202020204" pitchFamily="34" charset="0"/>
                <a:ea typeface="Source Sans 3" pitchFamily="34" charset="-122"/>
                <a:cs typeface="Source Sans 3" pitchFamily="34" charset="-120"/>
              </a:rPr>
              <a:t> </a:t>
            </a:r>
            <a:r>
              <a:rPr lang="en-US" sz="1600" dirty="0" err="1">
                <a:solidFill>
                  <a:srgbClr val="3D3838"/>
                </a:solidFill>
                <a:latin typeface="Aptos Narrow" panose="020B0004020202020204" pitchFamily="34" charset="0"/>
                <a:ea typeface="Source Sans 3" pitchFamily="34" charset="-122"/>
                <a:cs typeface="Source Sans 3" pitchFamily="34" charset="-120"/>
              </a:rPr>
              <a:t>Sammlungsschwerpunkt</a:t>
            </a:r>
            <a:r>
              <a:rPr lang="en-US" sz="1600" dirty="0">
                <a:solidFill>
                  <a:srgbClr val="3D3838"/>
                </a:solidFill>
                <a:latin typeface="Aptos Narrow" panose="020B0004020202020204" pitchFamily="34" charset="0"/>
                <a:ea typeface="Source Sans 3" pitchFamily="34" charset="-122"/>
                <a:cs typeface="Source Sans 3" pitchFamily="34" charset="-120"/>
              </a:rPr>
              <a:t> </a:t>
            </a:r>
            <a:r>
              <a:rPr lang="en-US" sz="1600" dirty="0" err="1">
                <a:solidFill>
                  <a:srgbClr val="3D3838"/>
                </a:solidFill>
                <a:latin typeface="Aptos Narrow" panose="020B0004020202020204" pitchFamily="34" charset="0"/>
                <a:ea typeface="Source Sans 3" pitchFamily="34" charset="-122"/>
                <a:cs typeface="Source Sans 3" pitchFamily="34" charset="-120"/>
              </a:rPr>
              <a:t>hervorheben</a:t>
            </a:r>
            <a:r>
              <a:rPr lang="en-US" sz="1600" dirty="0">
                <a:solidFill>
                  <a:srgbClr val="3D3838"/>
                </a:solidFill>
                <a:latin typeface="Aptos Narrow" panose="020B0004020202020204" pitchFamily="34" charset="0"/>
                <a:ea typeface="Source Sans 3" pitchFamily="34" charset="-122"/>
                <a:cs typeface="Source Sans 3" pitchFamily="34" charset="-120"/>
              </a:rPr>
              <a:t>.</a:t>
            </a:r>
            <a:endParaRPr lang="en-US" sz="1600" dirty="0">
              <a:solidFill>
                <a:srgbClr val="3D3838"/>
              </a:solidFill>
            </a:endParaRPr>
          </a:p>
        </p:txBody>
      </p:sp>
      <p:sp>
        <p:nvSpPr>
          <p:cNvPr id="16" name="Textfeld 15">
            <a:extLst>
              <a:ext uri="{FF2B5EF4-FFF2-40B4-BE49-F238E27FC236}">
                <a16:creationId xmlns:a16="http://schemas.microsoft.com/office/drawing/2014/main" id="{59569C2B-99DD-3924-B29C-AF05B9ACF2FB}"/>
              </a:ext>
            </a:extLst>
          </p:cNvPr>
          <p:cNvSpPr txBox="1"/>
          <p:nvPr/>
        </p:nvSpPr>
        <p:spPr>
          <a:xfrm>
            <a:off x="11764652" y="6454588"/>
            <a:ext cx="490101" cy="338554"/>
          </a:xfrm>
          <a:prstGeom prst="rect">
            <a:avLst/>
          </a:prstGeom>
          <a:noFill/>
        </p:spPr>
        <p:txBody>
          <a:bodyPr wrap="square" rtlCol="0">
            <a:spAutoFit/>
          </a:bodyPr>
          <a:lstStyle/>
          <a:p>
            <a:r>
              <a:rPr lang="de-DE" sz="1600" dirty="0">
                <a:solidFill>
                  <a:srgbClr val="3D3838"/>
                </a:solidFill>
                <a:latin typeface="Aptos Narrow" panose="020B0004020202020204" pitchFamily="34" charset="0"/>
              </a:rPr>
              <a:t>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982</Words>
  <Application>Microsoft Office PowerPoint</Application>
  <PresentationFormat>Breitbild</PresentationFormat>
  <Paragraphs>146</Paragraphs>
  <Slides>12</Slides>
  <Notes>12</Notes>
  <HiddenSlides>0</HiddenSlides>
  <MMClips>0</MMClips>
  <ScaleCrop>false</ScaleCrop>
  <HeadingPairs>
    <vt:vector size="6" baseType="variant">
      <vt:variant>
        <vt:lpstr>Verwendete Schriftarten</vt:lpstr>
      </vt:variant>
      <vt:variant>
        <vt:i4>2</vt:i4>
      </vt:variant>
      <vt:variant>
        <vt:lpstr>Design</vt:lpstr>
      </vt:variant>
      <vt:variant>
        <vt:i4>1</vt:i4>
      </vt:variant>
      <vt:variant>
        <vt:lpstr>Folientitel</vt:lpstr>
      </vt:variant>
      <vt:variant>
        <vt:i4>12</vt:i4>
      </vt:variant>
    </vt:vector>
  </HeadingPairs>
  <TitlesOfParts>
    <vt:vector size="15" baseType="lpstr">
      <vt:lpstr>Aptos Narrow</vt:lpstr>
      <vt:lpstr>Arial</vt:lpstr>
      <vt:lpstr>Office Theme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Dennis Theiß</dc:creator>
  <cp:lastModifiedBy>Dennis Theiß</cp:lastModifiedBy>
  <cp:revision>79</cp:revision>
  <dcterms:created xsi:type="dcterms:W3CDTF">2026-09-28T14:19:48Z</dcterms:created>
  <dcterms:modified xsi:type="dcterms:W3CDTF">2026-09-30T14:40:07Z</dcterms:modified>
</cp:coreProperties>
</file>