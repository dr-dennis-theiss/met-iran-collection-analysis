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Aptos Narrow" panose="020B0004020202020204" pitchFamily="34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3838"/>
    <a:srgbClr val="FDECEA"/>
    <a:srgbClr val="6B6767"/>
    <a:srgbClr val="9794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711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1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2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3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4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b="0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5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6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7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8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9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10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 dirty="0">
              <a:latin typeface="Aptos Narrow" panose="020B0004020202020204" pitchFamily="34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ptos Narrow" panose="020B0004020202020204" pitchFamily="34" charset="0"/>
              </a:rPr>
              <a:t>11</a:t>
            </a:fld>
            <a:endParaRPr lang="en-US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D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5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1702833"/>
            <a:ext cx="6443100" cy="1022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Was sammelt ein Weltmuseum?</a:t>
            </a:r>
            <a:endParaRPr lang="en-US" sz="3800" dirty="0">
              <a:solidFill>
                <a:srgbClr val="3D3838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91700" y="2725381"/>
            <a:ext cx="6180181" cy="2195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spcAft>
                <a:spcPts val="1550"/>
              </a:spcAft>
              <a:buNone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 datenanalytische Untersuchung der Sammlungsbestände des Metropolitan Museum of Art mit einer Fallstudie zum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Kulturerbe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C4F897F-FF06-3BCE-F0F3-3EA5FF60C2BD}"/>
              </a:ext>
            </a:extLst>
          </p:cNvPr>
          <p:cNvSpPr/>
          <p:nvPr/>
        </p:nvSpPr>
        <p:spPr>
          <a:xfrm>
            <a:off x="5192250" y="4809250"/>
            <a:ext cx="6180181" cy="25400"/>
          </a:xfrm>
          <a:prstGeom prst="roundRect">
            <a:avLst>
              <a:gd name="adj" fmla="val 59999"/>
            </a:avLst>
          </a:prstGeom>
          <a:solidFill>
            <a:srgbClr val="3D3838">
              <a:alpha val="50000"/>
            </a:srgbClr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BC6D020-C3DE-6C1C-02A8-ADA8503AEC45}"/>
              </a:ext>
            </a:extLst>
          </p:cNvPr>
          <p:cNvSpPr/>
          <p:nvPr/>
        </p:nvSpPr>
        <p:spPr>
          <a:xfrm>
            <a:off x="5192250" y="5117424"/>
            <a:ext cx="6789766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Dennis Theiß ·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DataSmart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Point ·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Abschlussprojekt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Python für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Datenanalyse</a:t>
            </a:r>
            <a:endParaRPr lang="en-US" sz="1600" dirty="0">
              <a:solidFill>
                <a:srgbClr val="3D383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764" y="478433"/>
            <a:ext cx="10752067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 &amp; Struktur</a:t>
            </a:r>
            <a:endParaRPr lang="en-US" sz="32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1134635"/>
            <a:ext cx="10752067" cy="1133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Das New Yorker Metropolitan Museum of Art (Met)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verwaltet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eine der größten Museumssammlungen der Welt. Ziel ist die datenbasierte Untersuchung kultureller, geografischer und zeitlicher Sammlungsschwerpunkte sowie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Fallstudie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zu den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Beständen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beispielweise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für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Ausstellungsvorbereitung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).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9814" y="258286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19814" y="2863255"/>
            <a:ext cx="346403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19814" y="3003947"/>
            <a:ext cx="3464037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 &amp; Leitfragen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63730" y="258286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63730" y="286325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63730" y="3003947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Analyseprozess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07745" y="258286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007745" y="286325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7745" y="3003947"/>
            <a:ext cx="3464136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Explorative Datenanalyse &amp; Datenqualität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19814" y="382994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9814" y="4110335"/>
            <a:ext cx="346403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19814" y="4251027"/>
            <a:ext cx="3464037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63730" y="382994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05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363730" y="411033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363730" y="4251027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007745" y="3829943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06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07745" y="4110335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07745" y="4251027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Gesamtsammlung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9814" y="4821436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07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19814" y="5101828"/>
            <a:ext cx="3464037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9814" y="5242520"/>
            <a:ext cx="3464037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im</a:t>
            </a: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Kontext</a:t>
            </a: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der </a:t>
            </a:r>
            <a:r>
              <a:rPr lang="en-US" b="1" kern="0" spc="-16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Sammlung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63730" y="4821436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08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363730" y="5101828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63729" y="5242520"/>
            <a:ext cx="3543141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Schwerpunkte der iranischen Bestände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07745" y="4821436"/>
            <a:ext cx="359857" cy="2249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Light" pitchFamily="34" charset="-122"/>
                <a:cs typeface="Montserrat Light" pitchFamily="34" charset="-120"/>
              </a:rPr>
              <a:t>09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007745" y="5101828"/>
            <a:ext cx="3464136" cy="25400"/>
          </a:xfrm>
          <a:prstGeom prst="rect">
            <a:avLst/>
          </a:prstGeom>
          <a:solidFill>
            <a:srgbClr val="2D2E34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07745" y="5242520"/>
            <a:ext cx="3464136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Handlungsempfehlungen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EA92B08-17B9-15A2-B65C-285FA6118163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574316"/>
            <a:ext cx="6180181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Problemstellung &amp; Leitfragen</a:t>
            </a:r>
            <a:endParaRPr lang="en-US" sz="3600" dirty="0">
              <a:solidFill>
                <a:srgbClr val="3D3838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91700" y="1313114"/>
            <a:ext cx="6180181" cy="8545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Übergeordnete Fragestellung: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Welche Schwerpunkte prägen die Met-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und was kennzeichnet die iranischen Bestände?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2256631"/>
            <a:ext cx="6180181" cy="12272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7897" y="2394735"/>
            <a:ext cx="5723985" cy="95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4000"/>
              </a:lnSpc>
              <a:spcAft>
                <a:spcPts val="750"/>
              </a:spcAft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Leitfrage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1: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Schwerpunkte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der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Gesamtsammlung</a:t>
            </a:r>
            <a:endParaRPr lang="en-US" b="1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>
              <a:lnSpc>
                <a:spcPct val="114000"/>
              </a:lnSpc>
              <a:spcAft>
                <a:spcPts val="750"/>
              </a:spcAft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kulturellen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geografischen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zeitlichen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Schwerpunkte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zeigt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des Met?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>
              <a:lnSpc>
                <a:spcPct val="114000"/>
              </a:lnSpc>
              <a:spcAft>
                <a:spcPts val="750"/>
              </a:spcAft>
            </a:pP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1700" y="3646289"/>
            <a:ext cx="6180181" cy="97730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7896" y="3772447"/>
            <a:ext cx="5723985" cy="724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750"/>
              </a:spcAft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Leitfrage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2: </a:t>
            </a:r>
            <a:r>
              <a:rPr lang="de-DE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 im Kontext der Sammlung</a:t>
            </a:r>
          </a:p>
          <a:p>
            <a:pPr marL="0" indent="0" algn="l">
              <a:lnSpc>
                <a:spcPct val="114000"/>
              </a:lnSpc>
              <a:spcAft>
                <a:spcPts val="750"/>
              </a:spcAft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Rolle spielen die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Bestände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im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Met?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4786015"/>
            <a:ext cx="6180181" cy="1227237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557897" y="4933772"/>
            <a:ext cx="5836244" cy="93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750"/>
              </a:spcAft>
              <a:buNone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Leitfrage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3: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Schwerpunkte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der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iranischen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Bestände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Welche zeitlichen, materiellen und institutionellen Schwerpunkte haben die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Bestände?</a:t>
            </a:r>
            <a:endParaRPr lang="en-US" sz="1600" dirty="0">
              <a:solidFill>
                <a:srgbClr val="3D3838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D991071-8173-49EB-5CB9-58EEB30F9899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96702"/>
            <a:ext cx="5715948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kern="0" spc="-32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r>
              <a:rPr lang="en-US" sz="32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&amp; </a:t>
            </a:r>
            <a:r>
              <a:rPr lang="en-US" sz="3200" b="1" kern="0" spc="-32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Analyseprozess</a:t>
            </a:r>
            <a:endParaRPr lang="en-US" sz="32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1332022"/>
            <a:ext cx="5715948" cy="5167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buSzPct val="100000"/>
              <a:buChar char="•"/>
            </a:pP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304495" y="3477022"/>
            <a:ext cx="4951388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endParaRPr lang="en-US" sz="14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26" y="1107976"/>
            <a:ext cx="4596888" cy="4597003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E9974E6B-F86F-371D-FBD1-079C271CE0DE}"/>
              </a:ext>
            </a:extLst>
          </p:cNvPr>
          <p:cNvSpPr/>
          <p:nvPr/>
        </p:nvSpPr>
        <p:spPr>
          <a:xfrm>
            <a:off x="719814" y="1478614"/>
            <a:ext cx="6180181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Datenbasis</a:t>
            </a:r>
            <a:endParaRPr lang="en-US" sz="18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965649CC-F353-CB50-5C92-0FAAB83CF686}"/>
              </a:ext>
            </a:extLst>
          </p:cNvPr>
          <p:cNvSpPr/>
          <p:nvPr/>
        </p:nvSpPr>
        <p:spPr>
          <a:xfrm>
            <a:off x="719814" y="1844678"/>
            <a:ext cx="5715948" cy="18656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Zentrale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Quelldatei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MetObjects.csv *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Primärdatensatz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direkt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vom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Museum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bereitgestellt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448.203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Zeilen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bzw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43 Attribute, 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Beispiel: Culture, Country, Department usw.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Metadata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 Date bei allen Objekten identisch: 2017-04-03</a:t>
            </a:r>
          </a:p>
          <a:p>
            <a:pPr>
              <a:lnSpc>
                <a:spcPct val="114000"/>
              </a:lnSpc>
              <a:buSzPct val="100000"/>
            </a:pPr>
            <a:endParaRPr lang="de-DE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>
              <a:lnSpc>
                <a:spcPct val="114000"/>
              </a:lnSpc>
              <a:buSzPct val="100000"/>
            </a:pPr>
            <a:endParaRPr lang="de-DE" sz="1100" b="1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A762E187-49C2-0B46-2027-49BB48C93323}"/>
              </a:ext>
            </a:extLst>
          </p:cNvPr>
          <p:cNvSpPr/>
          <p:nvPr/>
        </p:nvSpPr>
        <p:spPr>
          <a:xfrm>
            <a:off x="719815" y="3744484"/>
            <a:ext cx="6180181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Iterativer Analyseprozess</a:t>
            </a:r>
            <a:endParaRPr lang="en-US" sz="18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1BA4153A-B701-9E5F-8FD7-E40C225A5D0C}"/>
              </a:ext>
            </a:extLst>
          </p:cNvPr>
          <p:cNvSpPr/>
          <p:nvPr/>
        </p:nvSpPr>
        <p:spPr>
          <a:xfrm>
            <a:off x="719814" y="4110547"/>
            <a:ext cx="5976821" cy="2012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b="1" dirty="0">
                <a:solidFill>
                  <a:srgbClr val="3D3838"/>
                </a:solidFill>
                <a:latin typeface="Aptos Narrow" panose="020B0004020202020204" pitchFamily="34" charset="0"/>
              </a:rPr>
              <a:t>Exploration – Bereinigung – Analyse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Exploration lieferte Grundlage für Bereinigungsentscheidungen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Analyseergebnisse machten vereinzelt weitere Bereinigungen erforderlich</a:t>
            </a: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Beispiel: Iran-Teildatensatz erforderte erneute Prüfung von Kultur- und Länderangaben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E8D5B4B-6873-02D0-FCB3-BE6CF2895611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3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B2D0547-605F-2D30-7B37-3CD0A3F2EE10}"/>
              </a:ext>
            </a:extLst>
          </p:cNvPr>
          <p:cNvSpPr/>
          <p:nvPr/>
        </p:nvSpPr>
        <p:spPr>
          <a:xfrm>
            <a:off x="719815" y="6308488"/>
            <a:ext cx="9831644" cy="225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* Dataset: </a:t>
            </a:r>
            <a:r>
              <a:rPr lang="en-US" sz="1200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https://www.kaggle.com/datasets/metmuseum/the-metropolitan-museum-of-art-open-access, Kaggle, CC0-Lizenz, </a:t>
            </a:r>
            <a:r>
              <a:rPr lang="en-US" sz="1200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heruntergeladen</a:t>
            </a:r>
            <a:r>
              <a:rPr lang="en-US" sz="1200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22.09.2026</a:t>
            </a:r>
            <a:r>
              <a:rPr lang="en-US" sz="1200" b="1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. </a:t>
            </a:r>
            <a:endParaRPr lang="en-US" sz="1200" b="1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4" y="1410295"/>
            <a:ext cx="4037308" cy="403740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550565"/>
            <a:ext cx="10758317" cy="1672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2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Explorative Datenanalyse &amp; Datenqualität</a:t>
            </a:r>
            <a:endParaRPr lang="en-US" sz="3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202603" y="1410295"/>
            <a:ext cx="6275528" cy="3255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>
              <a:lnSpc>
                <a:spcPct val="114000"/>
              </a:lnSpc>
              <a:buSzPct val="100000"/>
              <a:buFontTx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</a:rPr>
              <a:t>EDA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</a:rPr>
              <a:t>identifizierte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</a:rPr>
              <a:t> massive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</a:rPr>
              <a:t>Datenqualitätsprobleme</a:t>
            </a:r>
            <a:endParaRPr lang="en-US" b="1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Object ID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eindeutig –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Object Number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mit 2.576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versteckten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Duplikaten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84480" indent="-284480">
              <a:lnSpc>
                <a:spcPct val="114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Culture (7.101) und Country (1.035): sehr hohe Vielfalt, teils mehrdeutig – z. B. Iran or Turkey“ oder „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Iran|Iran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“ 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Spalte „Period": über 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80 % fehlende Werte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kaum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nutzbar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Object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 End Date: zahlreiche Werte nicht nachvollziehbar bzw. </a:t>
            </a: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zuzordnen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– nur </a:t>
            </a:r>
            <a:r>
              <a:rPr lang="de-DE" dirty="0" err="1">
                <a:solidFill>
                  <a:srgbClr val="3D3838"/>
                </a:solidFill>
                <a:latin typeface="Aptos Narrow" panose="020B0004020202020204" pitchFamily="34" charset="0"/>
              </a:rPr>
              <a:t>Object</a:t>
            </a:r>
            <a:r>
              <a:rPr lang="de-DE" dirty="0">
                <a:solidFill>
                  <a:srgbClr val="3D3838"/>
                </a:solidFill>
                <a:latin typeface="Aptos Narrow" panose="020B0004020202020204" pitchFamily="34" charset="0"/>
              </a:rPr>
              <a:t> Begin Date (Datierungsanfang) genutzt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Dort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auch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vereinzelte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fehlerhafte Datierungen (zwei Jahreszahlen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verschmolzen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5196658" y="4650084"/>
            <a:ext cx="6275528" cy="953691"/>
          </a:xfrm>
          <a:prstGeom prst="roundRect">
            <a:avLst>
              <a:gd name="adj" fmla="val 2831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035" y="5036987"/>
            <a:ext cx="224923" cy="1798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81338" y="4793792"/>
            <a:ext cx="5690847" cy="886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Datensatz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inhaltlich vielfältig, aber mit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deutlichen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Dokumentations-lücken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gezielte Bereinigung nötig.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868852A-766C-00A0-2CC5-800E9880DD2E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35136"/>
            <a:ext cx="10752067" cy="460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29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Datenbereinigung</a:t>
            </a:r>
            <a:endParaRPr lang="en-US" sz="2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435" y="1334417"/>
            <a:ext cx="242881" cy="242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46057" y="1329406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de-DE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Reduktion auf </a:t>
            </a:r>
            <a:r>
              <a:rPr lang="de-DE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analysis_df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1246057" y="1705148"/>
            <a:ext cx="5766846" cy="461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Von 43 auf 13 Attribute – Grundlage aller weiteren Schritte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435" y="2209012"/>
            <a:ext cx="242881" cy="2428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46057" y="2204002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Fehlende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Werte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ersetzt</a:t>
            </a: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1246057" y="2579742"/>
            <a:ext cx="5766846" cy="6066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Aussagekräftige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Platzhalter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statt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Zeilenlöschung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– z. B. Country → „unspecified“, Classification → „unclassified“</a:t>
            </a: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535" y="3363023"/>
            <a:ext cx="242881" cy="2428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46157" y="3358013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Classification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bereinigt</a:t>
            </a: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1246157" y="3733754"/>
            <a:ext cx="5766846" cy="230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Mehrfachwerte (Trennzeichen „|") auf erste Kategorie reduziert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435" y="4246977"/>
            <a:ext cx="242881" cy="2428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46057" y="4241967"/>
            <a:ext cx="576684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de-DE" b="1" dirty="0">
                <a:latin typeface="Aptos Narrow" panose="020B0004020202020204" pitchFamily="34" charset="0"/>
              </a:rPr>
              <a:t>Fehlerhafter Datierungsbeginn</a:t>
            </a:r>
            <a:endParaRPr lang="en-US" b="1" dirty="0">
              <a:latin typeface="Aptos Narrow" panose="020B0004020202020204" pitchFamily="34" charset="0"/>
            </a:endParaRPr>
          </a:p>
        </p:txBody>
      </p:sp>
      <p:sp>
        <p:nvSpPr>
          <p:cNvPr id="14" name="Text 8"/>
          <p:cNvSpPr/>
          <p:nvPr/>
        </p:nvSpPr>
        <p:spPr>
          <a:xfrm>
            <a:off x="1246057" y="4617707"/>
            <a:ext cx="5038103" cy="1002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Zwei Objekte entfernt, ein Datensatz korrigiert („18591861" → 1859)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719814" y="5213648"/>
            <a:ext cx="6293189" cy="805061"/>
          </a:xfrm>
          <a:prstGeom prst="roundRect">
            <a:avLst>
              <a:gd name="adj" fmla="val 3018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835" y="5522814"/>
            <a:ext cx="202401" cy="1619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46157" y="5339770"/>
            <a:ext cx="5605025" cy="712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Regelbasierte Bereinigung schafft eine konsistente, belastbare Datengrundlage für die weitere Analyse.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9146" y="1529312"/>
            <a:ext cx="3657310" cy="3657402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39E59A4C-E6AD-DBBE-373C-F23D1D7A02C7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08497"/>
            <a:ext cx="10752067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2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Feature Engineering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4" y="1505726"/>
            <a:ext cx="4037308" cy="40374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02603" y="1505726"/>
            <a:ext cx="6550126" cy="3743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country_clean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&amp;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world_region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: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Herkunftsangaben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vereinheitlicht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und auf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Weltregionen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gemappt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(Europa,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Asien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usw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.)</a:t>
            </a: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begin_century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ordnet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den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Datierungsbeginn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einem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Jahrhundert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zu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;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acquisition_type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und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acquisition_year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zur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Erwebungsgeschichte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aus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Credit Line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extrahiert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Teildatensatz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Iran (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iran_df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):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„Iran"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als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Kulturraum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verstanden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nicht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nur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als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Staat –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Kombination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aus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country_clean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region und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kuratierter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Kulturliste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(u. a. Achaemenid, Sasanian, Qajar) – 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iran_period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mit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14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historischen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Epochen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(Prehistoric bis Islamic Republic)</a:t>
            </a: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Dashboard: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Visualisierung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der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Ergebnisse</a:t>
            </a:r>
            <a:endParaRPr lang="en-US" dirty="0">
              <a:solidFill>
                <a:srgbClr val="3D3838"/>
              </a:solidFill>
              <a:latin typeface="Aptos Narrow" panose="020B0004020202020204" pitchFamily="34" charset="0"/>
              <a:ea typeface="Source Sans 3 Bold" pitchFamily="34" charset="-122"/>
              <a:cs typeface="Source Sans 3 Bold" pitchFamily="34" charset="-120"/>
            </a:endParaRPr>
          </a:p>
          <a:p>
            <a:pPr marL="284480" indent="-284480" algn="l">
              <a:lnSpc>
                <a:spcPct val="114000"/>
              </a:lnSpc>
              <a:buSzPct val="100000"/>
              <a:buChar char="•"/>
            </a:pP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Dashboard-</a:t>
            </a:r>
            <a:r>
              <a:rPr lang="en-US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Anreicherung</a:t>
            </a:r>
            <a:r>
              <a:rPr lang="en-US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: 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MET Collection API (Bild, Link, Object Number) und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Wikidata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-API (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Koordinaten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UNESCO World Heritage)</a:t>
            </a:r>
          </a:p>
        </p:txBody>
      </p:sp>
      <p:sp>
        <p:nvSpPr>
          <p:cNvPr id="5" name="Shape 2"/>
          <p:cNvSpPr/>
          <p:nvPr/>
        </p:nvSpPr>
        <p:spPr>
          <a:xfrm>
            <a:off x="5202603" y="5543135"/>
            <a:ext cx="6275528" cy="762830"/>
          </a:xfrm>
          <a:prstGeom prst="roundRect">
            <a:avLst>
              <a:gd name="adj" fmla="val 2831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483" y="5834607"/>
            <a:ext cx="224923" cy="1798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87285" y="5631298"/>
            <a:ext cx="5690846" cy="586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Feature Engineering ist der essenzielle Wegbereiter für die folgenden tiefergehenden Auswertungen.</a:t>
            </a:r>
            <a:endParaRPr lang="en-US" sz="16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E56952C-37F6-DE3E-8B83-EECA7498A6CB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54584"/>
            <a:ext cx="10752067" cy="511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2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Gesamtsammlung</a:t>
            </a:r>
            <a:r>
              <a:rPr lang="en-US" sz="3600" b="1" kern="0" spc="-32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: 448.201 </a:t>
            </a:r>
            <a:r>
              <a:rPr lang="en-US" sz="3600" b="1" kern="0" spc="-32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Objekte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9814" y="1547911"/>
            <a:ext cx="5263522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58,39 %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719814" y="2249785"/>
            <a:ext cx="5263522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Ohne Kulturangabe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19814" y="2613323"/>
            <a:ext cx="5263522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Bei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mehr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als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Hälfte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nicht dokumentiert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08260" y="1544192"/>
            <a:ext cx="5263621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83,39 %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6208260" y="2249785"/>
            <a:ext cx="5263621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Ohne Herkunftsland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08260" y="2613323"/>
            <a:ext cx="5263621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Großteil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geografisch nicht erfasst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9814" y="3495874"/>
            <a:ext cx="5263522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4,95 %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719814" y="4151809"/>
            <a:ext cx="5263522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American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9814" y="4515346"/>
            <a:ext cx="5263522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Häufigste dokumentierte Kulturzuordnung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08260" y="3499286"/>
            <a:ext cx="5263621" cy="5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b="1" kern="0" spc="-47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49,01 %</a:t>
            </a:r>
            <a:endParaRPr lang="en-US" sz="4650" dirty="0"/>
          </a:p>
        </p:txBody>
      </p:sp>
      <p:sp>
        <p:nvSpPr>
          <p:cNvPr id="13" name="Text 11"/>
          <p:cNvSpPr/>
          <p:nvPr/>
        </p:nvSpPr>
        <p:spPr>
          <a:xfrm>
            <a:off x="6208260" y="4151809"/>
            <a:ext cx="5263621" cy="255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b="1" kern="0" spc="-16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Schenkungen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08260" y="4515346"/>
            <a:ext cx="5263621" cy="269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Fast jedes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zweite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stammt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Schenkung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9814" y="5229224"/>
            <a:ext cx="10752067" cy="969965"/>
          </a:xfrm>
          <a:prstGeom prst="roundRect">
            <a:avLst>
              <a:gd name="adj" fmla="val 2382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693" y="5635975"/>
            <a:ext cx="224923" cy="17988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04495" y="5321737"/>
            <a:ext cx="9987506" cy="81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4000"/>
              </a:lnSpc>
              <a:spcAft>
                <a:spcPts val="1250"/>
              </a:spcAft>
            </a:pP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Ägypten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häufigstes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dokumentiertes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Herkunftsland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32.749 </a:t>
            </a:r>
            <a:r>
              <a:rPr lang="en-US" sz="1600" b="1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b="1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,7,31 % der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Gesamtsammlung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).</a:t>
            </a:r>
            <a:r>
              <a:rPr lang="en-US" sz="1600" dirty="0">
                <a:latin typeface="Aptos Narrow" panose="020B0004020202020204" pitchFamily="34" charset="0"/>
              </a:rPr>
              <a:t> </a:t>
            </a:r>
          </a:p>
          <a:p>
            <a:pPr>
              <a:lnSpc>
                <a:spcPct val="114000"/>
              </a:lnSpc>
              <a:spcAft>
                <a:spcPts val="1250"/>
              </a:spcAft>
            </a:pP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Die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des MET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ist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vielfältig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z</a:t>
            </a:r>
            <a:r>
              <a:rPr lang="de-DE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eitlichem</a:t>
            </a: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Schwerpunkt </a:t>
            </a:r>
            <a:r>
              <a:rPr lang="de-DE" sz="1600" b="1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18. bis frühes 20. Jh.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aber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lückenhaft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dokumentiert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latin typeface="Aptos Narrow" panose="020B0004020202020204" pitchFamily="34" charset="0"/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DC7CCB3-C750-2E47-BFF0-F3212082C0E9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530381"/>
            <a:ext cx="6180181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31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 im Kontext der Sammlung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1333962"/>
            <a:ext cx="6180181" cy="1197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86010" y="1455601"/>
            <a:ext cx="5723985" cy="3097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5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9.093 Objekte</a:t>
            </a: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986011" y="1862749"/>
            <a:ext cx="5723985" cy="533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2,03 %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Gesamtsammlung – ein kleiner, aber historisch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tiefer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Teilbestand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2622659"/>
            <a:ext cx="6180181" cy="11828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86011" y="2750244"/>
            <a:ext cx="5723985" cy="242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5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Historische Tiefe</a:t>
            </a:r>
            <a:endParaRPr lang="en-US" dirty="0"/>
          </a:p>
        </p:txBody>
      </p:sp>
      <p:sp>
        <p:nvSpPr>
          <p:cNvPr id="9" name="Text 4"/>
          <p:cNvSpPr/>
          <p:nvPr/>
        </p:nvSpPr>
        <p:spPr>
          <a:xfrm>
            <a:off x="997620" y="3090465"/>
            <a:ext cx="5352036" cy="668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Ältestes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wird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beginnend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datiert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auf 6000 v. Chr – </a:t>
            </a:r>
          </a:p>
          <a:p>
            <a:pPr marL="0" indent="0" algn="l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96,76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stammen aus der Zeit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nach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1000 v. Chr.</a:t>
            </a:r>
            <a:endParaRPr lang="en-US" sz="16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3902968"/>
            <a:ext cx="6180181" cy="970161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86011" y="4024651"/>
            <a:ext cx="5723985" cy="242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5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Nishapur</a:t>
            </a:r>
            <a:endParaRPr lang="en-US" dirty="0"/>
          </a:p>
        </p:txBody>
      </p:sp>
      <p:sp>
        <p:nvSpPr>
          <p:cNvPr id="12" name="Text 6"/>
          <p:cNvSpPr/>
          <p:nvPr/>
        </p:nvSpPr>
        <p:spPr>
          <a:xfrm>
            <a:off x="986011" y="4364872"/>
            <a:ext cx="5723985" cy="249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3.822 Objekten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das geografisch dominante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historische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Zentrum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719814" y="5055791"/>
            <a:ext cx="6180181" cy="893762"/>
          </a:xfrm>
          <a:prstGeom prst="roundRect">
            <a:avLst>
              <a:gd name="adj" fmla="val 2870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64" y="5374484"/>
            <a:ext cx="213712" cy="17095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75425" y="5213041"/>
            <a:ext cx="5453621" cy="80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Ein kleiner, aber historisch tiefer und besonders aussagekräftiger Teilbestand.</a:t>
            </a:r>
            <a:endParaRPr lang="en-US" sz="16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F715197-BFF4-E21D-360E-BB78B0010C73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  <a:latin typeface="Aptos Narrow" panose="020B0004020202020204" pitchFamily="34" charset="0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41387"/>
            <a:ext cx="10752067" cy="460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Schwerpunkte</a:t>
            </a:r>
            <a:r>
              <a:rPr lang="en-US" sz="3600" b="1" kern="0" spc="-29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der </a:t>
            </a: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iranischen</a:t>
            </a:r>
            <a:r>
              <a:rPr lang="en-US" sz="3600" b="1" kern="0" spc="-29" dirty="0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Bestände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814" y="1403349"/>
            <a:ext cx="404902" cy="404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06877" y="1403349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Zeitlich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306876" y="1779089"/>
            <a:ext cx="5829029" cy="631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Early Islamic Period (651–1054)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dominiert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3.836 </a:t>
            </a:r>
            <a:r>
              <a:rPr lang="en-US" sz="1600" b="1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Objekten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42,19 %)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, </a:t>
            </a:r>
          </a:p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davon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Datierungsbeginn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800–809: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</a:rPr>
              <a:t>2.525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2556121"/>
            <a:ext cx="404902" cy="404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06877" y="2556121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Materiell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: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Typen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und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Klassifikation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1306877" y="2931863"/>
            <a:ext cx="5706126" cy="230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Fragmente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mit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2.126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Stuck mit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1.745 Objekten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am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häufigsten</a:t>
            </a:r>
            <a:endParaRPr lang="en-US" sz="16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9814" y="3477913"/>
            <a:ext cx="404902" cy="404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06877" y="3477913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</a:rPr>
              <a:t>Geografisch</a:t>
            </a:r>
            <a:endParaRPr lang="en-US" dirty="0">
              <a:solidFill>
                <a:srgbClr val="3D3838"/>
              </a:solidFill>
            </a:endParaRPr>
          </a:p>
        </p:txBody>
      </p:sp>
      <p:sp>
        <p:nvSpPr>
          <p:cNvPr id="11" name="Text 6"/>
          <p:cNvSpPr/>
          <p:nvPr/>
        </p:nvSpPr>
        <p:spPr>
          <a:xfrm>
            <a:off x="1306877" y="3853655"/>
            <a:ext cx="5706126" cy="2308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93,43 %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Early-Islamic-Bestände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Nishapur</a:t>
            </a:r>
            <a:endParaRPr lang="en-US" sz="1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9814" y="4399705"/>
            <a:ext cx="404902" cy="40491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06877" y="4399705"/>
            <a:ext cx="5706126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Institutionell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innerhalb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des Met</a:t>
            </a: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1306877" y="4775446"/>
            <a:ext cx="5706126" cy="631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Islamic Art &amp; Ancient Near Eastern Art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vereinen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96,73</a:t>
            </a:r>
            <a:r>
              <a:rPr lang="en-US" sz="1600" b="1" dirty="0">
                <a:solidFill>
                  <a:srgbClr val="3D3838"/>
                </a:solidFill>
                <a:latin typeface="Aptos Narrow" panose="020B0004020202020204" pitchFamily="34" charset="0"/>
                <a:ea typeface="Source Sans 3 Bold" pitchFamily="34" charset="-122"/>
                <a:cs typeface="Source Sans 3 Bold" pitchFamily="34" charset="-120"/>
              </a:rPr>
              <a:t> %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 Bold" pitchFamily="34" charset="-120"/>
              </a:rPr>
              <a:t>,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  <a:ea typeface="Source Sans 3" pitchFamily="34" charset="-122"/>
              <a:cs typeface="Source Sans 3" pitchFamily="34" charset="-120"/>
            </a:endParaRPr>
          </a:p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Erwerbung konzentriert sich vor allem auf 1930er und 1940er Jahre</a:t>
            </a:r>
            <a:endParaRPr lang="en-US" sz="1600" dirty="0">
              <a:solidFill>
                <a:srgbClr val="3D3838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Shape 9"/>
          <p:cNvSpPr/>
          <p:nvPr/>
        </p:nvSpPr>
        <p:spPr>
          <a:xfrm>
            <a:off x="719814" y="5529417"/>
            <a:ext cx="6293189" cy="1052358"/>
          </a:xfrm>
          <a:prstGeom prst="roundRect">
            <a:avLst>
              <a:gd name="adj" fmla="val 3018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735" y="5850984"/>
            <a:ext cx="202401" cy="16192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46057" y="5615242"/>
            <a:ext cx="5605025" cy="8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Zeitlicher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materieller und räumlicher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Schwerpunkt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der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iranisch-persischen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Objekte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fallen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bemerkenswert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zusammen</a:t>
            </a: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–  </a:t>
            </a:r>
          </a:p>
          <a:p>
            <a:pPr marL="0" indent="0" algn="l">
              <a:lnSpc>
                <a:spcPct val="119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Grund: </a:t>
            </a: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E</a:t>
            </a:r>
            <a:r>
              <a:rPr lang="de-DE" sz="160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igene </a:t>
            </a: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Met-Ausgrabungen in </a:t>
            </a:r>
            <a:r>
              <a:rPr lang="de-DE" sz="1600" dirty="0" err="1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Nishapur</a:t>
            </a:r>
            <a:r>
              <a:rPr lang="de-DE" sz="1600" dirty="0">
                <a:solidFill>
                  <a:srgbClr val="000000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(1935–1940er Jahre).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7185" y="1879201"/>
            <a:ext cx="3657310" cy="3657402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2DF925DB-33DD-E922-86DA-59119FC78C2A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416222"/>
            <a:ext cx="6180181" cy="920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kern="0" spc="-29" dirty="0" err="1">
                <a:solidFill>
                  <a:srgbClr val="000000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Handlungsempfehlungen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5534580" y="1291331"/>
            <a:ext cx="5966241" cy="1026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Die iranisch-persischen Bestände sind klein im Anteil, bilden aber einen historisch, materiell und institutionell klar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strukturierten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Sammlungsschwerpunkt</a:t>
            </a:r>
            <a:r>
              <a:rPr lang="en-US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des Met.</a:t>
            </a:r>
            <a:endParaRPr lang="en-US" dirty="0">
              <a:solidFill>
                <a:srgbClr val="3D3838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5291699" y="1245953"/>
            <a:ext cx="45719" cy="1026850"/>
          </a:xfrm>
          <a:prstGeom prst="roundRect">
            <a:avLst>
              <a:gd name="adj" fmla="val 49999"/>
            </a:avLst>
          </a:prstGeom>
          <a:solidFill>
            <a:srgbClr val="2D2E3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2617688"/>
            <a:ext cx="6326558" cy="11411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548868" y="2776792"/>
            <a:ext cx="5742042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Metadatenqualität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nachhaltig</a:t>
            </a: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 </a:t>
            </a:r>
            <a:r>
              <a:rPr lang="en-US" b="1" kern="0" spc="-14" dirty="0" err="1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verbessern</a:t>
            </a: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5548867" y="3094192"/>
            <a:ext cx="6069391" cy="865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Kultur- und Herkunftsangaben systematisch verbessern – nachtragen und verbindliche Erfassungsstandards für künftige Neuzugänge einführen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3904555"/>
            <a:ext cx="6326558" cy="114111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548868" y="4046644"/>
            <a:ext cx="5742042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Iranische Bestände erschließen</a:t>
            </a: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548868" y="4364044"/>
            <a:ext cx="6069390" cy="637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Teilbestand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eigenständig als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Forschungsschwerpunkt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ausweisen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provinienzhistorisch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untersuchen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gezielt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zugänglich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machen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solidFill>
                <a:srgbClr val="3D3838"/>
              </a:solidFill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1700" y="5191423"/>
            <a:ext cx="6326558" cy="114111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548868" y="5357149"/>
            <a:ext cx="5742042" cy="229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14" dirty="0">
                <a:solidFill>
                  <a:srgbClr val="3D3838"/>
                </a:solidFill>
                <a:latin typeface="Aptos Narrow" panose="020B0004020202020204" pitchFamily="34" charset="0"/>
                <a:ea typeface="Montserrat Bold" pitchFamily="34" charset="-122"/>
                <a:cs typeface="Montserrat Bold" pitchFamily="34" charset="-120"/>
              </a:rPr>
              <a:t>Early Islamic Period hervorheben</a:t>
            </a: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5548868" y="5674549"/>
            <a:ext cx="6069390" cy="642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Frühislamische Stuckobjekte in Forschung,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Digitalisierung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und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Vermittlung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als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zentralen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Sammlungsschwerpunkt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hervorheben</a:t>
            </a:r>
            <a:r>
              <a:rPr lang="en-US" sz="1600" dirty="0">
                <a:solidFill>
                  <a:srgbClr val="3D3838"/>
                </a:solidFill>
                <a:latin typeface="Aptos Narrow" panose="020B0004020202020204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>
              <a:solidFill>
                <a:srgbClr val="3D3838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9569C2B-99DD-3924-B29C-AF05B9ACF2FB}"/>
              </a:ext>
            </a:extLst>
          </p:cNvPr>
          <p:cNvSpPr txBox="1"/>
          <p:nvPr/>
        </p:nvSpPr>
        <p:spPr>
          <a:xfrm>
            <a:off x="11764652" y="6454588"/>
            <a:ext cx="490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3D3838"/>
                </a:solidFill>
                <a:latin typeface="Aptos Narrow" panose="020B0004020202020204" pitchFamily="34" charset="0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923</Words>
  <Application>Microsoft Office PowerPoint</Application>
  <PresentationFormat>Breitbild</PresentationFormat>
  <Paragraphs>138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Arial</vt:lpstr>
      <vt:lpstr>Aptos Narrow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Dennis Theiß</dc:creator>
  <cp:lastModifiedBy>Dennis Theiß</cp:lastModifiedBy>
  <cp:revision>49</cp:revision>
  <dcterms:created xsi:type="dcterms:W3CDTF">2026-09-28T14:19:48Z</dcterms:created>
  <dcterms:modified xsi:type="dcterms:W3CDTF">2026-09-29T17:37:11Z</dcterms:modified>
</cp:coreProperties>
</file>